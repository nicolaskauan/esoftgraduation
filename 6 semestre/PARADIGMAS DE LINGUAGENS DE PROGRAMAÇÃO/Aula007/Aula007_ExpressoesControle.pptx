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hcFdAPtlSvlIt/wnfLzU7k+bbt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6D2BDD-6326-4E57-95B5-67BCEFDD7552}">
  <a:tblStyle styleId="{F96D2BDD-6326-4E57-95B5-67BCEFDD75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aula passada vimos O QUE as variáveis guardam (tipos). Hoje veremos COMO os valores são combinados (expressões), guardados (atribuição) e em que ORDEM as sentenças executam (estruturas de controle).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Formato: aula EXPLORATÓRIA. Em quase todo slide com código, pergunte "o que isso imprime?" ANTES de executar. A turma anota o palpite e depois conferimos no OneCompiler.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Todos os exemplos estão em Aula007/exemplos (ver README.md) e foram testados no OneCompiler. Deixe abertas as abas onecompiler.com/java, /python, /nodejs, /c, /go e /rust.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Problematização (até 10 min, junto com o quiz do slide 4).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objetivo e pergunte: "já aconteceu de um if 'não entrar' ou um laço 'não parar' sem vocês entenderem por quê?"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casos: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"goto fail" (fevereiro de 2014): no arquivo sslKeyExchange.c da Apple, uma linha "goto fail;" apareceu duplicada logo depois de um if SEM chaves. A segunda linha era executada sempre e pulava a verificação da assinatura do servidor. Com isso, iOS e macOS aceitavam certificados forjados (ataque "homem no meio"). Mostraremos uma versão simplificada no slide 21. Lições: if sem chaves e desvio incondicional. Go e Rust tornam as chaves obrigatórias.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Zune (31/12/2008): os tocadores Zune de 30 GB da Microsoft travaram no mundo todo. O código que convertia "dias desde 1980" em ano entrava num laço while que não fazia progresso no dia 366 de um ano bissexto. No dia seguinte, voltaram a funcionar sozinhos. O exemplo está em 08_iteracao/zune.c.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PHP e "type juggling": ao comparar dois textos com ==, o PHP os converte para número se ambos "parecem" números. "0e462..." e "0e830..." viram 0 x 10^N, ou seja, 0 == 0. Hashes MD5 que começam com "0e" seguidos só de dígitos ("magic hashes") fizeram sistemas de login aceitarem senhas erradas. O exemplo está em 04_conversoes/coercao.php.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Mensagem: todos os três são erros de ESTRUTURA DE CONTROLE ou de AVALIAÇÃO DE EXPRESSÕES, e não de "lógica de negócio".</a:t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roteiro rapidamente (1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Dinâmica de toda a aula: 1) mostrar o código; 2) a turma prevê a saída; 3) executar no OneCompiler; 4) explicar a regra da linguagem com o livro.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exercício final ("encontre o bug") pode valer como atividade avaliativa em sala.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Ficam para autopesquisa (último slide): expressões em Ruby e Lisp, expressões condicionais, implementação de seleção múltipla (tabelas de desvio), laços em linguagens funcionais e os iteradores de Ruby.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5 a 7 min. As duplas anotam os palpites e NÃO executam ainda. Vamos conferindo ao longo da aula.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 (e onde é explicado):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Python: -4 512. O ** tem precedência maior que o menos unário e associa à direita (slide 6).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Java: 3345. O + associa à esquerda: 1+2 = 3, depois "3"+"3" = "33", "33"+4 = "334" e "334"+5 = "3345" (slides 6 e 8).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JavaScript: 3 52. O - só existe para números, então "5" vira 5. O + prefere concatenar (slide 10).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C: 0. 3 &gt; 2 vale 1, e 1 &gt; 1 é falso (0). Os relacionais de C associam à esquerda (slide 11, livro p. 315).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5) Python: padrão True. O 0 conta como falso, e o "or" devolve o segundo operando. Em Python, 3 &gt; 2 &gt; 1 é encadeado: (3 &gt; 2) and (2 &gt; 1) (slides 11 e 12).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6) JavaScript: true false true. O == converte os tipos antes de comparar e NÃO é transitivo (slide 10).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 quem acertou todas. Normalmente ninguém, e é exatamente essa a motivação da aula.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301): as expressões aritméticas são formadas por operadores, operandos, parênteses e chamadas de função. Os operadores podem ser unários, binários ou ternários. Avaliar uma expressão exige duas ações: obter os operandos e executar as operações.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seis questões de projeto estão na lista à esquerda (p. 301). Elas organizam toda a primeira metade da aula.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do livro (p. 301): a + b * c com a=3, b=4, c=5. Da esquerda para a direita dá 35, da direita para a esquerda dá 23. As regras de PRECEDÊNCIA (herdadas da matemática) decidem que * vem antes: 23.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APL (p. 304) tem um só nível de precedência e avalia sempre da direita para a esquerda: A x B + C com 3, 4 e 5 dá 3 x (4 + 5) = 27. Ou seja, a precedência é uma convenção de projeto, e não uma lei.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Lisp (p. 306) não precisa de precedência: tudo é prefixo e parentetizado, como em (+ a (* b c)). Ver 11_autopesquisa/expressoes.lisp.</a:t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 no OneCompiler: precedencia.py, precedencia.js e Precedencia.java.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Associatividade (p. 303): quando dois operadores ADJACENTES têm a mesma precedência, ela decide qual é avaliado primeiro. Quase tudo associa à esquerda, exceto a exponenciação, que associa à direita em Fortran e Ruby (e também em Python e JS). No Visual Basic, o ^ associa à ESQUERDA (p. 303).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Respostas do quiz: -2 ** 2 = -4 em Python (o ** tem precedência maior que o menos unário). Em JavaScript isso é ERRO DE SINTAXE: os projetistas preferiram obrigar os parênteses a deixar a expressão ambígua. 2 ** 3 ** 2 = 2 ** 9 = 512.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Curiosidade do mundo real: no Excel, =-2^2 dá 4, porque o menos unário tem precedência MAIOR que o ^, ao contrário da matemática e do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+ 2 + "3" + 4 + 5: em Java dá "3345" (esquerda para a direita, e o + muda de significado no meio). Em Python é TypeError (int + str não é permitido).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Divisão e resto: Java e C truncam em direção a zero (-7/2 = -3, -7%2 = -1). Python arredonda para baixo (-7//2 = -4, -7%2 = 1). O livro observa (nota da p. 303) que antes do C99 isso dependia da implementação.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Parênteses (p. 305): sempre podem mudar a ordem. Um projeto sem precedência, só com parênteses, seria mais simples, mas tedioso de ler e escrever.</a:t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rode ordem.c, Ordem.java e ordem.go no OneCompiler. Peça o palpite 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Efeito colateral funcional (p. 307): a função altera um parâmetro ou uma variável global. Se não houver efeitos colaterais, a ordem de avaliação dos operandos é irrelevante.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programa à esquerda é o do livro (p. 307): a = a + fun1(). O resultado é 8 se o 'a' for lido antes da chamada, ou 20 se fun1() for executada antes (ela muda 'a' para 17).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Resultados REAIS no OneCompiler (testados): Java = 8, C (gcc 14) = 20, Go = 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(p. 308): a definição da linguagem GARANTE a avaliação da esquerda para a direita.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C: o padrão não define a ordem, e cada compilador pode fazer diferente (inclusive o mesmo compilador com outra otimização).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Go: a especificação define a ordem das CHAMADAS de função, mas não a leitura das variáveis em relação a elas.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Duas soluções possíveis (p. 308): proibir efeitos colaterais funcionais (difícil em linguagens imperativas) ou fixar a ordem (atrapalha otimizações). Não há solução perfeita.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Transparência referencial (p. 308-309): se duas expressões com o mesmo valor podem ser trocadas uma pela outra sem mudar o programa. Funções puras garantem isso, e as linguagens funcionais puras são transparentes referencialmente (Cap. 15).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Pergunte: "qual das três escolhas é a melhor?" e discuta desempenho × previsibilidade.</a:t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DEMONSTRAÇÃO: vetor.py e Sobrecarga.java.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309): o uso múltiplo de um operador é aceitável desde que não prejudique a legibilidade nem a confiabilidade. O + de Java serve para inteiros, reais e concatenação.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Perigo citado pelo livro (p. 309): o &amp; de C++ é E bit a bit (binário) e "endereço de" (unário). Esquecer o primeiro operando de x = y &amp; z produz x = &amp;z, que o compilador aceita.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Sobrecarga definida pelo usuário (9.11, p. 404): C++, C#, Python, Ruby, Kotlin e Rust permitem, cada uma com um mecanismo próprio. Python usa métodos especiais (__add__). Rust usa traits (impl Add). Java decidiu NÃO permitir, e por isso BigDecimal usa a.add(b) em vez de a + 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 do quiz: 'a' + 1 em Java dá 98, porque o char sofre coerção para int. Já "" + 'a' + 1 dá "a1".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Discussão: sobrecarga melhora a legibilidade (v1 + v2 para vetores ou matrizes) ou esconde custo e comportamento? Qual é a opinião da turma?</a:t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Conversoes.java, depois conversoes.go e conversoes.rs.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Definições (p. 310-311):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Estreitamento: converte para um tipo que não comporta todos os valores do original (double para int). Pode perder informação.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Alargamento: converte para um tipo "maior" (int para double). Normalmente é seguro, MAS pode perder precisão. O exemplo do livro (p. 311): int de 32 bits tem cerca de 9 dígitos, e float de 32 bits tem cerca de 7. No OneCompiler, 123456789 vira 123456792.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Coerção: conversão IMPLÍCITA feita pelo compilador. Cast: conversão EXPLÍCITA pedida pelo programador.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Expressão de modo misto (p. 311): operandos de tipos diferentes. Quem permite precisa definir as coerções.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livro (p. 312) mostra o custo: em Java, d = b * a com a sendo int "por engano" compila, porque a coerção esconde o erro de digitação. Por isso ML e F# NÃO permitem modo misto. Go e Rust seguem a mesma linha: nem int32 para int64 é automático.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(p. 312): byte e short sofrem coerção para int em quase todo operador, então byte soma = b + c não compila.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Rust: 'as' trunca de inteiro para inteiro (300 as u8 = 44) e satura de real para inteiro (1e20 as i32 = 2147483647). u8::try_from(300) devolve Err, a conversão verificada.</a:t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coercao.js no console do navegador (F12) e coercao.php no onecompiler.com/php.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Respostas do quiz: "5" - 2 = 3, porque o - só existe para números. "5" + 2 = "52", porque o + concatena se um dos lados é texto. 0 == "" é true, "" == "0" é false e 0 == "0" é true. Ou seja, o == do JavaScript NÃO é transitivo.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"b" + "a" + +"a" + "a" = "baNaNa": o +"a" é o mais unário aplicado a "a", que dá NaN.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Regra prática em JavaScript e PHP: use === e !== (não fazem coerção). Linters como o ESLint (regra eqeqeq) obrigam isso.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PHP (type juggling): "0e123" == "0e456" é true porque os dois textos parecem números em notação científica e valem 0. Os hashes MD5 de "240610708" e "QNKCDZO" começam com "0e" seguidos só de dígitos. Um login que fizesse md5($senha) == $hash_salvo aceitaria uma senha pela outra. O PHP 8 corrigiu parte disso: "abc" == 0 passou a ser false, mas "0e..." == "0e..." continua true.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Ligação com o Sebesta: o custo da coerção é a perda de detecção de erros (p. 312). Linguagens de script escolheram facilidade de escrita em vez de confiabilidade.</a:t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DEMONSTRAÇÃO: relacionais.c e relacionais.py.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313-314): os operadores relacionais têm precedência MENOR que os aritméticos (a + 1 &gt; 2 * b faz a aritmética primeiro). O resultado é booleano, exceto em C89, que não tinha tipo booleano: 0 é falso e qualquer outro valor é verdadeiro (p. 315).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 do quiz: em C, 3 &gt; 2 &gt; 1 vale 0. O livro chama isso de "resultado incomum" (p. 315): (3 &gt; 2) dá 1, e 1 &gt; 1 é falso. A comparação entre b e c nunca acontece.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Python, a mesma expressão é ENCADEADA: 3 &gt; 2 &gt; 1 significa (3 &gt; 2) and (2 &gt; 1), que é True, como na matemática.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"Truthiness": Python e JavaScript aceitam qualquer valor numa condição. 0, "", [], {} e None contam como falso, mas "0", [0] e " " contam como verdadeiro. Java, C#, Go e Rust EXIGEM um booleano no if, e o livro (p. 315) defende isso pela legibilidade e pela detecção de erros.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Perl e Ruby têm &amp;&amp; e 'and' com precedências diferentes (p. 315).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CurtoCircuito.java e depois curto_circuito.js.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 (p. 315): o resultado é determinado sem avaliar todos os operandos. Em (a &gt;= 0) &amp;&amp; (b &lt; 10), se a &lt; 0 o segundo termo é irrelevante.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do livro (p. 316): a busca while ((index &lt; listlen) &amp;&amp; (list[index] != key)). SEM curto-circuito, quando a chave não está na lista, list[listlen] seria acessado e lançaria uma exceção de índice. O curto-circuito protege o acesso.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Linguagens baseadas em C: &amp;&amp; e || fazem curto-circuito. &amp; e | com booleanos NÃO fazem (p. 317). Ruby, Perl, ML, F# e Python fazem curto-circuito em todos os operadores lógicos (p. 317).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Risco (p. 316): curto-circuito combinado com efeito colateral. Em (a &gt; b) || ((b++) / 3), o b++ só acontece às vezes.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Modernos: o ?. (encadeamento opcional) e o ?? (coalescência nula) de JavaScript, TypeScript, C# e Kotlin são curto-circuitos especializados em null.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Resposta do quiz (5): em Python, x or "padrão" devolve "padrão" quando x = 0. O or devolve um dos OPERANDOS, e o 0 conta como falso. Por isso quantidade || 10 é um bug em JS quando 0 é válido, e o ?? resolve.</a:t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atribuicao.c, atribuicao.py e atribuicao.go.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Formas (p. 317-321):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Simples: quase todas as linguagens usam =. ALGOL usou := para não confundir com a igualdade.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Composta: a += b (vem do ALGOL 68 e foi adotada por C).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Unária: count++ e ++count. Em - count ++, o incremento acontece antes da negação (p. 319).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Como EXPRESSÃO (p. 319-320): em C, JavaScript e Perl, a atribuição devolve o valor atribuído. Isso permite while ((ch = getchar()) != EOF) e sum = count = 0. O exemplo do livro a = b + (c = d / b) - 1 aparece no arquivo.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O custo (p. 320): if (x = y) em vez de if (x == y) compila em C. Java e C# evitam o problema porque o if só aceita booleano.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Múltipla (p. 320-321): Perl, Ruby, Lua, Python e Go permitem a, b = b, a (troca sem variável temporária).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Funcional (p. 321): em ML e F#, val e let dão NOME a um valor, que nunca muda. O let de Rust é imutável por padrão, e "let x = x + 1" cria uma NOVA variável (sombreamento).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Python: a atribuição NÃO é expressão, exceto pelo operador morsa := (3.8), criado justamente para casos como o while do getchar. Go: x++ é sentença, e y := x++ não compila.</a:t>
            </a:r>
            <a:endParaRPr/>
          </a:p>
        </p:txBody>
      </p:sp>
      <p:sp>
        <p:nvSpPr>
          <p:cNvPr id="245" name="Google Shape;24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DEMONSTRAÇÃO: ModoMisto.java e modo_misto.c.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Questão de projeto (p. 321): a expressão precisa ter o mesmo tipo da variável que recebe o valor, ou vale coerção?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C, C++ e Perl: coerção em qualquer direção. int i = 3.7 vira 3 em silêncio, e char c = 300 vira 44 (o gcc só avisa).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e C# (p. 322): só permitem a coerção de ALARGAMENTO (int para float, mas não o contrário). Segundo o livro, proibir metade das atribuições de modo misto é um jeito simples e eficaz de aumentar a confiabilidade.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Linguagens funcionais: não existe atribuição de modo misto.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Pegadinha do Java: i += 3.7 COMPILA, porque a especificação define que E1 op= E2 equivale a E1 = (T)((E1) op (E2)), com um cast implícito.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Conecte com o exercício (questão 6): double taxa = acertos / total * 100 dá 0.0. A divisão é INTEIRA (7 / 10 = 0) e só DEPOIS o resultado é alargado para double.</a:t>
            </a:r>
            <a:endParaRPr/>
          </a:p>
        </p:txBody>
      </p:sp>
      <p:sp>
        <p:nvSpPr>
          <p:cNvPr id="258" name="Google Shape;25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~2 min. Transição do Cap. 7 para o Cap. 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328): as computações imperativas avaliam expressões e atribuem valores, mas programas úteis precisam de mais dois mecanismos: SELECIONAR entre caminhos e REPETIR sentenças.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Böhm e Jacopini (1966) provaram que qualquer algoritmo representável em fluxograma pode ser escrito só com sequência, seleção de dois caminhos e laço com pré-teste. O goto é desnecessário. Esse resultado apoiou a programação estruturada.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as linguagens têm tantas estruturas a mais (for, switch, do-while, foreach...)? Pela facilidade de escrita (p. 329). O limite é a legibilidade: poucas pessoas aprendem todas as sentenças de uma linguagem grande, e cada leitor conhece um subconjunto diferente.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 (p. 330): uma estrutura de controle é uma sentença de controle mais as sentenças cuja execução ela controla. Questão de projeto geral: a estrutura pode ter MÚLTIPLAS ENTRADAS? (Hoje, uma entrada só, porque múltiplas entradas exigiriam goto e rótulos.)</a:t>
            </a:r>
            <a:endParaRPr/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else_pendente.c. Pergunte o valor de result ANTES de rodar.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330): qual é a forma e o tipo da expressão de controle? Como são especificadas as cláusulas então e senão? Qual é o significado de seletores aninhados?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do livro (p. 331): a endentação sugere que o else pertence ao primeiro if, mas em Java, C, C++ e C# o else casa com o if anterior MAIS PRÓXIMO que ainda não tem else. A endentação é ignorada pelo compilador (exceto em Python e F#). É a ambiguidade da gramática vista no Cap.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Soluções (p. 332-333): usar chaves (sentença composta). Perl EXIGE chaves em todas as cláusulas, e Go e Rust também. Ruby fecha com end. Python usa a própria endentação.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Mundo real: o bug "goto fail" (slide 21) aconteceu num if SEM chaves. Em Go ou Rust, aquele código nem compilaria nessa forma.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Seletores como expressão (p. 333-334): em F#, ML e Rust o if devolve um valor, e os dois ramos precisam ter o mesmo tipo. Em Python existe a expressão condicional x if c else y, e em C/Java o operador ternário c ? a : b (7.2.1.6, p. 306).</a:t>
            </a:r>
            <a:endParaRPr/>
          </a:p>
        </p:txBody>
      </p:sp>
      <p:sp>
        <p:nvSpPr>
          <p:cNvPr id="285" name="Google Shape;28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switch.c (exemplo do livro), Switch.java, switch.go e selecao.rs.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334-335): qual é o tipo da expressão de controle? Como os segmentos são especificados? Só UM segmento executa por vez? Como tratar valores não representados?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(p. 335): o livro chama o switch de "relativamente primitivo". Sem break, o controle CAI nos casos seguintes. No exemplo do livro, com index = 1, executa odd += 1, even += 1 E a mensagem de erro do default. O break é um "goto restrito".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C# (p. 336) proíbe cair implicitamente: cada segmento termina com break ou goto.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14+: switch com -&gt; não cai e pode ser uma expressão com yield. Em enums e tipos selados, o compilador verifica se todos os casos estão cobertos.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Go: cada caso termina sozinho, e cair no próximo exige a palavra fallthrough. Um switch sem expressão substitui cadeias de if/else if (p. 339).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 e Python 3.10: match com padrões, faixas e guardas. O de Rust é exaustivo, ou seja, faltar um caso é erro de compilação.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Implementação (8.2.2.3, p. 337-339): com muitos casos, o compilador gera uma tabela de desvios (acesso direto) ou uma busca binária, em vez de testes sequenciais. Fica como autopesquisa.</a:t>
            </a:r>
            <a:endParaRPr/>
          </a:p>
        </p:txBody>
      </p:sp>
      <p:sp>
        <p:nvSpPr>
          <p:cNvPr id="298" name="Google Shape;29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laco_for.c e laco_for.py, com a mesma ideia (alterar a variável dentro do laço) e resultados diferentes.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342): qual é o tipo e o escopo da variável do laço? É permitido alterar a variável ou os parâmetros dentro do corpo, e isso afeta o controle? Os parâmetros são avaliados uma vez ou a cada iteração?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(p. 342-344): o for é a forma mais flexível. As três expressões são opcionais, podem ser múltiplas (com vírgula), são avaliadas a cada iteração, e a variável pode ser modificada no corpo. O livro mostra que ele é, na verdade, um laço lógico disfarçado. No exemplo, i += 2 dentro do corpo faz o laço imprimir 0 3 6 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(p. 344): for percorre um objeto iterável, como o range(início, fim, passo). Mudar i dentro do corpo NÃO afeta a próxima iteração, porque o range entrega o próximo valor. Depois do laço, a variável continua existindo com o último valor.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e C# (p. 344): iguais a C, mas a expressão de controle precisa ser booleana.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só tem for (serve para contador, lógico e infinito). Rust: for i in 0..10, com faixa exclusiva.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Linguagens funcionais (8.3.1.4, p. 345): não há variável que muda, e a contagem é feita por recursão. Fica como autopesquisa.</a:t>
            </a:r>
            <a:endParaRPr/>
          </a:p>
        </p:txBody>
      </p:sp>
      <p:sp>
        <p:nvSpPr>
          <p:cNvPr id="312" name="Google Shape;31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zune.c (termina detectando o laço infinito), Rotulos.java e iteracao.js.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Laços lógicos (8.3.2, p. 345-347): pré-teste (while) ou pós-teste (do-while). O livro avisa que o pós-teste é perigoso, porque o corpo executa ao menos uma vez e os programadores esquecem disso.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Zune (31/12/2008): com dias = 366 num ano bissexto, nenhum ramo altera 'dias' e o while nunca termina. Pergunte: "que invariante o laço deveria garantir?" (a cada volta, 'dias' precisa diminuir).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Saídas posicionadas pelo usuário (8.3.3, p. 347-349): C, C++, Python, Ruby e C# têm break sem rótulo. Java e Perl têm break ROTULADO, e o exemplo do livro é "break outerLoop". O continue pula para a próxima iteração. Rust também tem rótulos ('externo:) e loop como EXPRESSÃO (break n devolve um valor).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Iteração baseada em estruturas de dados (8.3.4, p. 349-352): foreach de Java e C#, for...in de Python, iteradores e geradores. Ruby usa blocos (3.times { ... }), o que o livro detalha nas p. 350-352 (autopesquisa).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Pegadinha do JavaScript: for...in percorre as CHAVES (strings "0", "1", "2"), e for...of percorre os VALORES. Somar com for...in dá "0012".</a:t>
            </a:r>
            <a:endParaRPr/>
          </a:p>
        </p:txBody>
      </p:sp>
      <p:sp>
        <p:nvSpPr>
          <p:cNvPr id="324" name="Google Shape;32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goto_fail.c. Pergunte o que valida_certificado() devolve.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352): o goto é a sentença de controle mais poderosa, já que todas as outras podem ser construídas com goto e um seletor. Esse poder é justamente o perigo: sem restrições, o goto torna o programa difícil de ler, pouco confiável e caro de manter. A legibilidade é melhor quando a ordem de execução segue a ordem do texto.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Debate histórico: Dijkstra, "Go To Statement Considered Harmful" (1968). Knuth defendeu alguns usos em "Structured Programming with go to Statements" (1974).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Situação atual (p. 353): Java não tem goto (a palavra é reservada, mas não é usada). C, C++, C# e Go têm. Um uso aceito em C é saltar para um bloco comum de limpeza ao tratar erros.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break, continue e return são gotos "camuflados", mas RESTRITOS, e o livro argumenta que melhoram a legibilidade (p. 353).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"goto fail" (Apple, 2014): o código real tinha a mesma estrutura do exemplo. A segunda linha "goto fail;" não pertence ao if, porque não há chaves (lembra do else pendente?). Com isso, a verificação da assinatura nunca era executada, e err ainda valia 0 ("sucesso"). O gcc com -Wall avisa: "this 'if' clause does not guard... [-Wmisleading-indentation]".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Lições: chaves obrigatórias (Go, Rust), avisos do compilador, revisão de código e testes que cubram o caminho de falha.</a:t>
            </a:r>
            <a:endParaRPr/>
          </a:p>
        </p:txBody>
      </p:sp>
      <p:sp>
        <p:nvSpPr>
          <p:cNvPr id="338" name="Google Shape;33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rode select.go e guardas.py DUAS vezes. A saída muda, mas o resultado final de guardas.py é sempre ordenado.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353-355): Dijkstra (1975) propôs sentenças de seleção e laço cujo objetivo era apoiar a prova de corretude durante o desenvolvimento.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Seleção if ... fi: TODAS as guardas são avaliadas. Se mais de uma é verdadeira, uma delas é escolhida de forma NÃO DETERMINÍSTICA. Se nenhuma é verdadeira, é erro de execução. Isso obriga o programador a pensar em todos os casos.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do livro (p. 354), o máximo: if x &gt;= y -&gt; max := x [] y &gt;= x -&gt; max := y fi. Quando x = y, não importa qual ramo executa, e a solução não é "superespecificada".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Laço do ... od (p. 355): repete enquanto alguma guarda for verdadeira. O exemplo do livro ordena q1..q4 com três guardas, e guardas.py simula exatamente isso escolhendo ao acaso entre as guardas verdadeiras.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estudar? Os comandos protegidos são a base do CSP de Hoare (1978), e o select de Go é descendente direto: quando vários canais estão prontos, Go escolhe um ao acaso. Veremos canais na aula de concorrência. As guardas de Haskell (Cap. 15) herdaram a sintaxe, mas são avaliadas em ORDEM (determinístico).</a:t>
            </a:r>
            <a:endParaRPr/>
          </a:p>
        </p:txBody>
      </p:sp>
      <p:sp>
        <p:nvSpPr>
          <p:cNvPr id="351" name="Google Shape;351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10 min (7 para as duplas, 3 para a correção). Pode valer como atividade avaliativa em sala.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cada trecho: (a) qual é a saída? (b) qual regra da linguagem causa o problema? (c) como corrigir?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JavaScript: imprime "Total: 0012". O for...in percorre as chaves (strings), e o + concatena. Correção: for...of, ou precos.reduce((a, b) =&gt; a + b, 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Python: imprime 180.0, mas o esperado era 200.0 (desconto zero). O "d or 10" trata o 0 como falso. Correção: "if d is None: d = 10". Em JavaScript, o ?? resolveria.</a:t>
            </a:r>
            <a:endParaRPr/>
          </a:p>
        </p:txBody>
      </p:sp>
      <p:sp>
        <p:nvSpPr>
          <p:cNvPr id="362" name="Google Shape;36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Java: imprime "inválido". O switch sem break cai do case 2 até o default. Correção: break em cada caso ou switch com -&gt; (Java 14+).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C: imprime "saldo insuficiente" e "fim", mesmo com saque &lt; saldo. O ";" logo depois do if é uma sentença vazia, então o printf fica fora do if. Correção: chaves sempre. O gcc com -Wall avisa (-Wempty-body).</a:t>
            </a:r>
            <a:endParaRPr/>
          </a:p>
        </p:txBody>
      </p:sp>
      <p:sp>
        <p:nvSpPr>
          <p:cNvPr id="374" name="Google Shape;37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5) Go: imprime "dentro: 20" e "fora: 10". O := dentro do if cria uma NOVA variável x (sombreamento) em vez de atribuir à de fora. Correção: x = x * 2. Liga com escopo (aula de nomes e vinculações).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6) Java: imprime "0.0%". Divisão inteira 7 / 10 = 0, feita ANTES do alargamento para double (atribuição de modo misto). Correção: acertos * 100.0 / total, ou (double) acertos / total * 100.</a:t>
            </a:r>
            <a:endParaRPr/>
          </a:p>
        </p:txBody>
      </p:sp>
      <p:sp>
        <p:nvSpPr>
          <p:cNvPr id="386" name="Google Shape;386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~2 min. Peça à turma que complete a coluna da direita oralmente antes de mostrar.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final: as linguagens mais recentes (Go, Rust, Kotlin, Swift) aprenderam com os erros de C. Elas exigem booleanos no if, chaves obrigatórias, conversões explícitas e switch/match sem "cair", e fazem da atribuição uma sentença. Cada restrição remove uma classe inteira de bugs, trocando um pouco de facilidade de escrita por confiabilidade, o trade-off do Cap. 1.</a:t>
            </a:r>
            <a:endParaRPr/>
          </a:p>
        </p:txBody>
      </p:sp>
      <p:sp>
        <p:nvSpPr>
          <p:cNvPr id="398" name="Google Shape;39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~1 min. Estes tópicos dos Caps. 7 e 8 ficaram fora da aula por falta de tempo.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Sugestão de entrega (pode compor a Atividade de Estudo Programada): um resumo de 1 página comparando o switch de C, o switch com -&gt; de Java, o switch de Go e o match de Rust, com um mesmo exemplo nas quatro linguagens.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Em Ruby, os operadores são métodos: 1 + 2 é 1.+(2), e podem ser redefinidos (p. 305).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Em Lisp, a notação prefixa elimina a precedência (p. 306).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Tabelas de desvio (p. 337-339): por que um switch com muitos casos pode ser mais rápido que uma cadeia de if.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Dijkstra (1968) tem uma página e meia e é uma leitura histórica excelente.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Próxima aula: Subprogramas (Caps. 9 e 10): parâmetros, passagem por valor e por referência, fechamentos e a pilha de execução.</a:t>
            </a:r>
            <a:endParaRPr/>
          </a:p>
        </p:txBody>
      </p:sp>
      <p:sp>
        <p:nvSpPr>
          <p:cNvPr id="406" name="Google Shape;40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914377" y="2130425"/>
            <a:ext cx="1036294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828754" y="3886200"/>
            <a:ext cx="853418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963059" y="4406900"/>
            <a:ext cx="1036294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963059" y="2906713"/>
            <a:ext cx="1036294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60958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619744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609584" y="1535113"/>
            <a:ext cx="538678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3"/>
          <p:cNvSpPr txBox="1"/>
          <p:nvPr>
            <p:ph idx="2" type="body"/>
          </p:nvPr>
        </p:nvSpPr>
        <p:spPr>
          <a:xfrm>
            <a:off x="609584" y="2174875"/>
            <a:ext cx="538678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3"/>
          <p:cNvSpPr txBox="1"/>
          <p:nvPr>
            <p:ph idx="3" type="body"/>
          </p:nvPr>
        </p:nvSpPr>
        <p:spPr>
          <a:xfrm>
            <a:off x="6193211" y="1535113"/>
            <a:ext cx="538889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3"/>
          <p:cNvSpPr txBox="1"/>
          <p:nvPr>
            <p:ph idx="4" type="body"/>
          </p:nvPr>
        </p:nvSpPr>
        <p:spPr>
          <a:xfrm>
            <a:off x="6193211" y="2174875"/>
            <a:ext cx="538889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609584" y="273050"/>
            <a:ext cx="401098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4766614" y="273050"/>
            <a:ext cx="6815496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609584" y="1435100"/>
            <a:ext cx="401098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2389657" y="4800600"/>
            <a:ext cx="73150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2389657" y="612775"/>
            <a:ext cx="7315016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2389657" y="5367338"/>
            <a:ext cx="7315016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832865" y="-1623081"/>
            <a:ext cx="4525963" cy="1097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284781" y="1828835"/>
            <a:ext cx="5851525" cy="2743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696921" y="-812699"/>
            <a:ext cx="5851525" cy="802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 b="1" i="0" sz="3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822959" y="1828800"/>
            <a:ext cx="1054577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1F2937"/>
                </a:solidFill>
              </a:rPr>
              <a:t>Expressões, Atribuição e Controle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822959" y="3246120"/>
            <a:ext cx="1054577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None/>
            </a:pPr>
            <a:r>
              <a:rPr lang="en-US" sz="2400">
                <a:solidFill>
                  <a:srgbClr val="1F2937"/>
                </a:solidFill>
              </a:rPr>
              <a:t>Aula 07 · Paradigmas de Linguagens de Programação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667085"/>
              </a:buClr>
              <a:buSzPts val="2000"/>
              <a:buNone/>
            </a:pPr>
            <a:r>
              <a:rPr lang="en-US" sz="2000">
                <a:solidFill>
                  <a:srgbClr val="667085"/>
                </a:solidFill>
              </a:rPr>
              <a:t>Engenharia de Software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rgbClr val="667085"/>
              </a:buClr>
              <a:buSzPts val="1600"/>
              <a:buNone/>
            </a:pPr>
            <a:r>
              <a:rPr lang="en-US" sz="1600">
                <a:solidFill>
                  <a:srgbClr val="667085"/>
                </a:solidFill>
              </a:rPr>
              <a:t>Referência: Sebesta, Conceitos de Linguagens de Programação, 11ª ed., Caps. 7 e 8 (p. 299-361)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Objetivo e ligação com o mundo real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Caps. 7 e 8 · p. 299-361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objetivo desta aula é entender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como as linguagens avaliam expressões e controlam o fluxo de execução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para que o seu código faça exatamente o que parece fazer,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surpresas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 precedência, conversão ou desvio.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o engenheiro de software, isso significa: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ler código alheio sem ser enganado pela endentação ou pela precedência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evitar conversões implícitas perigosas (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do JS e do PHP)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escolher a estrutura de controle mais legível para cada caso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Quando o fluxo sai do controle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2014 · "goto fail" (Apple)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linha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goto fail;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duplicada pulava a verificação de assinatura: iOS e macOS aceitavam certificados falsos.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2008 · Tocadores Zune (Microsoft)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último dia de um ano bissexto, um laço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nunca terminava, e todos os aparelhos travaram.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PHP · comparação com ==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"0e4..." == "0e8..."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é verdadeiro: logins que comparavam hashes com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aceitavam senhas erradas.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Roteiro da aula (80 min)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Planejamento do Encontro 2 · Sebesta Caps. 7 e 8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1012926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48640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0-10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Quiz de abertura: preveja a saída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89247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428189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10-30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Expressões: precedência, efeitos colaterais, sobrecarga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77202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307738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30-45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Conversões, expressões booleanas e curto-circuito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51574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187287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45-55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Sentenças de atribuição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531123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806683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55-70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Seleção, iteração, goto e comandos protegidos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410672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994638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70-80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encontre o bug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de aula: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exploratória. A turma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prevê a saída antes de executar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Exemplos: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pasta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exemplos/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na ordem dos slides. Todos rodam no navegador em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onecompiler.com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Quiz de abertura: o que cada linha imprime?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As respostas aparecem ao longo da aula · Sebesta Cap. 7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Anote o seu palpite para cada trecho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 executar. Vamos conferir ao longo da aula.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48640" y="1874519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· Python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8640" y="2221991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print(-2 ** 2, 2 ** 3 ** 2)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233007" y="1874519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· Java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233007" y="2221991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System.out.println(1 + 2 + "3" + 4 + 5);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48640" y="3319272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· JavaScript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48640" y="3666744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console.log("5" - 2, "5" + 2);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6233007" y="3319272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 · C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233007" y="3666744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printf("%d\n", 3 &gt; 2 &gt; 1);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548640" y="4764024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· Python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48640" y="5111496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print(x or "padrão", 3 &gt; 2 &gt; 1)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6233007" y="4764024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 · JavaScript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233007" y="5111496"/>
            <a:ext cx="5410047" cy="841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console.log(0 == "", "" == "0", 0 == "0");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 aritméticas: questões de projeto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§7.2 e §7.2.1 · p. 300-305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48640" y="3749039"/>
            <a:ext cx="5669280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Lisp dispensa a precedência (p. 306)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(+ a (* b c))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notação prefixa, e os parênteses dizem a ordem.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548640" y="1325880"/>
            <a:ext cx="566928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Quais são as regras de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precedência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Quais são as regras de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associatividade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que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ordem os operandos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são avaliados?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Há restrições a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efeitos colaterais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usuário pode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sobrecarregar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operadores?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mistura de tipos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é permitida?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583680" y="1325880"/>
            <a:ext cx="5056632" cy="73152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 + b * c   com  a=3, b=4, c=5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583680" y="2331720"/>
            <a:ext cx="5056632" cy="777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da esquerda para a direita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(3 + 4) * 5 = 35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583680" y="3227832"/>
            <a:ext cx="5056632" cy="777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da direita para a esquerda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3 + (4 * 5) = 23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583680" y="4123944"/>
            <a:ext cx="5056632" cy="777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com precedência (* antes de +)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67647"/>
                </a:solidFill>
                <a:latin typeface="Consolas"/>
                <a:ea typeface="Consolas"/>
                <a:cs typeface="Consolas"/>
                <a:sym typeface="Consolas"/>
              </a:rPr>
              <a:t>3 + 4 * 5 = 23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583680" y="5020056"/>
            <a:ext cx="5056632" cy="777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APL: sempre da direita para a esquerda (p. 304)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3 × 4 + 5 = 27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Precedência e associatividade na prática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§7.2.1.1-7.2.1.3 · p. 301-305 · exemplos/01_precedencia</a:t>
            </a:r>
            <a:endParaRPr/>
          </a:p>
        </p:txBody>
      </p:sp>
      <p:graphicFrame>
        <p:nvGraphicFramePr>
          <p:cNvPr id="163" name="Google Shape;163;p6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{F96D2BDD-6326-4E57-95B5-67BCEFDD7552}</a:tableStyleId>
              </a:tblPr>
              <a:tblGrid>
                <a:gridCol w="2240275"/>
                <a:gridCol w="1828800"/>
                <a:gridCol w="1920250"/>
                <a:gridCol w="15544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F2937"/>
                          </a:solidFill>
                        </a:rPr>
                        <a:t>Expressão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-2 ** 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erro de sintaxe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(não há **)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 ** 3 ** 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512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512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+ 2 + "3"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TypeError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"33"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"33"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-7 / 2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(inteiros)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-4 (com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-3.5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-3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-7 % 2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1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-1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-1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6"/>
          <p:cNvSpPr/>
          <p:nvPr/>
        </p:nvSpPr>
        <p:spPr>
          <a:xfrm>
            <a:off x="8275320" y="1325880"/>
            <a:ext cx="3364992" cy="21488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Associatividade (p. 303)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Esquerda: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* / % + -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Direita: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(Python, JS, Ruby, Fortran),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menos unário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Visual Basic: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à esquerda!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275320" y="3703320"/>
            <a:ext cx="3364992" cy="114300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Excel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=-2^2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dá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lá o menos unário vence o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 dúvida,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parênteses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305): eles deixam a intenção explícita para o compilador e para o próximo leitor.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Ordem dos operandos e efeitos colaterais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§7.2.2 · p. 307-309 · exemplos/02_efeitos_colaterais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Exemplo do livro (p. 307)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48640" y="1673352"/>
            <a:ext cx="5486400" cy="3310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a = 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fun1(void)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a = 17;        /* efeito colateral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3;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main(void)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a = a + fun1();   /* 8 ou 20?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printf("a = %d\n", a);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355080" y="1325880"/>
            <a:ext cx="1280160" cy="10972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7772400" y="1325880"/>
            <a:ext cx="3867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 ordem é garantida: da esquerda para a direita (p. 308)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355080" y="2587752"/>
            <a:ext cx="1280160" cy="10972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7772400" y="2587752"/>
            <a:ext cx="3867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 (gcc 14)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 ordem não é definida pelo padrão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355080" y="3849624"/>
            <a:ext cx="1280160" cy="10972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7772400" y="3849624"/>
            <a:ext cx="38679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 especificação não define a leitura de </a:t>
            </a:r>
            <a:r>
              <a:rPr b="0" i="0" lang="en-US" sz="1288" u="none" cap="none" strike="noStrike">
                <a:solidFill>
                  <a:srgbClr val="66708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em relação à chamada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Transparência referencial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308): sem efeitos colaterais, a ordem deixa de importar, e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f(x) + f(x)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pode virar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2 * f(x)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Operadores sobrecarregados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§7.3 · p. 309-310 e §9.11 · p. 404 · exemplos/03_sobrecarga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548640" y="1325880"/>
            <a:ext cx="51206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mesmo símbolo com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vários significados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soma inteiros, reais e concatena (Java)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Risco (p. 309):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em C++ é E bit a bit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"endereço de"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Definida pelo usuário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404): C++, C#, Python, Rust, Kotlin. Java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permite</a:t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548640" y="416052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48640" y="4507992"/>
            <a:ext cx="5120640" cy="1527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System.out.println('a' + 1);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98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System.out.println("" + 'a' + 1);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x.add(y).multiply(tres);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BigDecimal: sem +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6035040" y="1325880"/>
            <a:ext cx="5605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sobrecarga com métodos especiais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035040" y="1673352"/>
            <a:ext cx="5605272" cy="43159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Vetor: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x, y):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self.x, self.y = x, 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__add__(self, outro):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v1 + v2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return Vetor(self.x + outro.x,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         self.y + outro.y)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__mul__(self, k):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v *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return Vetor(self.x * k, self.y * 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 = Vetor(1, 2) + Vetor(3, 4)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Vetor(4, 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print(v * 3)             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Vetor(12, 18)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Conversões de tipos: alargamento, estreitamento e coerção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§7.4 · p. 310-313 · exemplos/04_conversoes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548640" y="1325880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coerção e cast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48640" y="1673352"/>
            <a:ext cx="539496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grande = 123456789;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float f = grande;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alargamento implícito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System.out.println((int) f);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123456792 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double d = 3.99;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System.out.println((int) d);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3 (cast)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System.out.println((byte) 200);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-56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byte b = 10, c = 20;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byte s = b + c;   // erro: b + c é int (p. 312)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System.out.println(1 / 2);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System.out.println(1 / 2.0);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0.5</a:t>
            </a:r>
            <a:endParaRPr/>
          </a:p>
        </p:txBody>
      </p:sp>
      <p:graphicFrame>
        <p:nvGraphicFramePr>
          <p:cNvPr id="204" name="Google Shape;204;p9"/>
          <p:cNvGraphicFramePr/>
          <p:nvPr/>
        </p:nvGraphicFramePr>
        <p:xfrm>
          <a:off x="617220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{F96D2BDD-6326-4E57-95B5-67BCEFDD7552}</a:tableStyleId>
              </a:tblPr>
              <a:tblGrid>
                <a:gridCol w="1188725"/>
                <a:gridCol w="2103125"/>
                <a:gridCol w="2176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int → real (implícito)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int32 + int64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coerção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sim (alargamento)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coerção para long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(um só tipo int)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não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: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float64(i)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erro de compilação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não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: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as f64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erro de compilação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ML, F# (p. 312)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erro de compilação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9"/>
          <p:cNvSpPr/>
          <p:nvPr/>
        </p:nvSpPr>
        <p:spPr>
          <a:xfrm>
            <a:off x="6172200" y="4892040"/>
            <a:ext cx="5468112" cy="11887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Coerção esconde erros (p. 312): em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 = b * a;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digitado por engano no lugar de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o Java converte e compila.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Coerção implícita: JavaScript e PHP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§7.4.1 Coerção em expressões · p. 311-312 · exemplos/04_conversoes</a:t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48640" y="1673352"/>
            <a:ext cx="548640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"5" - 2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"5" + 2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"52"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"5" * "2"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true + 1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[] + {}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"[object Object]"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null + 1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undefined + 1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"b" + "a" + +"a" + "a"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"baNaNa"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0 == ""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"" == "0"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0 == "0"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   (não é transitivo!)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0 === "0"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false  (=== não converte)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PHP · "type juggling"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199632" y="1673352"/>
            <a:ext cx="544068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var_dump("0e123" == "0e456");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 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var_dump("0e123" === "0e456");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var_dump("1" == "01");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md5("240610708")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"0e462097431906...."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md5("QNKCDZO")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"0e830400451993...."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== entre os dois hashes: true</a:t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199632" y="4526280"/>
            <a:ext cx="5440680" cy="155448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Regra prática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JavaScript e PHP, compare com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!==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fazem coerção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 relacionais e booleanas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§7.5 · p. 313-315 · exemplos/05_booleanas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548640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booleano é inteiro (p. 315)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48640" y="1673352"/>
            <a:ext cx="544068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a = 3, b = 2, c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printf("%d\n", a &gt; b &gt; c);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 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(3 &gt; 2) vale 1, e 1 &gt; 1 é falso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printf("%d\n", (a &gt; b) &amp;&amp; (b &gt; c));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(-1) printf("verdadeiro\n");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!= 0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comparações encadeadas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199632" y="1673352"/>
            <a:ext cx="544068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a, b, c = 3, 2,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print(a &gt; b &gt; c)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True: (a &gt; b) and (b &gt; 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contam como FALSO em um if: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0   0.0   ""   []   {}   None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contam como VERDADEIRO: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"0"   [0]   " "</a:t>
            </a:r>
            <a:endParaRPr/>
          </a:p>
        </p:txBody>
      </p:sp>
      <p:graphicFrame>
        <p:nvGraphicFramePr>
          <p:cNvPr id="229" name="Google Shape;229;p11"/>
          <p:cNvGraphicFramePr/>
          <p:nvPr/>
        </p:nvGraphicFramePr>
        <p:xfrm>
          <a:off x="548640" y="45720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{F96D2BDD-6326-4E57-95B5-67BCEFDD7552}</a:tableStyleId>
              </a:tblPr>
              <a:tblGrid>
                <a:gridCol w="2743200"/>
                <a:gridCol w="8348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O que o </a:t>
                      </a:r>
                      <a:r>
                        <a:rPr b="1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 aceita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C, Python, 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qualquer valor (0, vazio e nulo contam como falso)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Java, C#, Go, Rust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67647"/>
                          </a:solidFill>
                        </a:rPr>
                        <a:t>somente booleano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: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(n)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com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inteiro nem compila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Avaliação em curto-circuito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§7.6 · p. 315-317 · exemplos/05_booleanas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&amp;&amp; faz curto-circuito, &amp; não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548640" y="1673352"/>
            <a:ext cx="557784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busca do livro (p. 316)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while (i &lt; lista.length &amp;&amp; lista[i] != chave)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i++;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&amp;&amp; evita lista[lista.length]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String s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 != null &amp;&amp; s.length() &gt; 0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 != null &amp;  s.length() &gt; 0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NullPointerException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6309360" y="1325880"/>
            <a:ext cx="5330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JavaScript · ?. e ??</a:t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309360" y="1673352"/>
            <a:ext cx="5330952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const u = { nome: "Ana", endereco: null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u.endereco?.cidade   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undefined, sem erro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const qtd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qtd || 10            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10  (o 0 se perdeu!)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qtd ?? 10            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   (só troca null/undefined)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Cuidado com efeitos colaterais (p. 316)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(a &gt; b) || (b++ / 3)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b++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só acontece quando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 &lt;= b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Em Python,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0 or "padrão"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devolve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"padrão"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devolvem um dos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operandos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Sentenças de atribuição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§7.7 · p. 317-321 · exemplos/06_atribuicao</a:t>
            </a:r>
            <a:endParaRPr/>
          </a:p>
        </p:txBody>
      </p:sp>
      <p:sp>
        <p:nvSpPr>
          <p:cNvPr id="249" name="Google Shape;249;p13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 · a atribuição é uma expressão (p. 319-320)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548640" y="1673352"/>
            <a:ext cx="5577840" cy="27157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sum = count = 0;  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múltiplos alvos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= b + (c = d / b) - 1;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exemplo do livro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while ((ch = getchar()) != EOF) { ...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(x = y) { ... }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compila! atribui e testa y</a:t>
            </a:r>
            <a:endParaRPr/>
          </a:p>
        </p:txBody>
      </p:sp>
      <p:graphicFrame>
        <p:nvGraphicFramePr>
          <p:cNvPr id="251" name="Google Shape;251;p13"/>
          <p:cNvGraphicFramePr/>
          <p:nvPr/>
        </p:nvGraphicFramePr>
        <p:xfrm>
          <a:off x="630936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{F96D2BDD-6326-4E57-95B5-67BCEFDD7552}</a:tableStyleId>
              </a:tblPr>
              <a:tblGrid>
                <a:gridCol w="2148850"/>
                <a:gridCol w="3182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Atribuição é expressão?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C, C++, 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sim: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(x = y)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compila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Java, C#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sim, mas o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exige booleano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não, exceto o operador morsa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:=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não: nem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x++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é expressão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vale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: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x = 5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não compila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252;p13"/>
          <p:cNvSpPr txBox="1"/>
          <p:nvPr/>
        </p:nvSpPr>
        <p:spPr>
          <a:xfrm>
            <a:off x="548640" y="457200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atribuição múltipla (p. 320)</a:t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548640" y="4919472"/>
            <a:ext cx="5577840" cy="11612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a, b = b, a              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troca sem temporária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(n := len(dados)) &gt; 5: ...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morsa (Python 3.8+)</a:t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6309360" y="4572000"/>
            <a:ext cx="5330952" cy="150876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Linguagens funcionais (p. 321)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(ML) e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(F#, Rust) dão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um valor, que não muda.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Atribuição de modo misto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§7.8 · p. 321-322 · exemplos/06_atribuicao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Java · só alargamento (p. 322)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548640" y="1673352"/>
            <a:ext cx="5486400" cy="29443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double d = 3;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ok: alargamento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int i = 3.7;     // erro: estreitamento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i = (int) 3.7;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3 (cast explícito)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long l = i;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 += 3.7;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COMPILA: cast escondido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System.out.println(i);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6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coerção em qualquer direção</a:t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6199632" y="1673352"/>
            <a:ext cx="5440680" cy="29443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i = 3.7;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3, em silêncio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char c = 300;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44 (só um aviso)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unsigned int u = -1;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4294967295</a:t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Armadilha clássica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double taxa = acertos / total * 100;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 inteiros dá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a divisão inteira acontece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do alargamento para double.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Estruturas de controle: quantas são necessárias?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§8.1 · p. 328-330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548640" y="1325880"/>
            <a:ext cx="351525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uma sentença após a outra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48640" y="2286000"/>
            <a:ext cx="3515258" cy="11887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 = a + 2;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4338218" y="1325880"/>
            <a:ext cx="351525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Seleção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escolher um caminho</a:t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4338218" y="2286000"/>
            <a:ext cx="3515258" cy="11887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(x &gt; 0)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else ...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8127796" y="1325880"/>
            <a:ext cx="351525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Iteração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repetir enquanto uma condição vale</a:t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8127796" y="2286000"/>
            <a:ext cx="3515258" cy="11887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while (x &gt;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x--;</a:t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548640" y="3794760"/>
            <a:ext cx="11094415" cy="100584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Böhm e Jacopini (1966):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sequência, seleção e laço lógico bastam para qualquer algoritmo. O </a:t>
            </a:r>
            <a:r>
              <a:rPr b="0" i="0" lang="en-US" sz="1656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goto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não é necessário.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48640" y="4983480"/>
            <a:ext cx="1109441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Por que então tantas outras (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)?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Facilidade de escrita.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 limite é 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legibilidade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quanto maior a linguagem, menos do código alheio você reconhece (p. 329).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Seleção de dois caminhos: o "else pendente"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§8.2.1 · p. 330-334 · exemplos/07_selecao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a endentação engana (p. 331)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548640" y="1673352"/>
            <a:ext cx="5577840" cy="28529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sum = 0, count = 5, result = -1;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(sum ==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if (count ==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result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else         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de qual if é este else?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result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printf("%d\n", result);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</a:t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6309360" y="1325880"/>
            <a:ext cx="5330952" cy="1874519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Regra de Java, C, C++ e C#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pertence ao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mais próximo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que ainda não tem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A endentação é ignorada (exceto em Python e F#).</a:t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6309360" y="3337560"/>
            <a:ext cx="5330952" cy="114300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Chaves obrigatórias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eliminam o problema: Perl, Go e Rust (p. 332).</a:t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548640" y="4709160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Seletores que devolvem valor</a:t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548640" y="5056632"/>
            <a:ext cx="11094415" cy="1024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y = if x &gt; 0 { x } else { 2 * x };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Rust: if é uma expressão (como em F#, p. 334)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y = x if x &gt; 0 else 2 * x                     # Python: expressão condicional (p. 306)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Seleção múltipla: do switch de C ao match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§8.2.2 · p. 334-341 · exemplos/07_selecao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548640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 · sem break, o controle "cai" (p. 335)</a:t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548640" y="1673352"/>
            <a:ext cx="3515258" cy="31729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switch (index)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3: odd +=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4: even +=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default: printf("Error\n");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index = 1: odd, even E erro!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4338218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14+ · switch como expressão</a:t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4338218" y="1673352"/>
            <a:ext cx="3515258" cy="31729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String tipo = switch (dia)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SAB, DOM -&gt; "fim de semana";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SEG, TER, QUA,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QUI, SEX -&gt; "dia útil";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sem break, sem cair;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exaustivo para enum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8127796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Rust · match exaustivo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8127796" y="1673352"/>
            <a:ext cx="3515258" cy="31729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match 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i32::MIN..=-1 =&gt; "negativo",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0 =&gt; "zero",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1..=9 =&gt; "um dígito",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_ =&gt; "vários dígitos",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sem o _ : não compila</a:t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Go: cada caso termina sozinho, e cair exige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fallthrough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 C#: cair implicitamente é proibido (p. 336). Python 3.10: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 padrões e guardas.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Laços controlados por contador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§8.3.1 · p. 342-345 · exemplos/08_iteracao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 · o for é um laço lógico disfarçado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548640" y="1673352"/>
            <a:ext cx="5486400" cy="29443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10; i++)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printf("%d ", i);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 += 2;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altera a contagem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       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 3 6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(; i &lt;= 100; )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expressões opcionais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soma += i++;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o for percorre um iterável</a:t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6199632" y="1673352"/>
            <a:ext cx="5440680" cy="29443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i in range(0, 10):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print(i, end=" 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 += 2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NÃO muda nada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0 1 2 3 4 5 6 7 8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i in range(10, 0, -3):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10 7 4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Questões de projeto (p. 342)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Qual é o tipo e o escopo da variável? Posso alterá-la no corpo? Os parâmetros são avaliados uma vez ou a cada volta?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Laços lógicos, saídas e iteradores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§8.3.2-8.3.4 · p. 345-352 · exemplos/08_iteracao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break rotulado (p. 348)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548640" y="1673352"/>
            <a:ext cx="5486400" cy="24871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externo: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m.length; i++)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for (int j = 0; j &lt; m[i].length; j++)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if (m[i][j] &lt; 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System.out.println(i + "," + j);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break externo;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sai dos DOIS laços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JavaScript · for...in × for...of</a:t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6199632" y="1673352"/>
            <a:ext cx="5440680" cy="24871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const notas = [10, 20, 30];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total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(const i in notas) total += i;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console.log(total);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"0012": chaves!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total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(const v of notas) total += v;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console.log(total);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60: valores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548640" y="4343400"/>
            <a:ext cx="6675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Zune (2008) · o laço lógico sem progresso</a:t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548640" y="4690872"/>
            <a:ext cx="6675120" cy="1389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while (dias &gt; 365)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if (bissexto(ano))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if (dias &gt; 366) { dias -= 366; ano++;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3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dias == 366: nada muda, laço infinito!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 else { dias -= 365; ano++;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7498079" y="4690872"/>
            <a:ext cx="4142232" cy="1389888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Pós-teste (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do-while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 executa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ao menos uma vez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e isso é fácil de esquecer (p. 347).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Desvio incondicional: o goto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§8.4 · p. 352-353 · exemplos/09_desvio_protegido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"goto fail" (Apple, 2014) · versão simplificada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48640" y="1673352"/>
            <a:ext cx="6492240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valida_certificado(void)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int err;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if ((err = verifica_hash()) !=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goto fail;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goto fail;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duplicada: desvia SEMPRE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if ((err = verifica_assinatura()) !=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goto fail;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nunca é alcançada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fail: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err; 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 = "certificado válido"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7269480" y="1325880"/>
            <a:ext cx="4370832" cy="12344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Dijkstra (1968)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"Go To Statement Considered Harmful"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7269480" y="2724912"/>
            <a:ext cx="4370832" cy="12344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Quem tem goto hoje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C, C++, C#, Go. Java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tem (p. 353)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7269480" y="4123944"/>
            <a:ext cx="4370832" cy="12344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Gotos restritos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melhoram a legibilidade (p. 353)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Com chaves obrigatórias (Go, Rust) ou com </a:t>
            </a:r>
            <a:r>
              <a:rPr b="0" i="0" lang="en-US" sz="1472" u="none" cap="none" strike="noStrike">
                <a:solidFill>
                  <a:srgbClr val="667085"/>
                </a:solidFill>
                <a:latin typeface="Consolas"/>
                <a:ea typeface="Consolas"/>
                <a:cs typeface="Consolas"/>
                <a:sym typeface="Consolas"/>
              </a:rPr>
              <a:t>gcc -Wall</a:t>
            </a: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(aviso de endentação enganosa), o bug teria sido pego.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Comandos protegidos de Dijkstra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§8.5 · p. 353-355 · exemplos/09_desvio_protegido</a:t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548640" y="1325880"/>
            <a:ext cx="5440680" cy="210312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74300" spcFirstLastPara="1" rIns="2743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if x &gt;= y -&gt; max := x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[] y &gt;= x -&gt; max := 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Exemplo do livro (p. 354): se x == y, qualquer ramo serve.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548640" y="3611880"/>
            <a:ext cx="54406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Todas as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guardas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são avaliadas</a:t>
            </a:r>
            <a:endParaRPr/>
          </a:p>
          <a:p>
            <a:pPr indent="-219456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Várias verdadeiras: escolha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determinística</a:t>
            </a:r>
            <a:endParaRPr/>
          </a:p>
          <a:p>
            <a:pPr indent="-219456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Nenhuma verdadeira: erro (no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 ou fim do laço (no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do ... od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19456" lvl="0" marL="256032" marR="0" rtl="0" algn="l">
              <a:spcBef>
                <a:spcPts val="8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Base do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CSP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 Hoare (1978) e do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 Go</a:t>
            </a:r>
            <a:endParaRPr/>
          </a:p>
        </p:txBody>
      </p:sp>
      <p:sp>
        <p:nvSpPr>
          <p:cNvPr id="357" name="Google Shape;357;p21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Go · select, herdeiro dos comandos protegidos</a:t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6199632" y="1673352"/>
            <a:ext cx="544068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&lt;- "a"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os dois canais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 &lt;- "b"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estão prontos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select {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Go sorteia uma guarda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case x := &lt;-a: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contagem[x]++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case x := &lt;-b: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contagem[x]++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1000 repetições: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map[a:505 b:495]  (muda a cada execução)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 em duplas: encontre o bug (1/3)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exemplos/10_exercicio (q1.js ... Q6.java) · execute em onecompiler.com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regra causa o problema?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como corrigir?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· JavaScript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const precos = [10, 20, 30];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total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(const p in precos)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total += 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console.log("Total: " + total);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· Python</a:t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def desconto(preco, d=None):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 = d or 10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padrão: 10%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preco * (100 - d) /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print(desconto(200, 0))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encontre o bug (2/3)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exemplos/10_exercicio (q1.js ... Q6.java) · execute em onecompiler.com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regra causa o problema?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como corrigir?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· Java</a:t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dia = 2; String nome = "";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switch (dia)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1: nome = "domingo";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2: nome = "segunda";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case 3: nome = "terça";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default: nome = "inválido";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System.out.println(nome);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 · C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saldo = 100, saque = 50;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(saque &gt; saldo);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printf("saldo insuficiente\n");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printf("fim\n");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encontre o bug (3/3)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exemplos/10_exercicio (q1.js ... Q6.java) · execute em onecompiler.com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regra causa o problema?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como corrigir?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· Go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 :=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if x &gt; 5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x := x *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fmt.Println("dentro:", 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fmt.Println("fora:", x)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 · Java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acertos = 7, total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double taxa = acertos / total * 100;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System.out.println(taxa + "%");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Síntese: armadilhas e como as linguagens ajudam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Caps. 7 e 8 · p. 299-361</a:t>
            </a:r>
            <a:endParaRPr/>
          </a:p>
        </p:txBody>
      </p:sp>
      <p:graphicFrame>
        <p:nvGraphicFramePr>
          <p:cNvPr id="402" name="Google Shape;402;p25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{F96D2BDD-6326-4E57-95B5-67BCEFDD7552}</a:tableStyleId>
              </a:tblPr>
              <a:tblGrid>
                <a:gridCol w="1920250"/>
                <a:gridCol w="4343400"/>
                <a:gridCol w="48280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Tema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Armadilha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Como as linguagens ajudam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Precedência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-2 ** 2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+ 2 + "3"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parênteses; JS obriga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(-2) ** 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Operandos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+ f()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com efeito colateral (C, Go)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Java fixa a ordem; funções puras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Conversões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coerção silenciosa (C, JS, PHP)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Go e Rust exigem conversão explícita;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===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Booleanos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são falsos; </a:t>
                      </a: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&gt; b &gt; c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em 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 só com booleano (Java, Go, Rust);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Atribuição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(x = y)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atribuição não é expressão (Python, Go, Rust)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Seleção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switch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sem </a:t>
                      </a: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; else pendente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-&gt;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match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 exaustivo, chaves obrigatórias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Laços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for...in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no JS; laço sem progresso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for...of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, iteradores,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 rotulado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Desvio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goto</a:t>
                      </a:r>
                      <a:r>
                        <a:rPr b="0" lang="en-US" sz="1400">
                          <a:solidFill>
                            <a:srgbClr val="B42318"/>
                          </a:solidFill>
                        </a:rPr>
                        <a:t> sem restrição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continue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b="0" lang="en-US" sz="1400">
                          <a:solidFill>
                            <a:srgbClr val="067647"/>
                          </a:solidFill>
                        </a:rPr>
                        <a:t>: gotos restritos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Atividades complementares (autopesquisa)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Caps. 7 e 8 · exemplos/11_autopesquisa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 em Ruby e em Lisp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(§7.2.1.4-7.2.1.5, p. 305-306):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expressoes.rb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expressoes.lisp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 condicionais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(§7.2.1.6, p. 306) e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erros em expressões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(§7.4.3, p. 313)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Implementação da seleção múltipla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tabelas de desvio (§8.2.2.3, p. 337-339)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Laços em linguagens funcionais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contagem por recursão (§8.3.1.4, p. 345)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Iteradores e blocos de Ruby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(§8.3.4, p. 349-352)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Leitura: Dijkstra, "Go To Statement Considered Harmful" (1968)</a:t>
            </a:r>
            <a:endParaRPr/>
          </a:p>
        </p:txBody>
      </p:sp>
      <p:sp>
        <p:nvSpPr>
          <p:cNvPr id="411" name="Google Shape;411;p26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Entrega sugerida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 mesmo exemplo com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em C,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switch -&gt;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em Java,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em Go e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em Rust: compare "cair" entre casos, exaustividade e legibilidade.</a:t>
            </a: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Próxima aula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Subprogramas (Caps. 9 e 10)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
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920240"/>
            <a:ext cx="10332720" cy="914400"/>
          </a:xfrm>
          <a:prstGeom prst="rect">
            <a:avLst/>
          </a:prstGeom>
          <a:noFill/>
        </p:spPr>
        <p:txBody>
          <a:bodyPr wrap="square">
            <a:spAutoFit/>
          </a:bodyPr>
          <a:lstStyle/>
          <a:p>
            <a:pPr algn="ctr">
              <a:defRPr sz="3400" b="1">
                <a:solidFill>
                  <a:srgbClr val="17365D"/>
                </a:solidFill>
                <a:latin typeface="Aptos"/>
              </a:defRPr>
            </a:pPr>
            <a:r>
              <a:t>Nomes, Vinculações e Escopo</a:t>
            </a:r>
          </a:p>
        </p:txBody>
      </p:sp>
      <p:sp>
        <p:nvSpPr>
          <p:cNvPr id="3" name="TextBox 2"/>
          <p:cNvSpPr txBox="1"/>
          <p:nvPr/>
        </p:nvSpPr>
        <p:spPr>
          <a:xfrm>
            <a:off x="1371600" y="3017520"/>
            <a:ext cx="9418320" cy="640080"/>
          </a:xfrm>
          <a:prstGeom prst="rect">
            <a:avLst/>
          </a:prstGeom>
          <a:noFill/>
        </p:spPr>
        <p:txBody>
          <a:bodyPr wrap="square">
            <a:spAutoFit/>
          </a:bodyPr>
          <a:lstStyle/>
          <a:p>
            <a:pPr algn="ctr">
              <a:defRPr sz="2000" b="0">
                <a:solidFill>
                  <a:srgbClr val="52677D"/>
                </a:solidFill>
                <a:latin typeface="Aptos"/>
              </a:defRPr>
            </a:pPr>
            <a:r>
              <a:t>Pergunta primeiro. Resposta no cartão seguinte.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1</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Por que estes conceitos importam em uma decisão técnica?</a:t>
            </a:r>
            <a:br/>
            <a:r>
              <a:t>Linguagens imperativas e arquitetura de von Neumann, Nomes, Case sensitive</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1</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Linguagens imperativas e arquitetura de von Neumann, Nomes, Case sensitive</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Linguagens imperativas e arquitetura de von Neumann: Linguagens imperativas podem ser compreendidas como abstrações de uma arquitetura formada por memória e processador. Nesse contexto, variáveis abstraem o armazenamento manipulado pelas operações do programa.</a:t>
            </a:r>
            <a:br/>
            <a:br/>
            <a:r>
              <a:t>Nomes: Nomes identificam entidades de um programa. Seu projeto envolve decisões como comprimento permitido, quantidade de caracteres significativos e diferenciação entre maiúsculas e minúsculas; nomes muito curtos podem ser pouco representativos.</a:t>
            </a:r>
            <a:br/>
            <a:br/>
            <a:r>
              <a:t>Case sensitive: Quando os nomes são case sensitive, diferenças entre letras maiúsculas e minúsculas distinguem identificadores. Essa escolha pode prejudicar a legibilidade porque nomes visualmente parecidos passam a representar entidades diferentes.</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obj01, obj02, obj03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2</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Como você explicaria a relação entre estes conceitos?</a:t>
            </a:r>
            <a:br/>
            <a:r>
              <a:t>Palavras especiais, Variável, Atributos das variáveis</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2</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Palavras especiais, Variável, Atributos das variáveis</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Palavras especiais: Palavras especiais ajudam a delimitar ou separar sentenças. Uma palavra chave possui significado especial em determinados contextos, enquanto uma palavra reservada não pode ser usada como nome. Uma quantidade excessiva de palavras reservadas pode dificultar seu uso.</a:t>
            </a:r>
            <a:br/>
            <a:br/>
            <a:r>
              <a:t>Variável: Uma variável é uma abstração de uma célula de memória ou de um conjunto de células. Ela é caracterizada pela sextupla nome, endereço, valor, tipo, tempo de vida e escopo.</a:t>
            </a:r>
            <a:br/>
            <a:br/>
            <a:r>
              <a:t>Atributos das variáveis: O nome identifica a variável, embora nem toda variável tenha nome. O endereço é a posição de memória associada a ela; o valor é o conteúdo dessa posição; e o tipo determina a faixa de valores, os operadores aplicáveis e, em ponto flutuante, a precisão. Em uma atribuição, a ocorrência da variável à esquerda designa o endereço, enquanto a ocorrência à direita fornece o valor.</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obj01, obj02, obj03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3</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Que problema profissional estes conceitos ajudam a analisar?</a:t>
            </a:r>
            <a:br/>
            <a:r>
              <a:t>Apelidos, Vinculação, Tempos de vinculação</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3</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Apelidos, Vinculação, Tempos de vinculação</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Apelidos: Dois nomes são apelidos quando podem acessar o mesmo local de memória. Ponteiros, referências e uniões podem criar apelidos; seu uso pode reduzir a legibilidade porque é necessário considerar todos os nomes que alcançam a mesma posição.</a:t>
            </a:r>
            <a:br/>
            <a:br/>
            <a:r>
              <a:t>Vinculação: Vinculação é uma associação entre um atributo e uma entidade, como a associação de uma variável a seu tipo ou valor, ou de uma operação a seu símbolo. Tempo de vinculação é o momento em que essa associação ocorre.</a:t>
            </a:r>
            <a:br/>
            <a:br/>
            <a:r>
              <a:t>Tempos de vinculação: Uma vinculação pode ocorrer no projeto da linguagem, na implementação da linguagem, na compilação, na carga ou na execução. Exemplos incluem associar um símbolo a uma operação no projeto, um tipo a uma faixa de representação na implementação, uma variável a um tipo na compilação e uma variável a uma posição de memória na carga ou na execução.</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obj03, obj04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4</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Quais trade-offs aparecem quando pensamos em:</a:t>
            </a:r>
            <a:br/>
            <a:r>
              <a:t>Vinculação estática e dinâmica, Declaração Explícita/Implícita, Inferência de tipo</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4</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Vinculação estática e dinâmica, Declaração Explícita/Implícita, Inferência de tipo</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Vinculação estática e dinâmica: A vinculação estática ocorre pela primeira vez antes da execução e permanece inalterada durante o programa. A vinculação dinâmica ocorre pela primeira vez durante a execução ou pode ser modificada no decorrer dela.</a:t>
            </a:r>
            <a:br/>
            <a:br/>
            <a:r>
              <a:t>Declaração Explícita/Implícita: A declaração explícita lista nomes de variáveis e especifica seus tipos. A declaração implícita associa variáveis a tipos por convenções da linguagem, sem uma sentença explícita de declaração. A declaração implícita favorece a capacidade de escrita, mas pode reduzir a confiabilidade.</a:t>
            </a:r>
            <a:br/>
            <a:br/>
            <a:r>
              <a:t>Inferência de tipo: Na inferência de tipo, a linguagem determina o tipo a partir do valor inicial ou do contexto em que a variável aparece. Embora o tipo seja inferido, ele pode permanecer estaticamente vinculado.</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obj04, obj05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5</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Por que estes conceitos importam em uma decisão técnica?</a:t>
            </a:r>
            <a:br/>
            <a:r>
              <a:t>Vinculação de Tipos Dinâmica, Vinculações de armazenamento e tempo de vida, Variáveis estáticas</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5</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Vinculação de Tipos Dinâmica, Vinculações de armazenamento e tempo de vida, Variáveis estáticas</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Vinculação de Tipos Dinâmica: Na vinculação de tipos dinâmica, uma atribuição vincula a variável ao tipo do valor atribuído, e essa vinculação pode mudar durante a execução. A abordagem oferece flexibilidade, mas aumenta os custos de execução e dificulta a detecção de erros de tipo pelo compilador.</a:t>
            </a:r>
            <a:br/>
            <a:br/>
            <a:r>
              <a:t>Vinculações de armazenamento e tempo de vida: Alocação é a obtenção de memória disponível, enquanto desalocação ou liberação devolve essa memória. O tempo de vida de uma variável é o período durante o qual ela permanece vinculada a uma posição específica de memória.</a:t>
            </a:r>
            <a:br/>
            <a:br/>
            <a:r>
              <a:t>Variáveis estáticas: Variáveis estáticas são vinculadas a uma posição de memória antes do início da execução e permanecem nessa posição durante todo o programa. Proporcionam endereçamento direto e evitam a sobrecarga de alocação e desalocação em execução, mas reduzem a flexibilidade e, se forem a única categoria disponível, impedem recursão.</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obj04, obj05, obj06, obj09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6</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Como você explicaria a relação entre estes conceitos?</a:t>
            </a:r>
            <a:br/>
            <a:r>
              <a:t>Variáveis dinâmicas da pilha, Variáveis dinâmicas do heap, Variáveis dinâmicas do heap implícito</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6</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Variáveis dinâmicas da pilha, Variáveis dinâmicas do heap, Variáveis dinâmicas do heap implícito</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Variáveis dinâmicas da pilha: As vinculações de armazenamento de variáveis dinâmica da pilha são criadas quando a execução alcança suas declarações. Elas permitem recursão e conservação de armazenamento, mas introduzem sobrecarga de alocação e desalocação e podem exigir endereçamento indireto.</a:t>
            </a:r>
            <a:br/>
            <a:br/>
            <a:r>
              <a:t>Variáveis dinâmicas do heap: Variáveis dinâmicas de heap são alocadas e desalocadas em tempo de execução por instruções explícitas e normalmente são acessadas por ponteiros ou variáveis de referência. Elas viabilizam estruturas de dados dinâmicas, embora sejam mais difíceis de usar, referenciar e implementar.</a:t>
            </a:r>
            <a:br/>
            <a:br/>
            <a:r>
              <a:t>Variáveis dinâmicas do heap implícito: Nas variáveis dinâmicas de heap implícito, alocação e desalocação são provocadas por sentenças de atribuição. Essa categoria favorece flexibilidade e código genérico, mas pode ser ineficiente porque os atributos são dinâmicos e reduz a detecção de erros pelo compilador.</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7</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Que problema profissional estes conceitos ajudam a analisar?</a:t>
            </a:r>
            <a:br/>
            <a:r>
              <a:t>Escopo, Escopo estático, Ocultação de nomes</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7</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Escopo, Escopo estático, Ocultação de nomes</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Escopo: O escopo de uma variável é a faixa de sentenças na qual ela é visível. Uma variável declarada em uma unidade ou bloco é local; uma variável visível, mas declarada fora, é não local; e variáveis globais formam uma categoria especial de variáveis não locais.</a:t>
            </a:r>
            <a:br/>
            <a:br/>
            <a:r>
              <a:t>Escopo estático: No escopo estático, a associação entre uma referência e uma declaração pode ser determinada antes da execução pela análise do código-fonte. A busca começa localmente e prossegue pelos pais e ancestrais estáticos até encontrar a declaração correspondente.</a:t>
            </a:r>
            <a:br/>
            <a:br/>
            <a:r>
              <a:t>Ocultação de nomes: Uma variável pode ficar escondida quando um bloco ou unidade mais próximo declara outra variável com o mesmo nome. No escopo estático, a declaração mais próxima encontrada pela busca é a que recebe a referência.</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obj07, obj08, obj09, obj10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8</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Quais trade-offs aparecem quando pensamos em:</a:t>
            </a:r>
            <a:br/>
            <a:r>
              <a:t>Blocos e ordem de declaração, Escopo global, Escopo dinâmico</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8</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Blocos e ordem de declaração, Escopo global, Escopo dinâmico</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Blocos e ordem de declaração: Blocos criam escopos estáticos internos. Dependendo da linguagem, o escopo de uma variável local pode começar em sua declaração e seguir até o final do bloco, ou abranger o bloco inteiro; variáveis declaradas em uma sentença for podem ter escopo restrito a essa sentença.</a:t>
            </a:r>
            <a:br/>
            <a:br/>
            <a:r>
              <a:t>Escopo global: Variáveis globais são declaradas fora das unidades locais, conforme a estrutura permitida pela linguagem. As regras para referenciá-las ou atribuir novos valores dentro de funções variam entre linguagens, como mostram os mecanismos específicos de PHP e Python.</a:t>
            </a:r>
            <a:br/>
            <a:br/>
            <a:r>
              <a:t>Escopo dinâmico: O escopo dinâmico conecta referências a declarações pela sequência de chamadas executadas, em vez da posição textual das unidades. Ele pode ser conveniente, mas amplia a visibilidade entre subprogramas chamados e prejudica legibilidade e verificação estática de tipos.</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obj07, obj08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7365D"/>
        </a:solidFill>
        <a:effectLst/>
      </p:bgPr>
    </p:bg>
    <p:spTree>
      <p:nvGrpSpPr>
        <p:cNvPr id="1" name=""/>
        <p:cNvGrpSpPr/>
        <p:nvPr/>
      </p:nvGrpSpPr>
      <p:grpSpPr/>
      <p:sp>
        <p:nvSpPr>
          <p:cNvPr id="2" name="TextBox 1"/>
          <p:cNvSpPr txBox="1"/>
          <p:nvPr/>
        </p:nvSpPr>
        <p:spPr>
          <a:xfrm>
            <a:off x="731520" y="640080"/>
            <a:ext cx="10698480" cy="914400"/>
          </a:xfrm>
          <a:prstGeom prst="rect">
            <a:avLst/>
          </a:prstGeom>
          <a:noFill/>
        </p:spPr>
        <p:txBody>
          <a:bodyPr wrap="square">
            <a:spAutoFit/>
          </a:bodyPr>
          <a:lstStyle/>
          <a:p>
            <a:pPr algn="ctr">
              <a:defRPr sz="2200" b="1">
                <a:solidFill>
                  <a:srgbClr val="84D5CD"/>
                </a:solidFill>
                <a:latin typeface="Aptos"/>
              </a:defRPr>
            </a:pPr>
            <a:r>
              <a:t>Pergunta 9</a:t>
            </a:r>
          </a:p>
        </p:txBody>
      </p:sp>
      <p:sp>
        <p:nvSpPr>
          <p:cNvPr id="3" name="TextBox 2"/>
          <p:cNvSpPr txBox="1"/>
          <p:nvPr/>
        </p:nvSpPr>
        <p:spPr>
          <a:xfrm>
            <a:off x="1097280" y="1828800"/>
            <a:ext cx="9966960" cy="2743200"/>
          </a:xfrm>
          <a:prstGeom prst="rect">
            <a:avLst/>
          </a:prstGeom>
          <a:noFill/>
        </p:spPr>
        <p:txBody>
          <a:bodyPr wrap="square">
            <a:spAutoFit/>
          </a:bodyPr>
          <a:lstStyle/>
          <a:p>
            <a:pPr algn="ctr">
              <a:defRPr sz="2900" b="1">
                <a:solidFill>
                  <a:srgbClr val="FFFFFF"/>
                </a:solidFill>
                <a:latin typeface="Aptos"/>
              </a:defRPr>
            </a:pPr>
            <a:r>
              <a:t>Por que estes conceitos importam em uma decisão técnica?</a:t>
            </a:r>
            <a:br/>
            <a:r>
              <a:t>Escopo e tempo de vida, Ambiente de referenciamento, Constantes nomeadas</a:t>
            </a:r>
          </a:p>
        </p:txBody>
      </p:sp>
      <p:sp>
        <p:nvSpPr>
          <p:cNvPr id="4" name="TextBox 3"/>
          <p:cNvSpPr txBox="1"/>
          <p:nvPr/>
        </p:nvSpPr>
        <p:spPr>
          <a:xfrm>
            <a:off x="1097280" y="5577840"/>
            <a:ext cx="9966960" cy="457200"/>
          </a:xfrm>
          <a:prstGeom prst="rect">
            <a:avLst/>
          </a:prstGeom>
          <a:noFill/>
        </p:spPr>
        <p:txBody>
          <a:bodyPr wrap="square">
            <a:spAutoFit/>
          </a:bodyPr>
          <a:lstStyle/>
          <a:p>
            <a:pPr algn="ctr">
              <a:defRPr sz="1200" b="0">
                <a:solidFill>
                  <a:srgbClr val="D6E1EC"/>
                </a:solidFill>
                <a:latin typeface="Aptos"/>
              </a:defRPr>
            </a:pPr>
            <a:r>
              <a:t>Pense por alguns segundos antes de avançar.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EEF3F8"/>
        </a:solidFill>
        <a:effectLst/>
      </p:bgPr>
    </p:bg>
    <p:spTree>
      <p:nvGrpSpPr>
        <p:cNvPr id="1" name=""/>
        <p:cNvGrpSpPr/>
        <p:nvPr/>
      </p:nvGrpSpPr>
      <p:grpSpPr/>
      <p:sp>
        <p:nvSpPr>
          <p:cNvPr id="2" name="TextBox 1"/>
          <p:cNvSpPr txBox="1"/>
          <p:nvPr/>
        </p:nvSpPr>
        <p:spPr>
          <a:xfrm>
            <a:off x="731520" y="502920"/>
            <a:ext cx="10698480" cy="731520"/>
          </a:xfrm>
          <a:prstGeom prst="rect">
            <a:avLst/>
          </a:prstGeom>
          <a:noFill/>
        </p:spPr>
        <p:txBody>
          <a:bodyPr wrap="square">
            <a:spAutoFit/>
          </a:bodyPr>
          <a:lstStyle/>
          <a:p>
            <a:pPr algn="ctr">
              <a:defRPr sz="2000" b="1">
                <a:solidFill>
                  <a:srgbClr val="245B8A"/>
                </a:solidFill>
                <a:latin typeface="Aptos"/>
              </a:defRPr>
            </a:pPr>
            <a:r>
              <a:t>Resposta 9</a:t>
            </a:r>
          </a:p>
        </p:txBody>
      </p:sp>
      <p:sp>
        <p:nvSpPr>
          <p:cNvPr id="3" name="TextBox 2"/>
          <p:cNvSpPr txBox="1"/>
          <p:nvPr/>
        </p:nvSpPr>
        <p:spPr>
          <a:xfrm>
            <a:off x="822960" y="1234440"/>
            <a:ext cx="10515600" cy="731520"/>
          </a:xfrm>
          <a:prstGeom prst="rect">
            <a:avLst/>
          </a:prstGeom>
          <a:noFill/>
        </p:spPr>
        <p:txBody>
          <a:bodyPr wrap="square">
            <a:spAutoFit/>
          </a:bodyPr>
          <a:lstStyle/>
          <a:p>
            <a:pPr algn="ctr">
              <a:defRPr sz="2500" b="1">
                <a:solidFill>
                  <a:srgbClr val="17365D"/>
                </a:solidFill>
                <a:latin typeface="Aptos"/>
              </a:defRPr>
            </a:pPr>
            <a:r>
              <a:t>Escopo e tempo de vida, Ambiente de referenciamento, Constantes nomeadas</a:t>
            </a:r>
          </a:p>
        </p:txBody>
      </p:sp>
      <p:sp>
        <p:nvSpPr>
          <p:cNvPr id="4" name="TextBox 3"/>
          <p:cNvSpPr txBox="1"/>
          <p:nvPr/>
        </p:nvSpPr>
        <p:spPr>
          <a:xfrm>
            <a:off x="914400" y="2057400"/>
            <a:ext cx="10332720" cy="3200400"/>
          </a:xfrm>
          <a:prstGeom prst="rect">
            <a:avLst/>
          </a:prstGeom>
          <a:noFill/>
        </p:spPr>
        <p:txBody>
          <a:bodyPr wrap="square">
            <a:spAutoFit/>
          </a:bodyPr>
          <a:lstStyle/>
          <a:p>
            <a:pPr algn="l">
              <a:defRPr sz="1700" b="0">
                <a:solidFill>
                  <a:srgbClr val="172536"/>
                </a:solidFill>
                <a:latin typeface="Aptos"/>
              </a:defRPr>
            </a:pPr>
            <a:r>
              <a:t>Escopo e tempo de vida: Escopo é um conceito textual ou espacial relacionado à visibilidade no código; tempo de vida é um conceito temporal relacionado ao período de vinculação ao armazenamento. Uma variável local static, por exemplo, pode ter escopo restrito à função e tempo de vida correspondente à execução completa do programa.</a:t>
            </a:r>
            <a:br/>
            <a:br/>
            <a:r>
              <a:t>Ambiente de referenciamento: O ambiente de referenciamento de uma sentença é o conjunto de todas as variáveis visíveis nessa sentença. Sua composição depende das regras de escopo aplicadas pela linguagem.</a:t>
            </a:r>
            <a:br/>
            <a:br/>
            <a:r>
              <a:t>Constantes nomeadas: Constantes nomeadas são entidades nomeadas vinculadas a valores apenas uma vez. O nome permite referenciar um valor que não deve receber uma nova vinculação de valor.</a:t>
            </a:r>
          </a:p>
        </p:txBody>
      </p:sp>
      <p:sp>
        <p:nvSpPr>
          <p:cNvPr id="5" name="TextBox 4"/>
          <p:cNvSpPr txBox="1"/>
          <p:nvPr/>
        </p:nvSpPr>
        <p:spPr>
          <a:xfrm>
            <a:off x="1097280" y="5806440"/>
            <a:ext cx="9966960" cy="365760"/>
          </a:xfrm>
          <a:prstGeom prst="rect">
            <a:avLst/>
          </a:prstGeom>
          <a:noFill/>
        </p:spPr>
        <p:txBody>
          <a:bodyPr wrap="square">
            <a:spAutoFit/>
          </a:bodyPr>
          <a:lstStyle/>
          <a:p>
            <a:pPr algn="ctr">
              <a:defRPr sz="1100" b="0">
                <a:solidFill>
                  <a:srgbClr val="52677D"/>
                </a:solidFill>
                <a:latin typeface="Aptos"/>
              </a:defRPr>
            </a:pPr>
            <a:r>
              <a:t>Objetivos: obj04, obj06, obj07, obj08, obj09, obj10, obj11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Nomes, Vinculações e Escopo — Flashcards</dc:title>
  <dc:subject/>
  <dc:creator>Aula Factory</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
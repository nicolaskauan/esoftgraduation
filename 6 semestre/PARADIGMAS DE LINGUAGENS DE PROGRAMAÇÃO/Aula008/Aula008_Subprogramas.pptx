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Abertura (1 min).</a:t>
            </a:r>
          </a:p>
          <a:p>
            <a:r>
              <a:t>Até aqui vimos tipos (aula 6) e expressões e controle (aula 7). Hoje subimos um nível: os SUBPROGRAMAS, que são a principal forma de abstração de processos (Sebesta, p. 364).</a:t>
            </a:r>
          </a:p>
          <a:p>
            <a:r>
              <a:t>Formato: expositiva e exploratória. Vamos executar exemplos no OneCompiler e VISUALIZAR a pilha de execução no Python Tutor (pythontutor.com), que aceita Python, Java, C, C++ e JavaScript.</a:t>
            </a:r>
          </a:p>
          <a:p>
            <a:r>
              <a:t>Revisão rápida (2 min): na aula de "Nomes, vinculações e escopo" vimos escopo estático e tempo de vida. Hoje veremos onde as variáveis locais realmente vivem: nos registros de ativação da pilha.</a:t>
            </a:r>
          </a:p>
          <a:p>
            <a:r>
              <a:t>Todos os exemplos estão em Aula008/exemplos e foram testados no OneCompiler.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Problematização (até 5 min).</a:t>
            </a:r>
          </a:p>
          <a:p>
            <a:r>
              <a:t>Leia o objetivo. A frase-chave: subprogramas dão MANUTENIBILIDADE (muda-se num lugar só) e REÚSO (escreve-se uma vez e usa-se muitas vezes). O Sebesta lembra (p. 364) que até a Máquina Analítica de Babbage (1840) já reutilizava coleções de cartões de instrução.</a:t>
            </a:r>
          </a:p>
          <a:p/>
          <a:p>
            <a:r>
              <a:t>Os três casos:</a:t>
            </a:r>
          </a:p>
          <a:p>
            <a:r>
              <a:t>- left-pad (março de 2016): um desenvolvedor removeu seus pacotes do npm. Um deles, left-pad, tinha uma função de 11 linhas que completava um texto com espaços à esquerda e era dependência indireta de Babel, React e milhares de projetos. As compilações quebraram no mundo todo por horas. Lição: reúso tem custo, porque cada chamada a um subprograma alheio é uma dependência.</a:t>
            </a:r>
          </a:p>
          <a:p>
            <a:r>
              <a:t>- Mars Climate Orbiter (setembro de 1999): o software de solo da Lockheed Martin calculava o impulso em libra-força·segundo, e o software da NASA que usava o valor esperava newton·segundo. A trajetória ficou errada e a sonda se perdeu em Marte. Lição: a INTERFACE (o protocolo) de um subprograma é um contrato, e os tipos dos parâmetros deveriam ter capturado a diferença de unidade.</a:t>
            </a:r>
          </a:p>
          <a:p>
            <a:r>
              <a:t>- Toyota (processo Bookout, outubro de 2013): na perícia do firmware do acelerador eletrônico, os especialistas (Michael Barr e equipe) relataram uso de pilha perto do limite e recursão no código. Isso tornava possível um estouro de pilha que corromperia variáveis. Toyota fez acordo no processo. Lição: a pilha de execução (tema do fim da aula) é um recurso finito.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(1 min). O bloco central (passagem de parâmetros) é o mais importante e cai em prova com frequência.</a:t>
            </a:r>
          </a:p>
          <a:p>
            <a:r>
              <a:t>Ficam para autopesquisa (último slide): questões de projeto para funções, subprogramas sobrecarregados e genéricos (os genéricos voltam na próxima aula com TADs parametrizados), corrotinas, subprogramas aninhados com cadeia estática, blocos e implementação de escopo dinâmico.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a:t>
            </a:r>
          </a:p>
          <a:p>
            <a:r>
              <a:t>Abstração de processos (p. 364): quem chama só precisa saber O QUE o subprograma faz, e não COMO faz. É a base do reúso e da manutenção.</a:t>
            </a:r>
          </a:p>
          <a:p>
            <a:r>
              <a:t>Características gerais (p. 364-365), válidas para quase todos os subprogramas (as exceções são as corrotinas e a concorrência):</a:t>
            </a:r>
          </a:p>
          <a:p>
            <a:r>
              <a:t>1) cada subprograma tem um único ponto de entrada;</a:t>
            </a:r>
          </a:p>
          <a:p>
            <a:r>
              <a:t>2) quem chama fica suspenso enquanto o subprograma executa;</a:t>
            </a:r>
          </a:p>
          <a:p>
            <a:r>
              <a:t>3) ao terminar, o controle sempre volta a quem chamou.</a:t>
            </a:r>
          </a:p>
          <a:p>
            <a:r>
              <a:t>Vocabulário (p. 365-367), apontando no código:</a:t>
            </a:r>
          </a:p>
          <a:p>
            <a:r>
              <a:t>- definição: interface + ações;</a:t>
            </a:r>
          </a:p>
          <a:p>
            <a:r>
              <a:t>- chamada: pedido explícito de execução;</a:t>
            </a:r>
          </a:p>
          <a:p>
            <a:r>
              <a:t>- ativo: chamado e ainda não terminado;</a:t>
            </a:r>
          </a:p>
          <a:p>
            <a:r>
              <a:t>- cabeçalho: tipo de subprograma, nome e lista de parâmetros;</a:t>
            </a:r>
          </a:p>
          <a:p>
            <a:r>
              <a:t>- perfil de parâmetros (assinatura): número, ordem e tipos dos parâmetros formais;</a:t>
            </a:r>
          </a:p>
          <a:p>
            <a:r>
              <a:t>- protocolo: perfil de parâmetros + tipo de retorno;</a:t>
            </a:r>
          </a:p>
          <a:p>
            <a:r>
              <a:t>- declaração (protótipo em C/C++): dá o protocolo sem o corpo, e é exigida em C/C++ quando a função é usada antes de definida.</a:t>
            </a:r>
          </a:p>
          <a:p>
            <a:r>
              <a:t>Parâmetros formais × reais (p. 367-368): os formais são as "variáveis mudas" do cabeçalho, e os reais são os valores/endereços usados na chamada.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DEMONSTRAÇÃO: parametros.py e, se houver tempo, parametros.js.</a:t>
            </a:r>
          </a:p>
          <a:p/>
          <a:p>
            <a:r>
              <a:t>Por que parâmetros e não variáveis globais? (p. 367) A passagem de parâmetros é mais flexível: o subprograma vira uma computação PARAMETRIZADA. O acesso sistemático a variáveis não locais reduz a confiabilidade.</a:t>
            </a:r>
          </a:p>
          <a:p>
            <a:r>
              <a:t>Correspondência (p. 368):</a:t>
            </a:r>
          </a:p>
          <a:p>
            <a:r>
              <a:t>- posicional: o primeiro real vai para o primeiro formal. É eficiente e seguro com listas curtas.</a:t>
            </a:r>
          </a:p>
          <a:p>
            <a:r>
              <a:t>- palavra-chave (Python): o nome do formal aparece na chamada, em qualquer ordem. A desvantagem é que o usuário precisa conhecer os nomes.</a:t>
            </a:r>
          </a:p>
          <a:p>
            <a:r>
              <a:t>Valores padrão (p. 368-369): em Python podem ser omitidos, e os seguintes vêm por palavra-chave. Em C++, os parâmetros com padrão precisam ficar no FIM da lista.</a:t>
            </a:r>
          </a:p>
          <a:p>
            <a:r>
              <a:t>Número variável (p. 369-370): printf em C, *args em Python, params em C#, varargs em Java 5 e ... em Go.</a:t>
            </a:r>
          </a:p>
          <a:p>
            <a:r>
              <a:t>Java não tem palavra-chave nem valor padrão, e simula o padrão com sobrecarga (Parametros.java). Go também não tem, mas devolve vários valores (dividir devolve quociente e resto).</a:t>
            </a:r>
          </a:p>
          <a:p>
            <a:r>
              <a:t>Em JavaScript, a desestruturação de um objeto ({nome, idade = 18}) imita os parâmetros de palavra-chave. E JS não confere a quantidade: saudacao() sem argumentos roda com nome = undefined.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~2 min. Use o slide como MAPA do capítulo, sem aprofundar cada item.</a:t>
            </a:r>
          </a:p>
          <a:p>
            <a:r>
              <a:t>Procedimentos × funções (p. 371-372): procedimentos definem novas SENTENÇAS (produzem resultados alterando variáveis ou parâmetros). Funções modelam funções matemáticas, e o ideal é não terem efeitos colaterais, sendo o valor de retorno o único efeito desejado. Na prática, a maioria das funções tem efeitos colaterais. Em C, Java e Python, "procedimento" é uma função que devolve void ou None.</a:t>
            </a:r>
          </a:p>
          <a:p>
            <a:r>
              <a:t>As 11 questões de projeto (p. 373) estão resumidas no slide. Marque as que veremos hoje (locais, passagem, verificação de tipos, subprogramas como parâmetros e fechamentos) e as que ficam para autopesquisa (efeitos colaterais de funções, tipos e número de retornos, sobrecarga e genéricos).</a:t>
            </a:r>
          </a:p>
          <a:p>
            <a:r>
              <a:t>Definições (p. 373): um subprograma SOBRECARREGADO tem o mesmo nome de outro no mesmo ambiente. Um GENÉRICO computa sobre dados de tipos diferentes em chamadas diferentes. Um FECHAMENTO é um subprograma aninhado mais o seu ambiente de referenciamento.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DEMONSTRAÇÃO: estatica.c e locais.py.</a:t>
            </a:r>
          </a:p>
          <a:p/>
          <a:p>
            <a:r>
              <a:t>Variáveis locais (p. 373-374) podem ser estáticas ou dinâmicas da pilha (lembre das categorias de tempo de vida da aula de vinculações).</a:t>
            </a:r>
          </a:p>
          <a:p>
            <a:r>
              <a:t>Dinâmicas da pilha:</a:t>
            </a:r>
          </a:p>
          <a:p>
            <a:r>
              <a:t>- vantagens: permitem RECURSÃO (cada ativação tem suas próprias cópias) e compartilham o espaço de memória entre subprogramas que não estão ativos ao mesmo tempo;</a:t>
            </a:r>
          </a:p>
          <a:p>
            <a:r>
              <a:t>- desvantagens: custo de alocar e liberar a cada chamada, acesso indireto (endereço relativo à pilha) e nenhuma memória entre chamadas ("não são sensíveis ao histórico").</a:t>
            </a:r>
          </a:p>
          <a:p>
            <a:r>
              <a:t>Estáticas: o oposto. São mais eficientes e lembram o valor entre chamadas, mas impedem a recursão.</a:t>
            </a:r>
          </a:p>
          <a:p>
            <a:r>
              <a:t>Por linguagem (p. 374): em C e C++ as locais são dinâmicas da pilha, a não ser que se declare static. Em Java, Python e C#, as locais dos métodos são sempre dinâmicas da pilha.</a:t>
            </a:r>
          </a:p>
          <a:p>
            <a:r>
              <a:t>Subprogramas aninhados (p. 375): ALGOL 60 e os descendentes, JavaScript, Python, Ruby, Rust, Swift e as linguagens funcionais permitem. C não permite. Java só tem classes internas e lambdas.</a:t>
            </a:r>
          </a:p>
          <a:p>
            <a:r>
              <a:t>No exemplo locais.py, cada ativação de recursiva(n) tem SEU 'local': 0, 10 e 20 são impressos na volta da recursão. Isso é possível justamente porque as locais estão na pilha.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~3 min.</a:t>
            </a:r>
          </a:p>
          <a:p>
            <a:r>
              <a:t>Sebesta (p. 376): um parâmetro formal pode RECEBER dados do real (modo de entrada, "in"), TRANSMITIR dados para o real (modo de saída, "out") ou as duas coisas (modo de entrada e saída, "inout").</a:t>
            </a:r>
          </a:p>
          <a:p>
            <a:r>
              <a:t>Exemplo do livro: um subprograma que soma list1 a list2, devolve list2 alterada e cria um terceiro vetor. list1 é de entrada, list2 de entrada e saída, e o novo vetor de saída.</a:t>
            </a:r>
          </a:p>
          <a:p>
            <a:r>
              <a:t>Dois modelos conceituais de transferência: copiar o VALOR, ou transmitir um CAMINHO DE ACESSO (um ponteiro ou referência).</a:t>
            </a:r>
          </a:p>
          <a:p>
            <a:r>
              <a:t>O diagrama reproduz a Figura 9.1 (p. 376) para o caso de cópia.</a:t>
            </a:r>
          </a:p>
          <a:p>
            <a:r>
              <a:t>Ada é a linguagem que usa exatamente essas palavras (in, out, in out). C# tem out e ref. Rust expressa os modos com &amp; (leitura) e &amp;mut (escrita).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~5 min.</a:t>
            </a:r>
          </a:p>
          <a:p>
            <a:r>
              <a:t>- Passagem por VALOR (p. 377): o valor do real inicializa o formal, que funciona como variável local (modo de entrada). É rápida para escalares, mas copiar estruturas grandes custa tempo e memória.</a:t>
            </a:r>
          </a:p>
          <a:p>
            <a:r>
              <a:t>- Por RESULTADO (p. 378): modo de saída. O formal é uma local sem valor inicial, copiada para o real no fim. Problemas: sub(p1, p1) (qual cópia vence?) e o momento em que o endereço do real é avaliado.</a:t>
            </a:r>
          </a:p>
          <a:p>
            <a:r>
              <a:t>- Por VALOR-RESULTADO (p. 378-379): cópia na entrada e cópia de volta na saída, também chamada de "passagem por cópia". Tem os custos das duas anteriores.</a:t>
            </a:r>
          </a:p>
          <a:p>
            <a:r>
              <a:t>- Por REFERÊNCIA (p. 379-380): transmite um caminho de acesso (o endereço). É eficiente, sem cópia, mas o acesso é indireto, permite alterações acidentais e cria APELIDOS (slide 13).</a:t>
            </a:r>
          </a:p>
          <a:p>
            <a:r>
              <a:t>- Por NOME (p. 380-381): o real é reavaliado textualmente a cada uso (ALGOL 60). É complexa e ineficiente e não é usada nas linguagens atuais, mas sobrevive nas macros e, em parte, nos parâmetros genéricos.</a:t>
            </a:r>
          </a:p>
          <a:p>
            <a:r>
              <a:t>Implementação (p. 381-382, Figura 9.2): na maioria das linguagens, a comunicação acontece pela PILHA de execução. Por valor, empilha-se o valor. Por referência, empilha-se o endereço.</a:t>
            </a:r>
          </a:p>
          <a:p>
            <a:r>
              <a:t>Pergunte: "passar um vetor de 1 milhão de elementos por valor ou por referência?" A resposta leva ao const &amp; do C++ no próximo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DEMONSTRAÇÃO: troca.c e troca.cpp no OneCompiler.</a:t>
            </a:r>
          </a:p>
          <a:p/>
          <a:p>
            <a:r>
              <a:t>C (p. 382): SEMPRE por valor. Para o subprograma alterar uma variável de quem chama, passa-se o endereço (&amp;x), e o próprio ponteiro é passado por valor. Foi herdado do ALGOL 68. Um ponteiro para constante (const int *p) dá a eficiência da referência com a segurança de entrada.</a:t>
            </a:r>
          </a:p>
          <a:p>
            <a:r>
              <a:t>C++ (p. 382-383): tem o tipo de REFERÊNCIA (int &amp;p), desreferenciado implicitamente, com semântica de passagem por referência. O exemplo do livro: void fun(const int &amp;p1, int p2, int &amp;p3). p1 é por referência mas não pode mudar, p2 é por valor e p3 é por referência.</a:t>
            </a:r>
          </a:p>
          <a:p>
            <a:r>
              <a:t>Observe: em troca(x, y) no C++, a CHAMADA não mostra que x e y podem ser alterados. Em C, o &amp;x deixa isso explícito. Em C#, é preciso escrever ref também na chamada, e em Rust, &amp;mut. É uma questão de legibilidade.</a:t>
            </a:r>
          </a:p>
          <a:p>
            <a:r>
              <a:t>const std::string &amp; é o idioma padrão do C++ para parâmetros grandes: nenhuma cópia (1 milhão de caracteres no exemplo) e nenhuma alteração.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DEMONSTRAÇÃO: Troca.java. É uma das perguntas mais comuns em entrevistas de emprego ("Java passa por referência?").</a:t>
            </a:r>
          </a:p>
          <a:p/>
          <a:p>
            <a:r>
              <a:t>Sebesta (p. 383): como em C, todos os parâmetros em Java são passados por VALOR. Como os objetos só são acessados por referências, os parâmetros de objeto funcionam, na prática, como passagem por referência. O método pode alterar o OBJETO (se houver um método ou campo para isso), mas não pode fazer a variável de quem chama apontar para outro objeto.</a:t>
            </a:r>
          </a:p>
          <a:p>
            <a:r>
              <a:t>Escalares (int, double...) não podem ser passados por referência em Java, porque não há ponteiros. A saída é devolver o novo valor ou embrulhar o escalar num objeto (por exemplo, um array de uma posição, AtomicInteger ou um record com o valor).</a:t>
            </a:r>
          </a:p>
          <a:p>
            <a:r>
              <a:t>No exemplo:</a:t>
            </a:r>
          </a:p>
          <a:p>
            <a:r>
              <a:t>- troca(x, y) não troca nada;</a:t>
            </a:r>
          </a:p>
          <a:p>
            <a:r>
              <a:t>- altera(p) muda p.x para 99, porque o objeto é compartilhado;</a:t>
            </a:r>
          </a:p>
          <a:p>
            <a:r>
              <a:t>- reatribui(p) faz a CÓPIA local da referência apontar para um objeto novo, e a variável do main continua apontando para o antigo (p.x continua 99).</a:t>
            </a:r>
          </a:p>
          <a:p>
            <a:r>
              <a:t>Desenhe no quadro: main.p → [Ponto x=99] ← (cópia) reatribui.p, que depois passa a apontar para [Ponto x=-1].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DEMONSTRAÇÃO: passagem.py e Passagem.cs (C# no onecompiler.com/csharp).</a:t>
            </a:r>
          </a:p>
          <a:p/>
          <a:p>
            <a:r>
              <a:t>Python e Ruby (p. 384): "passagem por ATRIBUIÇÃO". Toda variável é uma referência a um objeto, e o real é ATRIBUÍDO ao formal. Na prática:</a:t>
            </a:r>
          </a:p>
          <a:p>
            <a:r>
              <a:t>- objeto mutável (lista, dicionário): alterações feitas pelo método (append) são vistas por quem chamou;</a:t>
            </a:r>
          </a:p>
          <a:p>
            <a:r>
              <a:t>- reatribuir o parâmetro (lista = [...]) só muda o nome local;</a:t>
            </a:r>
          </a:p>
          <a:p>
            <a:r>
              <a:t>- objetos imutáveis (int, str, tupla): x = x + 1 cria OUTRO objeto, então nada muda para quem chamou.</a:t>
            </a:r>
          </a:p>
          <a:p>
            <a:r>
              <a:t>C# (p. 383): por valor por padrão. ref dá passagem por referência, e out é modo de saída (o parâmetro não precisa de valor inicial). A palavra aparece TAMBÉM na chamada: Troca(ref x, ref y). int.TryParse(texto, out int n) é o uso mais comum.</a:t>
            </a:r>
          </a:p>
          <a:p>
            <a:r>
              <a:t>Go: sempre por valor (inclusive structs, que são copiadas). Para alterar, passa-se um ponteiro (&amp;p). Fatias, mapas e canais são "descritores" pequenos que apontam para dados compartilhados, como vimos na aula de tipos.</a:t>
            </a:r>
          </a:p>
          <a:p>
            <a:r>
              <a:t>Rust: &amp;v empresta para leitura (entrada), &amp;mut v empresta para escrita (entrada e saída), e v sem &amp; transfere a POSSE. A chamada deixa o modo explícito: dobra(&amp;mut v).</a:t>
            </a:r>
          </a:p>
          <a:p>
            <a:r>
              <a:t>A tabela resume "como deixo uma função alterar uma variável de quem chama?".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~3 min. DEMONSTRAÇÃO: apelidos.c (a resposta "4" costuma surpreender) e apelidos.rs com a linha comentada descomentada.</a:t>
            </a:r>
          </a:p>
          <a:p/>
          <a:p>
            <a:r>
              <a:t>Sebesta (p. 379-380): a passagem por referência cria APELIDOS (dois nomes para a mesma célula de memória), o que prejudica a legibilidade e a confiabilidade. Formas de criar apelidos listadas pelo livro:</a:t>
            </a:r>
          </a:p>
          <a:p>
            <a:r>
              <a:t>- a mesma variável passada duas vezes: fun(total, total);</a:t>
            </a:r>
          </a:p>
          <a:p>
            <a:r>
              <a:t>- elementos de vetor com índices iguais: fun(list[i], list[j]) com i == j;</a:t>
            </a:r>
          </a:p>
          <a:p>
            <a:r>
              <a:t>- um elemento e o vetor inteiro: fun1(list[i], list);</a:t>
            </a:r>
          </a:p>
          <a:p>
            <a:r>
              <a:t>- um parâmetro e uma variável global visível dentro do subprograma.</a:t>
            </a:r>
          </a:p>
          <a:p>
            <a:r>
              <a:t>No exemplo, soma_duas_vezes(&amp;total, &amp;total): o primeiro *a += *b muda total para 2, e o segundo soma 2 (e não 1), resultando em 4.</a:t>
            </a:r>
          </a:p>
          <a:p>
            <a:r>
              <a:t>Passagem por valor (ou valor-resultado) elimina esse problema, ao custo das cópias.</a:t>
            </a:r>
          </a:p>
          <a:p>
            <a:r>
              <a:t>Rust resolve em TEMPO DE COMPILAÇÃO: não pode existir ao mesmo tempo um empréstimo &amp;mut e outro &amp; do mesmo valor (erro E0502). É a regra "vários leitores OU um escritor".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~5 min. DEMONSTRAÇÃO: vinculacao.js, que é o exemplo do próprio livro com console.log no lugar de alert. Peça o palpite antes (1, 3 ou 4?).</a:t>
            </a:r>
          </a:p>
          <a:p/>
          <a:p>
            <a:r>
              <a:t>Motivação (p. 391): subprogramas que integram ou amostram uma função matemática qualquer recebem a FUNÇÃO como parâmetro (integracao.py).</a:t>
            </a:r>
          </a:p>
          <a:p>
            <a:r>
              <a:t>Duas complicações (p. 392):</a:t>
            </a:r>
          </a:p>
          <a:p>
            <a:r>
              <a:t>1) verificar os tipos dos parâmetros da função passada. Em C e C++ passa-se um ponteiro para função, e o tipo do ponteiro inclui o protocolo, então tudo é verificado;</a:t>
            </a:r>
          </a:p>
          <a:p>
            <a:r>
              <a:t>2) em linguagens com subprogramas aninhados, QUAL AMBIENTE de referenciamento usar quando a função passada for executada?</a:t>
            </a:r>
          </a:p>
          <a:p>
            <a:r>
              <a:t>Três escolhas (p. 392):</a:t>
            </a:r>
          </a:p>
          <a:p>
            <a:r>
              <a:t>- vinculação RASA (shallow): o ambiente de quem EXECUTA a função passada (sub4), então x = 4;</a:t>
            </a:r>
          </a:p>
          <a:p>
            <a:r>
              <a:t>- vinculação PROFUNDA (deep): o ambiente onde a função foi DEFINIDA (sub1), então x = 1;</a:t>
            </a:r>
          </a:p>
          <a:p>
            <a:r>
              <a:t>- vinculação AD HOC: o ambiente de quem PASSOU a função como parâmetro (sub3), então x = 3.</a:t>
            </a:r>
          </a:p>
          <a:p>
            <a:r>
              <a:t>JavaScript, como toda linguagem de escopo estático, usa a vinculação PROFUNDA, e o programa imprime 1. A vinculação rasa aparece em linguagens de escopo dinâmico (p. 393). A ad hoc nunca foi usada.</a:t>
            </a:r>
          </a:p>
          <a:p>
            <a:r>
              <a:t>Liga com a aula de escopo: vinculação profunda é o escopo estático aplicado a funções passadas como valores. E leva direto aos fechamentos (slide 16).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~3 min. DEMONSTRAÇÃO: ponteiro_funcao.c e Callbacks.java.</a:t>
            </a:r>
          </a:p>
          <a:p/>
          <a:p>
            <a:r>
              <a:t>Sebesta (p. 393): a chamada indireta é usada quando o subprograma específico só é conhecido em tempo de EXECUÇÃO. Dois usos típicos: tratamento de eventos em interfaces gráficas (o clique do botão chama uma função registrada) e callbacks.</a:t>
            </a:r>
          </a:p>
          <a:p>
            <a:r>
              <a:t>C e C++: ponteiros para função (int (*f)(int)), como o comparador do qsort ou uma tabela de funções indexada. C#: delegates (p. 394). Java 8+: lambdas e referências a métodos (x -&gt; x * 2, Math::abs), que implementam interfaces funcionais (IntUnaryOperator, Comparator...). Python e JavaScript: funções são valores de primeira classe.</a:t>
            </a:r>
          </a:p>
          <a:p>
            <a:r>
              <a:t>Conexão com Engenharia de Software: é o padrão de projeto Strategy. nomes.sort(Comparator.comparing(...)) recebe a ESTRATÉGIA de comparação como parâmetro. Os callbacks também preparam o terreno para os eventos (aula de exceções e eventos).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~5 min. DEMONSTRAÇÃO: fechamentos.js (o makeAdder é o exemplo do livro) e fechamentos.py.</a:t>
            </a:r>
          </a:p>
          <a:p/>
          <a:p>
            <a:r>
              <a:t>Definição (p. 404): um fechamento é um subprograma MAIS o ambiente de referenciamento onde ele foi definido.</a:t>
            </a:r>
          </a:p>
          <a:p>
            <a:r>
              <a:t>Por que é necessário? Se o subprograma aninhado pode ser devolvido, guardado numa variável ou passado como parâmetro, ele pode ser chamado DEPOIS que a função que o envolvia terminou. As variáveis dela precisariam ter sido liberadas da pilha.</a:t>
            </a:r>
          </a:p>
          <a:p>
            <a:r>
              <a:t>Solução (p. 405): as variáveis capturadas passam a ter EXTENSÃO ILIMITADA, ou seja, vivem enquanto o fechamento viver. Por isso ficam no MONTE (heap), e não na pilha.</a:t>
            </a:r>
          </a:p>
          <a:p>
            <a:r>
              <a:t>makeAdder(10) devolve uma função que "lembra" x = 10. add10 e add5 são DOIS fechamentos distintos, cada um com seu x.</a:t>
            </a:r>
          </a:p>
          <a:p>
            <a:r>
              <a:t>Suporte (p. 405): quase todas as linguagens funcionais, a maioria das de script, C#, e hoje também Java (lambdas, capturando só variáveis "efetivamente finais"), Go, Rust, Swift, Kotlin e C++11.</a:t>
            </a:r>
          </a:p>
          <a:p>
            <a:r>
              <a:t>Uso prático: estado privado (o contador), callbacks que lembram contexto e fábricas de funções. O Python precisa de nonlocal para ALTERAR a variável capturada.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~3 min. DEMONSTRAÇÃO: a parte final de fechamentos.js e fechamentos.go.</a:t>
            </a:r>
          </a:p>
          <a:p/>
          <a:p>
            <a:r>
              <a:t>A pergunta-chave: o fechamento captura o VALOR ou a VARIÁVEL? Na maioria das linguagens, captura a VARIÁVEL (a célula de memória).</a:t>
            </a:r>
          </a:p>
          <a:p>
            <a:r>
              <a:t>JavaScript com var: existe UMA única variável i para o laço inteiro. As três funções capturam a mesma, e quando são chamadas o laço já terminou com i = 3, então o resultado é [3, 3, 3]. Com let, a especificação cria uma variável NOVA a cada iteração, e o resultado é [0, 1, 2]. Esse é um dos motivos pelos quais o let substituiu o var.</a:t>
            </a:r>
          </a:p>
          <a:p>
            <a:r>
              <a:t>Go: cada chamada de criarContador() cria um n novo, então c1 e c2 são independentes (3 e 1). Desde o Go 1.22, a variável do for também é nova a cada iteração, e o Go teve exatamente o mesmo problema do var do JS até 2024.</a:t>
            </a:r>
          </a:p>
          <a:p>
            <a:r>
              <a:t>Rust: o fechamento precisa dizer COMO captura. Por referência (padrão), por referência mutável (FnMut) ou por posse (move). O compilador verifica que a variável vive o suficiente.</a:t>
            </a:r>
          </a:p>
          <a:p>
            <a:r>
              <a:t>Python (exercício, questão 3): tem o mesmo comportamento do var ("late binding"), pois a lambda procura i quando é CHAMADA.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~4 min. Passamos para o Cap. 10 (implementação).</a:t>
            </a:r>
          </a:p>
          <a:p>
            <a:r>
              <a:t>Ligação de subprogramas (p. 416): o conjunto das operações de chamada e retorno.</a:t>
            </a:r>
          </a:p>
          <a:p>
            <a:r>
              <a:t>Semântica da CHAMADA (p. 416-417): implementar a passagem de parâmetros, alocar as locais (se não forem estáticas), salvar o estado de execução de quem chama (registradores, bits de estado, ponteiro de ambiente), transferir o controle e garantir que o retorno seja possível (endereço de retorno).</a:t>
            </a:r>
          </a:p>
          <a:p>
            <a:r>
              <a:t>Semântica do RETORNO (p. 417): copiar de volta os parâmetros de saída ou valor-resultado, disponibilizar o valor da função, restaurar o estado de quem chamou e devolver o controle.</a:t>
            </a:r>
          </a:p>
          <a:p>
            <a:r>
              <a:t>Registro de ativação (p. 418): o formato da parte NÃO código de um subprograma. A instância de registro de ativação (IRA) é um exemplar concreto, criado a cada chamada.</a:t>
            </a:r>
          </a:p>
          <a:p>
            <a:r>
              <a:t>Figura 10.3 (p. 420), de baixo para cima: endereço de retorno, ligação dinâmica (aponta para a IRA de quem chamou), parâmetros e variáveis locais. Os três primeiros são preenchidos por quem CHAMA, e por isso vêm primeiro.</a:t>
            </a:r>
          </a:p>
          <a:p>
            <a:r>
              <a:t>Pilha de execução (p. 421): como o último subprograma chamado é o primeiro a terminar, as IRAs ficam numa PILHA. O ponteiro de ambiente (PE) aponta para a base da IRA atual, e as locais são acessadas por DESLOCAMENTO a partir dele.</a:t>
            </a:r>
          </a:p>
          <a:p>
            <a:r>
              <a:t>Subprogramas "simples" do Fortran antigo (10.2): sem recursão, as IRAs podiam ser estáticas.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~6 min. DEMONSTRAÇÃO PRINCIPAL:</a:t>
            </a:r>
          </a:p>
          <a:p>
            <a:r>
              <a:t>1) cole fatorial.py (ou fatorial.c) no Python Tutor (pythontutor.com) e avance passo a passo. A turma vê as três "caixas" de fatorial empilhadas, cada uma com o SEU n;</a:t>
            </a:r>
          </a:p>
          <a:p>
            <a:r>
              <a:t>2) rode fatorial.c no OneCompiler. O endereço de n cai 0x20 (32 bytes) a cada chamada, porque a pilha CRESCE para endereços menores e cada IRA de fatorial ocupa 32 bytes nesse compilador. Os endereços mudam a cada execução (ASLR), mas a diferença de 32 se mantém.</a:t>
            </a:r>
          </a:p>
          <a:p>
            <a:r>
              <a:t>Sebesta (p. 425-427): o exemplo do livro é exatamente fatorial(3). A Figura 10.7 mostra a pilha nas três vezes em que a execução chega ao início de factorial: a primeira IRA tem o endereço de retorno para main, e as outras para a própria factorial. O valor funcional só é preenchido na volta: 1, depois 2 x 1 = 2, depois 3 x 2 = 6 (Figura 10.8).</a:t>
            </a:r>
          </a:p>
          <a:p>
            <a:r>
              <a:t>A recursão só é possível porque as locais são dinâmicas da pilha: cada ativação tem suas próprias cópias (p. 419).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~3 min. DEMONSTRAÇÃO: fatorial.py (a parte final) e Fatorial.java.</a:t>
            </a:r>
          </a:p>
          <a:p>
            <a:r>
              <a:t>Cada ativação ocupa espaço na pilha, e a pilha é FINITA. Recursão sem caso base (ou profunda demais) esgota a pilha:</a:t>
            </a:r>
          </a:p>
          <a:p>
            <a:r>
              <a:t>- Python limita a profundidade a 1000 por padrão (sys.getrecursionlimit) e lança RecursionError, uma proteção antes de estourar a pilha real;</a:t>
            </a:r>
          </a:p>
          <a:p>
            <a:r>
              <a:t>- Java lança StackOverflowError. No OneCompiler, foram cerca de 75 mil chamadas (o número varia com o tamanho do registro de ativação e a memória da JVM);</a:t>
            </a:r>
          </a:p>
          <a:p>
            <a:r>
              <a:t>- em C, o programa simplesmente é abortado pelo sistema operacional (segmentation fault).</a:t>
            </a:r>
          </a:p>
          <a:p>
            <a:r>
              <a:t>Solução para recursões profundas: reescrever como laço, ou usar uma linguagem com otimização de chamada de cauda. Scheme a GARANTE (veremos no Cap. 15), o que permite recursão "infinita" sem consumir pilha. Python e Java não fazem essa otimização.</a:t>
            </a:r>
          </a:p>
          <a:p>
            <a:r>
              <a:t>Ligação com o caso Toyota do slide 2: em sistemas embarcados, a pilha é pequena e o estouro pode corromper outras áreas da memória em vez de gerar uma exceção.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10 min (7 para as duplas, 3 para a correção). Pode valer como atividade avaliativa em sala.</a:t>
            </a:r>
          </a:p>
          <a:p>
            <a:r>
              <a:t>Para cada trecho: (a) qual é a saída? (b) qual conceito da aula explica?</a:t>
            </a:r>
          </a:p>
          <a:p/>
          <a:p>
            <a:r>
              <a:t>GABARITO:</a:t>
            </a:r>
          </a:p>
          <a:p>
            <a:r>
              <a:t>1) Python: [1] e depois [1, 2]. O valor padrão lista=[] é avaliado UMA vez, na DEFINIÇÃO da função, e a mesma lista é reutilizada em todas as chamadas. É um dos bugs mais famosos do Python. Correção: lista=None e, dentro, "if lista is None: lista = []". Conceitos: parâmetros padrão (p. 368) e passagem por atribuição (p. 384).</a:t>
            </a:r>
          </a:p>
          <a:p>
            <a:r>
              <a:t>2) Java: "0 5". O array é um objeto (a cópia da referência permite alterar v[0]), e o int é copiado. Conceito: Java passa tudo por valor (p. 383).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GABARITO:</a:t>
            </a:r>
          </a:p>
          <a:p>
            <a:r>
              <a:t>3) Python: [2, 2, 2]. As lambdas capturam a VARIÁVEL i, que no fim vale 2 (late binding). Correção: lambda i=i: i. Conceito: fechamentos (p. 404), o mesmo problema do var em JS.</a:t>
            </a:r>
          </a:p>
          <a:p>
            <a:r>
              <a:t>4) C: 3. A variável static mantém o valor entre as chamadas. Conceito: variáveis locais estáticas (p. 373-374).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GABARITO:</a:t>
            </a:r>
          </a:p>
          <a:p>
            <a:r>
              <a:t>5) Rust: NÃO COMPILA (erro E0382). v foi MOVIDO para dobra, que tomou posse do vetor. Correção: fn dobra(v: &amp;Vec&lt;i32&gt;) e dobra(&amp;v). Conceito: modos de passagem em Rust.</a:t>
            </a:r>
          </a:p>
          <a:p>
            <a:r>
              <a:t>6) Python: UnboundLocalError. Como há uma atribuição a 'total' dentro da função, o Python decide em tempo de compilação que 'total' é LOCAL, e a leitura acontece antes de haver valor. Correção: "global total" ou, melhor, receber e devolver o valor. Conceito: ambiente de referenciamento local (p. 373) e escopo (aula anterior).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~2 min.</a:t>
            </a:r>
          </a:p>
          <a:p>
            <a:r>
              <a:t>Mensagem final: não existe uma linguagem que "passa por referência" e outra que "passa por valor" de forma pura. O que importa é saber, para cada tipo de dado, se o subprograma recebe uma CÓPIA ou um CAMINHO DE ACESSO, e se a chamada deixa isso visível.</a:t>
            </a:r>
          </a:p>
          <a:p>
            <a:r>
              <a:t>As linguagens recentes (C#, Rust, Swift) tornam o modo EXPLÍCITO na chamada (ref, &amp;mut, inout), o que melhora a legibilidade em relação ao &amp; do 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~1 min.</a:t>
            </a:r>
          </a:p>
          <a:p>
            <a:r>
              <a:t>Sugestão de entrega (pode compor a Atividade de Estudo Programada): o desenho da pilha de execução, conferido no Python Tutor.</a:t>
            </a:r>
          </a:p>
          <a:p>
            <a:r>
              <a:t>Destaques:</a:t>
            </a:r>
          </a:p>
          <a:p>
            <a:r>
              <a:t>- Sobrecarga em Java: descrever('c') chama a versão int (o char é alargado), descrever(1L) chama a versão double, e descrever(true) chama a versão Object (boxing). A resolução segue regras de prioridade.</a:t>
            </a:r>
          </a:p>
          <a:p>
            <a:r>
              <a:t>- Corrotinas (p. 406): várias entradas, e cada retomada continua de onde parou. Os geradores de Python (yield) são "semicorrotinas". As coroutines de Kotlin e o async/await vêm dessa ideia e voltam na aula de concorrência.</a:t>
            </a:r>
          </a:p>
          <a:p>
            <a:r>
              <a:t>- Cadeia estática (10.4): como acessar variáveis de subprogramas ENVOLVENTES em linguagens com aninhamento (Python, JavaScript). Cada IRA ganha uma ligação ESTÁTICA, além da dinâmica.</a:t>
            </a:r>
          </a:p>
          <a:p>
            <a:r>
              <a:t>Próxima aula: Tipos de dados abstratos e orientação a objetos (Caps. 11 e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20040"/>
            <a:ext cx="11277295" cy="86868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1">
          <a:solidFill>
            <a:srgbClr val="1F2937"/>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59" y="1828800"/>
            <a:ext cx="10545775" cy="1280160"/>
          </a:xfrm>
        </p:spPr>
        <p:txBody>
          <a:bodyPr/>
          <a:lstStyle/>
          <a:p>
            <a:pPr algn="l"/>
            <a:r>
              <a:rPr sz="4800" b="1">
                <a:solidFill>
                  <a:srgbClr val="1F2937"/>
                </a:solidFill>
              </a:rPr>
              <a:t>Subprogramas</a:t>
            </a:r>
          </a:p>
        </p:txBody>
      </p:sp>
      <p:sp>
        <p:nvSpPr>
          <p:cNvPr id="3" name="Subtitle 2"/>
          <p:cNvSpPr>
            <a:spLocks noGrp="1"/>
          </p:cNvSpPr>
          <p:nvPr>
            <p:ph type="subTitle" idx="1"/>
          </p:nvPr>
        </p:nvSpPr>
        <p:spPr>
          <a:xfrm>
            <a:off x="822959" y="3246120"/>
            <a:ext cx="10545775" cy="2011680"/>
          </a:xfrm>
        </p:spPr>
        <p:txBody>
          <a:bodyPr/>
          <a:lstStyle/>
          <a:p>
            <a:pPr algn="l">
              <a:spcAft>
                <a:spcPts val="600"/>
              </a:spcAft>
            </a:pPr>
            <a:r>
              <a:rPr sz="2400">
                <a:solidFill>
                  <a:srgbClr val="1F2937"/>
                </a:solidFill>
              </a:rPr>
              <a:t>Aula 08 · Paradigmas de Linguagens de Programação</a:t>
            </a:r>
          </a:p>
          <a:p>
            <a:pPr algn="l">
              <a:spcAft>
                <a:spcPts val="600"/>
              </a:spcAft>
            </a:pPr>
            <a:r>
              <a:rPr sz="2000">
                <a:solidFill>
                  <a:srgbClr val="667085"/>
                </a:solidFill>
              </a:rPr>
              <a:t>Engenharia de Software</a:t>
            </a:r>
          </a:p>
          <a:p>
            <a:pPr algn="l">
              <a:spcAft>
                <a:spcPts val="600"/>
              </a:spcAft>
            </a:pPr>
            <a:r>
              <a:rPr sz="1600">
                <a:solidFill>
                  <a:srgbClr val="667085"/>
                </a:solidFill>
              </a:rPr>
              <a:t>Referência: Sebesta, Conceitos de Linguagens de Programação, 11ª ed., Caps. 9 e 10 (p. 363-444)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Objetivo e ligação com o mundo real</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Caps. 9 e 10 · p. 363-444</a:t>
            </a:r>
          </a:p>
        </p:txBody>
      </p:sp>
      <p:sp>
        <p:nvSpPr>
          <p:cNvPr id="4" name="TextBox 3"/>
          <p:cNvSpPr txBox="1"/>
          <p:nvPr/>
        </p:nvSpPr>
        <p:spPr>
          <a:xfrm>
            <a:off x="548640" y="1325880"/>
            <a:ext cx="5212080" cy="411480"/>
          </a:xfrm>
          <a:prstGeom prst="rect">
            <a:avLst/>
          </a:prstGeom>
          <a:noFill/>
        </p:spPr>
        <p:txBody>
          <a:bodyPr wrap="square" anchor="t" lIns="0" rIns="0" tIns="0" bIns="0">
            <a:noAutofit/>
          </a:bodyPr>
          <a:lstStyle/>
          <a:p>
            <a:pPr algn="l">
              <a:spcAft>
                <a:spcPts val="400"/>
              </a:spcAft>
            </a:pPr>
            <a:r>
              <a:rPr sz="2200" b="1">
                <a:solidFill>
                  <a:srgbClr val="0F766E"/>
                </a:solidFill>
              </a:rPr>
              <a:t>Objetivo</a:t>
            </a:r>
          </a:p>
        </p:txBody>
      </p:sp>
      <p:sp>
        <p:nvSpPr>
          <p:cNvPr id="5" name="TextBox 4"/>
          <p:cNvSpPr txBox="1"/>
          <p:nvPr/>
        </p:nvSpPr>
        <p:spPr>
          <a:xfrm>
            <a:off x="548640" y="1783080"/>
            <a:ext cx="5212080" cy="2194560"/>
          </a:xfrm>
          <a:prstGeom prst="rect">
            <a:avLst/>
          </a:prstGeom>
          <a:noFill/>
        </p:spPr>
        <p:txBody>
          <a:bodyPr wrap="square" anchor="t" lIns="0" rIns="0" tIns="0" bIns="0">
            <a:noAutofit/>
          </a:bodyPr>
          <a:lstStyle/>
          <a:p>
            <a:pPr algn="l">
              <a:spcAft>
                <a:spcPts val="400"/>
              </a:spcAft>
            </a:pPr>
            <a:r>
              <a:rPr sz="2000" b="0">
                <a:solidFill>
                  <a:srgbClr val="1F2937"/>
                </a:solidFill>
              </a:rPr>
              <a:t>O objetivo desta aula é estudar os </a:t>
            </a:r>
            <a:r>
              <a:rPr sz="2000" b="1">
                <a:solidFill>
                  <a:srgbClr val="1F2937"/>
                </a:solidFill>
              </a:rPr>
              <a:t>subprogramas</a:t>
            </a:r>
            <a:r>
              <a:rPr sz="2000" b="0">
                <a:solidFill>
                  <a:srgbClr val="1F2937"/>
                </a:solidFill>
              </a:rPr>
              <a:t>, que permitem a </a:t>
            </a:r>
            <a:r>
              <a:rPr sz="2000" b="1">
                <a:solidFill>
                  <a:srgbClr val="1F2937"/>
                </a:solidFill>
              </a:rPr>
              <a:t>manutenibilidade</a:t>
            </a:r>
            <a:r>
              <a:rPr sz="2000" b="0">
                <a:solidFill>
                  <a:srgbClr val="1F2937"/>
                </a:solidFill>
              </a:rPr>
              <a:t> dos seus programas e o </a:t>
            </a:r>
            <a:r>
              <a:rPr sz="2000" b="1">
                <a:solidFill>
                  <a:srgbClr val="1F2937"/>
                </a:solidFill>
              </a:rPr>
              <a:t>reúso</a:t>
            </a:r>
            <a:r>
              <a:rPr sz="2000" b="0">
                <a:solidFill>
                  <a:srgbClr val="1F2937"/>
                </a:solidFill>
              </a:rPr>
              <a:t> de partes do seu código, e entender </a:t>
            </a:r>
            <a:r>
              <a:rPr sz="2000" b="1">
                <a:solidFill>
                  <a:srgbClr val="1F2937"/>
                </a:solidFill>
              </a:rPr>
              <a:t>o que acontece com os dados</a:t>
            </a:r>
            <a:r>
              <a:rPr sz="2000" b="0">
                <a:solidFill>
                  <a:srgbClr val="1F2937"/>
                </a:solidFill>
              </a:rPr>
              <a:t> quando uma função é chamada.</a:t>
            </a:r>
          </a:p>
        </p:txBody>
      </p:sp>
      <p:sp>
        <p:nvSpPr>
          <p:cNvPr id="6" name="TextBox 5"/>
          <p:cNvSpPr txBox="1"/>
          <p:nvPr/>
        </p:nvSpPr>
        <p:spPr>
          <a:xfrm>
            <a:off x="548640" y="3794760"/>
            <a:ext cx="5212080" cy="365760"/>
          </a:xfrm>
          <a:prstGeom prst="rect">
            <a:avLst/>
          </a:prstGeom>
          <a:noFill/>
        </p:spPr>
        <p:txBody>
          <a:bodyPr wrap="square" anchor="t" lIns="0" rIns="0" tIns="0" bIns="0">
            <a:noAutofit/>
          </a:bodyPr>
          <a:lstStyle/>
          <a:p>
            <a:pPr algn="l">
              <a:spcAft>
                <a:spcPts val="400"/>
              </a:spcAft>
            </a:pPr>
            <a:r>
              <a:rPr sz="1600" b="1">
                <a:solidFill>
                  <a:srgbClr val="1F2937"/>
                </a:solidFill>
              </a:rPr>
              <a:t>Para o engenheiro de software, isso significa:</a:t>
            </a:r>
          </a:p>
        </p:txBody>
      </p:sp>
      <p:sp>
        <p:nvSpPr>
          <p:cNvPr id="7" name="TextBox 6"/>
          <p:cNvSpPr txBox="1"/>
          <p:nvPr/>
        </p:nvSpPr>
        <p:spPr>
          <a:xfrm>
            <a:off x="548640" y="4206240"/>
            <a:ext cx="5212080" cy="1920240"/>
          </a:xfrm>
          <a:prstGeom prst="rect">
            <a:avLst/>
          </a:prstGeom>
          <a:noFill/>
        </p:spPr>
        <p:txBody>
          <a:bodyPr wrap="square" anchor="t" lIns="0" rIns="0" tIns="0" bIns="0">
            <a:noAutofit/>
          </a:bodyPr>
          <a:lstStyle/>
          <a:p>
            <a:pPr algn="l" marL="256032" indent="-219456">
              <a:spcAft>
                <a:spcPts val="600"/>
              </a:spcAft>
              <a:buClr>
                <a:srgbClr val="0F766E"/>
              </a:buClr>
              <a:buFont typeface="Arial"/>
              <a:buChar char="•"/>
            </a:pPr>
            <a:r>
              <a:rPr sz="1600" b="0">
                <a:solidFill>
                  <a:srgbClr val="1F2937"/>
                </a:solidFill>
              </a:rPr>
              <a:t>decidir se uma função pode ou não alterar os dados que recebe</a:t>
            </a:r>
          </a:p>
          <a:p>
            <a:pPr algn="l" marL="256032" indent="-219456">
              <a:spcAft>
                <a:spcPts val="600"/>
              </a:spcAft>
              <a:buClr>
                <a:srgbClr val="0F766E"/>
              </a:buClr>
              <a:buFont typeface="Arial"/>
              <a:buChar char="•"/>
            </a:pPr>
            <a:r>
              <a:rPr sz="1600" b="0">
                <a:solidFill>
                  <a:srgbClr val="1F2937"/>
                </a:solidFill>
              </a:rPr>
              <a:t>evitar efeitos colaterais e apelidos inesperados</a:t>
            </a:r>
          </a:p>
          <a:p>
            <a:pPr algn="l" marL="256032" indent="-219456">
              <a:spcAft>
                <a:spcPts val="600"/>
              </a:spcAft>
              <a:buClr>
                <a:srgbClr val="0F766E"/>
              </a:buClr>
              <a:buFont typeface="Arial"/>
              <a:buChar char="•"/>
            </a:pPr>
            <a:r>
              <a:rPr sz="1600" b="0">
                <a:solidFill>
                  <a:srgbClr val="1F2937"/>
                </a:solidFill>
              </a:rPr>
              <a:t>entender erros como </a:t>
            </a:r>
            <a:r>
              <a:rPr sz="1472" b="0">
                <a:solidFill>
                  <a:srgbClr val="1F2937"/>
                </a:solidFill>
                <a:latin typeface="Consolas"/>
              </a:rPr>
              <a:t>StackOverflowError</a:t>
            </a:r>
            <a:r>
              <a:rPr sz="1600" b="0">
                <a:solidFill>
                  <a:srgbClr val="1F2937"/>
                </a:solidFill>
              </a:rPr>
              <a:t> e </a:t>
            </a:r>
            <a:r>
              <a:rPr sz="1472" b="0">
                <a:solidFill>
                  <a:srgbClr val="1F2937"/>
                </a:solidFill>
                <a:latin typeface="Consolas"/>
              </a:rPr>
              <a:t>RecursionError</a:t>
            </a:r>
          </a:p>
        </p:txBody>
      </p:sp>
      <p:sp>
        <p:nvSpPr>
          <p:cNvPr id="8" name="TextBox 7"/>
          <p:cNvSpPr txBox="1"/>
          <p:nvPr/>
        </p:nvSpPr>
        <p:spPr>
          <a:xfrm>
            <a:off x="6172200" y="1325880"/>
            <a:ext cx="5468112" cy="411480"/>
          </a:xfrm>
          <a:prstGeom prst="rect">
            <a:avLst/>
          </a:prstGeom>
          <a:noFill/>
        </p:spPr>
        <p:txBody>
          <a:bodyPr wrap="square" anchor="t" lIns="0" rIns="0" tIns="0" bIns="0">
            <a:noAutofit/>
          </a:bodyPr>
          <a:lstStyle/>
          <a:p>
            <a:pPr algn="l">
              <a:spcAft>
                <a:spcPts val="400"/>
              </a:spcAft>
            </a:pPr>
            <a:r>
              <a:rPr sz="2200" b="1">
                <a:solidFill>
                  <a:srgbClr val="B42318"/>
                </a:solidFill>
              </a:rPr>
              <a:t>Quando a interface falha</a:t>
            </a:r>
          </a:p>
        </p:txBody>
      </p:sp>
      <p:sp>
        <p:nvSpPr>
          <p:cNvPr id="9" name="Rounded Rectangle 8"/>
          <p:cNvSpPr/>
          <p:nvPr/>
        </p:nvSpPr>
        <p:spPr>
          <a:xfrm>
            <a:off x="6172200" y="1828800"/>
            <a:ext cx="5468112" cy="13258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2016 · left-pad (npm)</a:t>
            </a:r>
          </a:p>
          <a:p>
            <a:pPr algn="l">
              <a:spcAft>
                <a:spcPts val="400"/>
              </a:spcAft>
            </a:pPr>
            <a:r>
              <a:rPr sz="1500" b="0">
                <a:solidFill>
                  <a:srgbClr val="1F2937"/>
                </a:solidFill>
              </a:rPr>
              <a:t>Uma função de 11 linhas foi removida do npm e quebrou a compilação de milhares de projetos: o reúso também cria dependência.</a:t>
            </a:r>
          </a:p>
        </p:txBody>
      </p:sp>
      <p:sp>
        <p:nvSpPr>
          <p:cNvPr id="10" name="Rounded Rectangle 9"/>
          <p:cNvSpPr/>
          <p:nvPr/>
        </p:nvSpPr>
        <p:spPr>
          <a:xfrm>
            <a:off x="6172200" y="3291839"/>
            <a:ext cx="5468112" cy="13258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1999 · Mars Climate Orbiter (NASA)</a:t>
            </a:r>
          </a:p>
          <a:p>
            <a:pPr algn="l">
              <a:spcAft>
                <a:spcPts val="400"/>
              </a:spcAft>
            </a:pPr>
            <a:r>
              <a:rPr sz="1500" b="0">
                <a:solidFill>
                  <a:srgbClr val="1F2937"/>
                </a:solidFill>
              </a:rPr>
              <a:t>Um módulo devolvia libra-força·s e o chamador esperava newton·s. A sonda de US$ 125 milhões foi perdida.</a:t>
            </a:r>
          </a:p>
        </p:txBody>
      </p:sp>
      <p:sp>
        <p:nvSpPr>
          <p:cNvPr id="11" name="Rounded Rectangle 10"/>
          <p:cNvSpPr/>
          <p:nvPr/>
        </p:nvSpPr>
        <p:spPr>
          <a:xfrm>
            <a:off x="6172200" y="4754879"/>
            <a:ext cx="5468112" cy="13258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2013 · Toyota (aceleração involuntária)</a:t>
            </a:r>
          </a:p>
          <a:p>
            <a:pPr algn="l">
              <a:spcAft>
                <a:spcPts val="400"/>
              </a:spcAft>
            </a:pPr>
            <a:r>
              <a:rPr sz="1500" b="0">
                <a:solidFill>
                  <a:srgbClr val="1F2937"/>
                </a:solidFill>
              </a:rPr>
              <a:t>Na perícia judicial, especialistas mostraram que a pilha do firmware podia estourar e corromper dados.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Roteiro da aula (80 min)</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Planejamento do Encontro 3 · Sebesta Caps. 9 e 10</a:t>
            </a:r>
          </a:p>
        </p:txBody>
      </p:sp>
      <p:sp>
        <p:nvSpPr>
          <p:cNvPr id="4" name="Oval 3"/>
          <p:cNvSpPr/>
          <p:nvPr/>
        </p:nvSpPr>
        <p:spPr>
          <a:xfrm>
            <a:off x="1012926"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1</a:t>
            </a:r>
          </a:p>
        </p:txBody>
      </p:sp>
      <p:sp>
        <p:nvSpPr>
          <p:cNvPr id="5" name="Rounded Rectangle 4"/>
          <p:cNvSpPr/>
          <p:nvPr/>
        </p:nvSpPr>
        <p:spPr>
          <a:xfrm>
            <a:off x="548640"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0-10 min</a:t>
            </a:r>
          </a:p>
          <a:p>
            <a:pPr algn="ctr">
              <a:spcAft>
                <a:spcPts val="400"/>
              </a:spcAft>
            </a:pPr>
            <a:r>
              <a:rPr sz="1600" b="0">
                <a:solidFill>
                  <a:srgbClr val="1F2937"/>
                </a:solidFill>
              </a:rPr>
              <a:t>Fundamentos e questões de projeto</a:t>
            </a:r>
          </a:p>
        </p:txBody>
      </p:sp>
      <p:sp>
        <p:nvSpPr>
          <p:cNvPr id="6" name="Oval 5"/>
          <p:cNvSpPr/>
          <p:nvPr/>
        </p:nvSpPr>
        <p:spPr>
          <a:xfrm>
            <a:off x="2892475"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2</a:t>
            </a:r>
          </a:p>
        </p:txBody>
      </p:sp>
      <p:sp>
        <p:nvSpPr>
          <p:cNvPr id="7" name="Rounded Rectangle 6"/>
          <p:cNvSpPr/>
          <p:nvPr/>
        </p:nvSpPr>
        <p:spPr>
          <a:xfrm>
            <a:off x="2428189"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10-20 min</a:t>
            </a:r>
          </a:p>
          <a:p>
            <a:pPr algn="ctr">
              <a:spcAft>
                <a:spcPts val="400"/>
              </a:spcAft>
            </a:pPr>
            <a:r>
              <a:rPr sz="1600" b="0">
                <a:solidFill>
                  <a:srgbClr val="1F2937"/>
                </a:solidFill>
              </a:rPr>
              <a:t>Parâmetros e ambientes locais</a:t>
            </a:r>
          </a:p>
        </p:txBody>
      </p:sp>
      <p:sp>
        <p:nvSpPr>
          <p:cNvPr id="8" name="Oval 7"/>
          <p:cNvSpPr/>
          <p:nvPr/>
        </p:nvSpPr>
        <p:spPr>
          <a:xfrm>
            <a:off x="4772025"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3</a:t>
            </a:r>
          </a:p>
        </p:txBody>
      </p:sp>
      <p:sp>
        <p:nvSpPr>
          <p:cNvPr id="9" name="Rounded Rectangle 8"/>
          <p:cNvSpPr/>
          <p:nvPr/>
        </p:nvSpPr>
        <p:spPr>
          <a:xfrm>
            <a:off x="4307738"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20-40 min</a:t>
            </a:r>
          </a:p>
          <a:p>
            <a:pPr algn="ctr">
              <a:spcAft>
                <a:spcPts val="400"/>
              </a:spcAft>
            </a:pPr>
            <a:r>
              <a:rPr sz="1600" b="0">
                <a:solidFill>
                  <a:srgbClr val="1F2937"/>
                </a:solidFill>
              </a:rPr>
              <a:t>Métodos de passagem de parâmetros</a:t>
            </a:r>
          </a:p>
        </p:txBody>
      </p:sp>
      <p:sp>
        <p:nvSpPr>
          <p:cNvPr id="10" name="Oval 9"/>
          <p:cNvSpPr/>
          <p:nvPr/>
        </p:nvSpPr>
        <p:spPr>
          <a:xfrm>
            <a:off x="6651574"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4</a:t>
            </a:r>
          </a:p>
        </p:txBody>
      </p:sp>
      <p:sp>
        <p:nvSpPr>
          <p:cNvPr id="11" name="Rounded Rectangle 10"/>
          <p:cNvSpPr/>
          <p:nvPr/>
        </p:nvSpPr>
        <p:spPr>
          <a:xfrm>
            <a:off x="6187287"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40-55 min</a:t>
            </a:r>
          </a:p>
          <a:p>
            <a:pPr algn="ctr">
              <a:spcAft>
                <a:spcPts val="400"/>
              </a:spcAft>
            </a:pPr>
            <a:r>
              <a:rPr sz="1600" b="0">
                <a:solidFill>
                  <a:srgbClr val="1F2937"/>
                </a:solidFill>
              </a:rPr>
              <a:t>Subprogramas como parâmetros e fechamentos</a:t>
            </a:r>
          </a:p>
        </p:txBody>
      </p:sp>
      <p:sp>
        <p:nvSpPr>
          <p:cNvPr id="12" name="Oval 11"/>
          <p:cNvSpPr/>
          <p:nvPr/>
        </p:nvSpPr>
        <p:spPr>
          <a:xfrm>
            <a:off x="8531123"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5</a:t>
            </a:r>
          </a:p>
        </p:txBody>
      </p:sp>
      <p:sp>
        <p:nvSpPr>
          <p:cNvPr id="13" name="Rounded Rectangle 12"/>
          <p:cNvSpPr/>
          <p:nvPr/>
        </p:nvSpPr>
        <p:spPr>
          <a:xfrm>
            <a:off x="8066836"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55-70 min</a:t>
            </a:r>
          </a:p>
          <a:p>
            <a:pPr algn="ctr">
              <a:spcAft>
                <a:spcPts val="400"/>
              </a:spcAft>
            </a:pPr>
            <a:r>
              <a:rPr sz="1600" b="0">
                <a:solidFill>
                  <a:srgbClr val="1F2937"/>
                </a:solidFill>
              </a:rPr>
              <a:t>Registros de ativação e a pilha (Python Tutor)</a:t>
            </a:r>
          </a:p>
        </p:txBody>
      </p:sp>
      <p:sp>
        <p:nvSpPr>
          <p:cNvPr id="14" name="Oval 13"/>
          <p:cNvSpPr/>
          <p:nvPr/>
        </p:nvSpPr>
        <p:spPr>
          <a:xfrm>
            <a:off x="10410672" y="1828800"/>
            <a:ext cx="768096" cy="7680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600" b="1">
                <a:solidFill>
                  <a:srgbClr val="FFFFFF"/>
                </a:solidFill>
              </a:rPr>
              <a:t>6</a:t>
            </a:r>
          </a:p>
        </p:txBody>
      </p:sp>
      <p:sp>
        <p:nvSpPr>
          <p:cNvPr id="15" name="Rounded Rectangle 14"/>
          <p:cNvSpPr/>
          <p:nvPr/>
        </p:nvSpPr>
        <p:spPr>
          <a:xfrm>
            <a:off x="9946386" y="2834640"/>
            <a:ext cx="1696669" cy="16459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a:noAutofit/>
          </a:bodyPr>
          <a:lstStyle/>
          <a:p>
            <a:pPr algn="ctr">
              <a:spcAft>
                <a:spcPts val="800"/>
              </a:spcAft>
            </a:pPr>
            <a:r>
              <a:rPr sz="1600" b="1">
                <a:solidFill>
                  <a:srgbClr val="0F766E"/>
                </a:solidFill>
              </a:rPr>
              <a:t>70-80 min</a:t>
            </a:r>
          </a:p>
          <a:p>
            <a:pPr algn="ctr">
              <a:spcAft>
                <a:spcPts val="400"/>
              </a:spcAft>
            </a:pPr>
            <a:r>
              <a:rPr sz="1600" b="0">
                <a:solidFill>
                  <a:srgbClr val="1F2937"/>
                </a:solidFill>
              </a:rPr>
              <a:t>Exercício: qual é a saída?</a:t>
            </a:r>
          </a:p>
        </p:txBody>
      </p:sp>
      <p:sp>
        <p:nvSpPr>
          <p:cNvPr id="16" name="TextBox 15"/>
          <p:cNvSpPr txBox="1"/>
          <p:nvPr/>
        </p:nvSpPr>
        <p:spPr>
          <a:xfrm>
            <a:off x="548640" y="4846320"/>
            <a:ext cx="11094415" cy="1188720"/>
          </a:xfrm>
          <a:prstGeom prst="rect">
            <a:avLst/>
          </a:prstGeom>
          <a:noFill/>
        </p:spPr>
        <p:txBody>
          <a:bodyPr wrap="square" anchor="t" lIns="0" rIns="0" tIns="0" bIns="0">
            <a:noAutofit/>
          </a:bodyPr>
          <a:lstStyle/>
          <a:p>
            <a:pPr algn="l">
              <a:spcAft>
                <a:spcPts val="400"/>
              </a:spcAft>
            </a:pPr>
            <a:r>
              <a:rPr sz="1700" b="1">
                <a:solidFill>
                  <a:srgbClr val="1F2937"/>
                </a:solidFill>
              </a:rPr>
              <a:t>Tipo de aula:</a:t>
            </a:r>
            <a:r>
              <a:rPr sz="1700" b="0">
                <a:solidFill>
                  <a:srgbClr val="1F2937"/>
                </a:solidFill>
              </a:rPr>
              <a:t> expositiva e exploratória, com execução no OneCompiler e visualização da pilha no Python Tutor.</a:t>
            </a:r>
          </a:p>
          <a:p>
            <a:pPr algn="l">
              <a:spcAft>
                <a:spcPts val="400"/>
              </a:spcAft>
            </a:pPr>
            <a:r>
              <a:rPr sz="1700" b="1">
                <a:solidFill>
                  <a:srgbClr val="1F2937"/>
                </a:solidFill>
              </a:rPr>
              <a:t>Exemplos:</a:t>
            </a:r>
            <a:r>
              <a:rPr sz="1700" b="0">
                <a:solidFill>
                  <a:srgbClr val="1F2937"/>
                </a:solidFill>
              </a:rPr>
              <a:t> pasta </a:t>
            </a:r>
            <a:r>
              <a:rPr sz="1564" b="0">
                <a:solidFill>
                  <a:srgbClr val="1F2937"/>
                </a:solidFill>
                <a:latin typeface="Consolas"/>
              </a:rPr>
              <a:t>exemplos/</a:t>
            </a:r>
            <a:r>
              <a:rPr sz="1700" b="0">
                <a:solidFill>
                  <a:srgbClr val="1F2937"/>
                </a:solidFill>
              </a:rPr>
              <a:t>, na ordem dos slides. Todos rodam no navegador em </a:t>
            </a:r>
            <a:r>
              <a:rPr sz="1700" b="1">
                <a:solidFill>
                  <a:srgbClr val="1F2937"/>
                </a:solidFill>
              </a:rPr>
              <a:t>onecompiler.com</a:t>
            </a:r>
            <a:r>
              <a:rPr sz="1700" b="0">
                <a:solidFill>
                  <a:srgbClr val="1F2937"/>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Fundamentos dos subprogramas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§9.1-9.2.2 · p. 364-367 · exemplos/01_parametros</a:t>
            </a:r>
          </a:p>
        </p:txBody>
      </p:sp>
      <p:sp>
        <p:nvSpPr>
          <p:cNvPr id="4" name="Rounded Rectangle 3"/>
          <p:cNvSpPr/>
          <p:nvPr/>
        </p:nvSpPr>
        <p:spPr>
          <a:xfrm>
            <a:off x="548640" y="1325880"/>
            <a:ext cx="5120640" cy="10972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1 · Uma única entrada</a:t>
            </a:r>
          </a:p>
          <a:p>
            <a:pPr algn="l">
              <a:spcAft>
                <a:spcPts val="400"/>
              </a:spcAft>
            </a:pPr>
            <a:r>
              <a:rPr sz="1500" b="0">
                <a:solidFill>
                  <a:srgbClr val="1F2937"/>
                </a:solidFill>
              </a:rPr>
              <a:t>a execução sempre começa no início do subprograma</a:t>
            </a:r>
          </a:p>
        </p:txBody>
      </p:sp>
      <p:sp>
        <p:nvSpPr>
          <p:cNvPr id="5" name="Rounded Rectangle 4"/>
          <p:cNvSpPr/>
          <p:nvPr/>
        </p:nvSpPr>
        <p:spPr>
          <a:xfrm>
            <a:off x="548640" y="2560320"/>
            <a:ext cx="5120640" cy="10972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2 · Quem chama fica suspenso</a:t>
            </a:r>
          </a:p>
          <a:p>
            <a:pPr algn="l">
              <a:spcAft>
                <a:spcPts val="400"/>
              </a:spcAft>
            </a:pPr>
            <a:r>
              <a:rPr sz="1500" b="0">
                <a:solidFill>
                  <a:srgbClr val="1F2937"/>
                </a:solidFill>
              </a:rPr>
              <a:t>só um subprograma executa por vez</a:t>
            </a:r>
          </a:p>
        </p:txBody>
      </p:sp>
      <p:sp>
        <p:nvSpPr>
          <p:cNvPr id="6" name="Rounded Rectangle 5"/>
          <p:cNvSpPr/>
          <p:nvPr/>
        </p:nvSpPr>
        <p:spPr>
          <a:xfrm>
            <a:off x="548640" y="3794759"/>
            <a:ext cx="5120640" cy="109728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3 · O controle sempre volta</a:t>
            </a:r>
          </a:p>
          <a:p>
            <a:pPr algn="l">
              <a:spcAft>
                <a:spcPts val="400"/>
              </a:spcAft>
            </a:pPr>
            <a:r>
              <a:rPr sz="1500" b="0">
                <a:solidFill>
                  <a:srgbClr val="1F2937"/>
                </a:solidFill>
              </a:rPr>
              <a:t>ao terminar, retorna a quem chamou</a:t>
            </a:r>
          </a:p>
        </p:txBody>
      </p:sp>
      <p:sp>
        <p:nvSpPr>
          <p:cNvPr id="7" name="Rounded Rectangle 6"/>
          <p:cNvSpPr/>
          <p:nvPr/>
        </p:nvSpPr>
        <p:spPr>
          <a:xfrm>
            <a:off x="548640" y="4892040"/>
            <a:ext cx="5120640" cy="1188720"/>
          </a:xfrm>
          <a:prstGeom prst="roundRect">
            <a:avLst>
              <a:gd name="adj" fmla="val 7000"/>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noAutofit/>
          </a:bodyPr>
          <a:lstStyle/>
          <a:p>
            <a:pPr algn="l">
              <a:spcAft>
                <a:spcPts val="400"/>
              </a:spcAft>
            </a:pPr>
            <a:r>
              <a:rPr sz="1600" b="0">
                <a:solidFill>
                  <a:srgbClr val="1F2937"/>
                </a:solidFill>
              </a:rPr>
              <a:t>Exceções: </a:t>
            </a:r>
            <a:r>
              <a:rPr sz="1600" b="1">
                <a:solidFill>
                  <a:srgbClr val="1F2937"/>
                </a:solidFill>
              </a:rPr>
              <a:t>corrotinas</a:t>
            </a:r>
            <a:r>
              <a:rPr sz="1600" b="0">
                <a:solidFill>
                  <a:srgbClr val="1F2937"/>
                </a:solidFill>
              </a:rPr>
              <a:t> (§9.13) e </a:t>
            </a:r>
            <a:r>
              <a:rPr sz="1600" b="1">
                <a:solidFill>
                  <a:srgbClr val="1F2937"/>
                </a:solidFill>
              </a:rPr>
              <a:t>unidades concorrentes</a:t>
            </a:r>
            <a:r>
              <a:rPr sz="1600" b="0">
                <a:solidFill>
                  <a:srgbClr val="1F2937"/>
                </a:solidFill>
              </a:rPr>
              <a:t> (Cap. 13).</a:t>
            </a:r>
          </a:p>
        </p:txBody>
      </p:sp>
      <p:sp>
        <p:nvSpPr>
          <p:cNvPr id="8" name="TextBox 7"/>
          <p:cNvSpPr txBox="1"/>
          <p:nvPr/>
        </p:nvSpPr>
        <p:spPr>
          <a:xfrm>
            <a:off x="5989320" y="1325880"/>
            <a:ext cx="5650992"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Python · definição e chamada</a:t>
            </a:r>
          </a:p>
        </p:txBody>
      </p:sp>
      <p:sp>
        <p:nvSpPr>
          <p:cNvPr id="9" name="Rectangle 8"/>
          <p:cNvSpPr/>
          <p:nvPr/>
        </p:nvSpPr>
        <p:spPr>
          <a:xfrm>
            <a:off x="5989320" y="1673352"/>
            <a:ext cx="5650992" cy="267004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0F766E"/>
                </a:solidFill>
                <a:latin typeface="Consolas"/>
              </a:rPr>
              <a:t># cabeçalho: nome + parâmetros FORMAIS</a:t>
            </a:r>
          </a:p>
          <a:p>
            <a:pPr algn="l">
              <a:spcAft>
                <a:spcPts val="0"/>
              </a:spcAft>
            </a:pPr>
            <a:r>
              <a:rPr sz="1450" i="0">
                <a:solidFill>
                  <a:srgbClr val="111827"/>
                </a:solidFill>
                <a:latin typeface="Consolas"/>
              </a:rPr>
              <a:t>def calcular_salario(renda, aliquota, dependentes=1):</a:t>
            </a:r>
          </a:p>
          <a:p>
            <a:pPr algn="l">
              <a:spcAft>
                <a:spcPts val="0"/>
              </a:spcAft>
            </a:pPr>
            <a:r>
              <a:rPr sz="1450" i="0">
                <a:solidFill>
                  <a:srgbClr val="111827"/>
                </a:solidFill>
                <a:latin typeface="Consolas"/>
              </a:rPr>
              <a:t>    return renda * (1 - aliquota) + 100 * dependentes</a:t>
            </a:r>
          </a:p>
          <a:p>
            <a:pPr algn="l">
              <a:spcAft>
                <a:spcPts val="0"/>
              </a:spcAft>
            </a:pPr>
            <a:r>
              <a:rPr sz="1450">
                <a:latin typeface="Consolas"/>
              </a:rPr>
              <a:t/>
            </a:r>
          </a:p>
          <a:p>
            <a:pPr algn="l">
              <a:spcAft>
                <a:spcPts val="0"/>
              </a:spcAft>
            </a:pPr>
            <a:r>
              <a:rPr sz="1450" i="0">
                <a:solidFill>
                  <a:srgbClr val="0F766E"/>
                </a:solidFill>
                <a:latin typeface="Consolas"/>
              </a:rPr>
              <a:t># chamada: parâmetros REAIS</a:t>
            </a:r>
          </a:p>
          <a:p>
            <a:pPr algn="l">
              <a:spcAft>
                <a:spcPts val="0"/>
              </a:spcAft>
            </a:pPr>
            <a:r>
              <a:rPr sz="1450" i="0">
                <a:solidFill>
                  <a:srgbClr val="111827"/>
                </a:solidFill>
                <a:latin typeface="Consolas"/>
              </a:rPr>
              <a:t>pago = calcular_salario(2000.0, 0.15)</a:t>
            </a:r>
          </a:p>
        </p:txBody>
      </p:sp>
      <p:graphicFrame>
        <p:nvGraphicFramePr>
          <p:cNvPr id="10" name="Table 9"/>
          <p:cNvGraphicFramePr>
            <a:graphicFrameLocks noGrp="1"/>
          </p:cNvGraphicFramePr>
          <p:nvPr/>
        </p:nvGraphicFramePr>
        <p:xfrm>
          <a:off x="5989320" y="4526280"/>
          <a:ext cx="5650992" cy="1234440"/>
        </p:xfrm>
        <a:graphic>
          <a:graphicData uri="http://schemas.openxmlformats.org/drawingml/2006/table">
            <a:tbl>
              <a:tblPr firstRow="1">
                <a:tableStyleId>{2D5ABB26-0587-4C30-8999-92F81FD0307C}</a:tableStyleId>
              </a:tblPr>
              <a:tblGrid>
                <a:gridCol w="1920240"/>
                <a:gridCol w="3730752"/>
              </a:tblGrid>
              <a:tr h="411480">
                <a:tc>
                  <a:txBody>
                    <a:bodyPr wrap="square"/>
                    <a:lstStyle/>
                    <a:p>
                      <a:r>
                        <a:rPr sz="1400" b="1">
                          <a:solidFill>
                            <a:srgbClr val="1F2937"/>
                          </a:solidFill>
                        </a:rPr>
                        <a:t>Termo (p. 365-367)</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Significado</a:t>
                      </a:r>
                    </a:p>
                  </a:txBody>
                  <a:tcPr marL="91440" marR="91440" marT="36576" marB="36576" anchor="ctr">
                    <a:lnB w="9525">
                      <a:solidFill>
                        <a:srgbClr val="D0D5DD"/>
                      </a:solidFill>
                    </a:lnB>
                    <a:solidFill>
                      <a:srgbClr val="E6F4F1"/>
                    </a:solidFill>
                  </a:tcPr>
                </a:tc>
              </a:tr>
              <a:tr h="411480">
                <a:tc>
                  <a:txBody>
                    <a:bodyPr wrap="square"/>
                    <a:lstStyle/>
                    <a:p>
                      <a:r>
                        <a:rPr sz="1400" b="0">
                          <a:solidFill>
                            <a:srgbClr val="1F2937"/>
                          </a:solidFill>
                        </a:rPr>
                        <a:t>Perfil (assinatura)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número, ordem e tipos dos parâmetros</a:t>
                      </a:r>
                    </a:p>
                  </a:txBody>
                  <a:tcPr marL="91440" marR="91440" marT="36576" marB="36576" anchor="ctr">
                    <a:lnB w="9525">
                      <a:solidFill>
                        <a:srgbClr val="D0D5DD"/>
                      </a:solidFill>
                    </a:lnB>
                    <a:solidFill>
                      <a:srgbClr val="FFFFFF"/>
                    </a:solidFill>
                  </a:tcPr>
                </a:tc>
              </a:tr>
              <a:tr h="411480">
                <a:tc>
                  <a:txBody>
                    <a:bodyPr wrap="square"/>
                    <a:lstStyle/>
                    <a:p>
                      <a:r>
                        <a:rPr sz="1400" b="0">
                          <a:solidFill>
                            <a:srgbClr val="1F2937"/>
                          </a:solidFill>
                        </a:rPr>
                        <a:t>Protocolo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perfil + tipo de retorno</a:t>
                      </a:r>
                    </a:p>
                  </a:txBody>
                  <a:tcPr marL="91440" marR="91440" marT="36576" marB="36576" anchor="ctr">
                    <a:lnB w="9525">
                      <a:solidFill>
                        <a:srgbClr val="D0D5DD"/>
                      </a:solidFill>
                    </a:lnB>
                    <a:solidFill>
                      <a:srgbClr val="F9FA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Parâmetros: posição, palavra-chave, padrão e variádicos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§9.2.3 Parâmetros · p. 367-371 · exemplos/01_parametros</a:t>
            </a:r>
          </a:p>
        </p:txBody>
      </p:sp>
      <p:graphicFrame>
        <p:nvGraphicFramePr>
          <p:cNvPr id="4" name="Table 3"/>
          <p:cNvGraphicFramePr>
            <a:graphicFrameLocks noGrp="1"/>
          </p:cNvGraphicFramePr>
          <p:nvPr/>
        </p:nvGraphicFramePr>
        <p:xfrm>
          <a:off x="548640" y="1325880"/>
          <a:ext cx="8686800" cy="2944368"/>
        </p:xfrm>
        <a:graphic>
          <a:graphicData uri="http://schemas.openxmlformats.org/drawingml/2006/table">
            <a:tbl>
              <a:tblPr firstRow="1">
                <a:tableStyleId>{2D5ABB26-0587-4C30-8999-92F81FD0307C}</a:tableStyleId>
              </a:tblPr>
              <a:tblGrid>
                <a:gridCol w="1828800"/>
                <a:gridCol w="1371600"/>
                <a:gridCol w="1645920"/>
                <a:gridCol w="1828800"/>
                <a:gridCol w="2011680"/>
              </a:tblGrid>
              <a:tr h="420624">
                <a:tc>
                  <a:txBody>
                    <a:bodyPr wrap="square"/>
                    <a:lstStyle/>
                    <a:p>
                      <a:r>
                        <a:rPr sz="1400" b="1">
                          <a:solidFill>
                            <a:srgbClr val="1F2937"/>
                          </a:solidFill>
                        </a:rPr>
                        <a:t>Linguagem</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Palavra-chave</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Valor padrão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Variádicos</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Vários retornos</a:t>
                      </a:r>
                    </a:p>
                  </a:txBody>
                  <a:tcPr marL="91440" marR="91440" marT="36576" marB="36576" anchor="ctr">
                    <a:lnB w="9525">
                      <a:solidFill>
                        <a:srgbClr val="D0D5DD"/>
                      </a:solidFill>
                    </a:lnB>
                    <a:solidFill>
                      <a:srgbClr val="E6F4F1"/>
                    </a:solidFill>
                  </a:tcPr>
                </a:tc>
              </a:tr>
              <a:tr h="420624">
                <a:tc>
                  <a:txBody>
                    <a:bodyPr wrap="square"/>
                    <a:lstStyle/>
                    <a:p>
                      <a:r>
                        <a:rPr sz="1400" b="0">
                          <a:solidFill>
                            <a:srgbClr val="1F2937"/>
                          </a:solidFill>
                        </a:rPr>
                        <a:t>Python</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*args</a:t>
                      </a:r>
                      <a:r>
                        <a:rPr sz="1400" b="0">
                          <a:solidFill>
                            <a:srgbClr val="1F2937"/>
                          </a:solidFill>
                        </a:rPr>
                        <a:t>, </a:t>
                      </a:r>
                      <a:r>
                        <a:rPr sz="1288" b="0">
                          <a:solidFill>
                            <a:srgbClr val="1F2937"/>
                          </a:solidFill>
                          <a:latin typeface="Consolas"/>
                        </a:rPr>
                        <a:t>**kw</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tupla</a:t>
                      </a:r>
                    </a:p>
                  </a:txBody>
                  <a:tcPr marL="91440" marR="91440" marT="36576" marB="36576" anchor="ctr">
                    <a:lnB w="9525">
                      <a:solidFill>
                        <a:srgbClr val="D0D5DD"/>
                      </a:solidFill>
                    </a:lnB>
                    <a:solidFill>
                      <a:srgbClr val="FFFFFF"/>
                    </a:solidFill>
                  </a:tcPr>
                </a:tc>
              </a:tr>
              <a:tr h="420624">
                <a:tc>
                  <a:txBody>
                    <a:bodyPr wrap="square"/>
                    <a:lstStyle/>
                    <a:p>
                      <a:r>
                        <a:rPr sz="1400" b="0">
                          <a:solidFill>
                            <a:srgbClr val="1F2937"/>
                          </a:solidFill>
                        </a:rPr>
                        <a:t>Java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não (sobrecarga)</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int... v</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não (objeto)</a:t>
                      </a:r>
                    </a:p>
                  </a:txBody>
                  <a:tcPr marL="91440" marR="91440" marT="36576" marB="36576" anchor="ctr">
                    <a:lnB w="9525">
                      <a:solidFill>
                        <a:srgbClr val="D0D5DD"/>
                      </a:solidFill>
                    </a:lnB>
                    <a:solidFill>
                      <a:srgbClr val="F9FAFB"/>
                    </a:solidFill>
                  </a:tcPr>
                </a:tc>
              </a:tr>
              <a:tr h="420624">
                <a:tc>
                  <a:txBody>
                    <a:bodyPr wrap="square"/>
                    <a:lstStyle/>
                    <a:p>
                      <a:r>
                        <a:rPr sz="1400" b="0">
                          <a:solidFill>
                            <a:srgbClr val="1F2937"/>
                          </a:solidFill>
                        </a:rPr>
                        <a:t>C++</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 no fim</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tuple</a:t>
                      </a:r>
                      <a:r>
                        <a:rPr sz="1400" b="0">
                          <a:solidFill>
                            <a:srgbClr val="1F2937"/>
                          </a:solidFill>
                        </a:rPr>
                        <a:t>, </a:t>
                      </a:r>
                      <a:r>
                        <a:rPr sz="1288" b="0">
                          <a:solidFill>
                            <a:srgbClr val="1F2937"/>
                          </a:solidFill>
                          <a:latin typeface="Consolas"/>
                        </a:rPr>
                        <a:t>struct</a:t>
                      </a:r>
                    </a:p>
                  </a:txBody>
                  <a:tcPr marL="91440" marR="91440" marT="36576" marB="36576" anchor="ctr">
                    <a:lnB w="9525">
                      <a:solidFill>
                        <a:srgbClr val="D0D5DD"/>
                      </a:solidFill>
                    </a:lnB>
                    <a:solidFill>
                      <a:srgbClr val="FFFFFF"/>
                    </a:solidFill>
                  </a:tcPr>
                </a:tc>
              </a:tr>
              <a:tr h="420624">
                <a:tc>
                  <a:txBody>
                    <a:bodyPr wrap="square"/>
                    <a:lstStyle/>
                    <a:p>
                      <a:r>
                        <a:rPr sz="1400" b="0">
                          <a:solidFill>
                            <a:srgbClr val="1F2937"/>
                          </a:solidFill>
                        </a:rPr>
                        <a:t>C#</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params</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out</a:t>
                      </a:r>
                      <a:r>
                        <a:rPr sz="1400" b="0">
                          <a:solidFill>
                            <a:srgbClr val="1F2937"/>
                          </a:solidFill>
                        </a:rPr>
                        <a:t>, tupla</a:t>
                      </a:r>
                    </a:p>
                  </a:txBody>
                  <a:tcPr marL="91440" marR="91440" marT="36576" marB="36576" anchor="ctr">
                    <a:lnB w="9525">
                      <a:solidFill>
                        <a:srgbClr val="D0D5DD"/>
                      </a:solidFill>
                    </a:lnB>
                    <a:solidFill>
                      <a:srgbClr val="F9FAFB"/>
                    </a:solidFill>
                  </a:tcPr>
                </a:tc>
              </a:tr>
              <a:tr h="420624">
                <a:tc>
                  <a:txBody>
                    <a:bodyPr wrap="square"/>
                    <a:lstStyle/>
                    <a:p>
                      <a:r>
                        <a:rPr sz="1400" b="0">
                          <a:solidFill>
                            <a:srgbClr val="1F2937"/>
                          </a:solidFill>
                        </a:rPr>
                        <a:t>JavaScript</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via objeto</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...resto</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array/objeto</a:t>
                      </a:r>
                    </a:p>
                  </a:txBody>
                  <a:tcPr marL="91440" marR="91440" marT="36576" marB="36576" anchor="ctr">
                    <a:lnB w="9525">
                      <a:solidFill>
                        <a:srgbClr val="D0D5DD"/>
                      </a:solidFill>
                    </a:lnB>
                    <a:solidFill>
                      <a:srgbClr val="FFFFFF"/>
                    </a:solidFill>
                  </a:tcPr>
                </a:tc>
              </a:tr>
              <a:tr h="420624">
                <a:tc>
                  <a:txBody>
                    <a:bodyPr wrap="square"/>
                    <a:lstStyle/>
                    <a:p>
                      <a:r>
                        <a:rPr sz="1400" b="0">
                          <a:solidFill>
                            <a:srgbClr val="1F2937"/>
                          </a:solidFill>
                        </a:rPr>
                        <a:t>Go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nums ...int</a:t>
                      </a:r>
                    </a:p>
                  </a:txBody>
                  <a:tcPr marL="91440" marR="91440" marT="36576" marB="36576" anchor="ctr">
                    <a:lnB w="9525">
                      <a:solidFill>
                        <a:srgbClr val="D0D5DD"/>
                      </a:solidFill>
                    </a:lnB>
                    <a:solidFill>
                      <a:srgbClr val="F9FAFB"/>
                    </a:solidFill>
                  </a:tcPr>
                </a:tc>
                <a:tc>
                  <a:txBody>
                    <a:bodyPr wrap="square"/>
                    <a:lstStyle/>
                    <a:p>
                      <a:r>
                        <a:rPr sz="1400" b="1">
                          <a:solidFill>
                            <a:srgbClr val="1F2937"/>
                          </a:solidFill>
                        </a:rPr>
                        <a:t>sim</a:t>
                      </a:r>
                    </a:p>
                  </a:txBody>
                  <a:tcPr marL="91440" marR="91440" marT="36576" marB="36576" anchor="ctr">
                    <a:lnB w="9525">
                      <a:solidFill>
                        <a:srgbClr val="D0D5DD"/>
                      </a:solidFill>
                    </a:lnB>
                    <a:solidFill>
                      <a:srgbClr val="F9FAFB"/>
                    </a:solidFill>
                  </a:tcPr>
                </a:tc>
              </a:tr>
            </a:tbl>
          </a:graphicData>
        </a:graphic>
      </p:graphicFrame>
      <p:sp>
        <p:nvSpPr>
          <p:cNvPr id="5" name="TextBox 4"/>
          <p:cNvSpPr txBox="1"/>
          <p:nvPr/>
        </p:nvSpPr>
        <p:spPr>
          <a:xfrm>
            <a:off x="548640" y="4526280"/>
            <a:ext cx="868680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Python (inspirado no compute_pay do livro, p. 368-369)</a:t>
            </a:r>
          </a:p>
        </p:txBody>
      </p:sp>
      <p:sp>
        <p:nvSpPr>
          <p:cNvPr id="6" name="Rectangle 5"/>
          <p:cNvSpPr/>
          <p:nvPr/>
        </p:nvSpPr>
        <p:spPr>
          <a:xfrm>
            <a:off x="548640" y="4873752"/>
            <a:ext cx="8686800" cy="1207007"/>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calcular_salario(2000.0, 0.15)                     </a:t>
            </a:r>
            <a:r>
              <a:rPr sz="1450" i="0">
                <a:solidFill>
                  <a:srgbClr val="0F766E"/>
                </a:solidFill>
                <a:latin typeface="Consolas"/>
              </a:rPr>
              <a:t># posicional + padrão</a:t>
            </a:r>
          </a:p>
          <a:p>
            <a:pPr algn="l">
              <a:spcAft>
                <a:spcPts val="0"/>
              </a:spcAft>
            </a:pPr>
            <a:r>
              <a:rPr sz="1450" i="0">
                <a:solidFill>
                  <a:srgbClr val="111827"/>
                </a:solidFill>
                <a:latin typeface="Consolas"/>
              </a:rPr>
              <a:t>calcular_salario(aliquota=0.15, renda=2000.0)      </a:t>
            </a:r>
            <a:r>
              <a:rPr sz="1450" i="0">
                <a:solidFill>
                  <a:srgbClr val="0F766E"/>
                </a:solidFill>
                <a:latin typeface="Consolas"/>
              </a:rPr>
              <a:t># palavra-chave: qualquer ordem</a:t>
            </a:r>
          </a:p>
          <a:p>
            <a:pPr algn="l">
              <a:spcAft>
                <a:spcPts val="0"/>
              </a:spcAft>
            </a:pPr>
            <a:r>
              <a:rPr sz="1450" i="0">
                <a:solidFill>
                  <a:srgbClr val="111827"/>
                </a:solidFill>
                <a:latin typeface="Consolas"/>
              </a:rPr>
              <a:t>media(7, 8, 9)                                     </a:t>
            </a:r>
            <a:r>
              <a:rPr sz="1450" i="0">
                <a:solidFill>
                  <a:srgbClr val="0F766E"/>
                </a:solidFill>
                <a:latin typeface="Consolas"/>
              </a:rPr>
              <a:t># def media(*valores): variádico</a:t>
            </a:r>
          </a:p>
        </p:txBody>
      </p:sp>
      <p:sp>
        <p:nvSpPr>
          <p:cNvPr id="7" name="Rounded Rectangle 6"/>
          <p:cNvSpPr/>
          <p:nvPr/>
        </p:nvSpPr>
        <p:spPr>
          <a:xfrm>
            <a:off x="9464040" y="1325880"/>
            <a:ext cx="2176272" cy="297180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noAutofit/>
          </a:bodyPr>
          <a:lstStyle/>
          <a:p>
            <a:pPr algn="l">
              <a:spcAft>
                <a:spcPts val="300"/>
              </a:spcAft>
            </a:pPr>
            <a:r>
              <a:rPr sz="1500" b="1">
                <a:solidFill>
                  <a:srgbClr val="1F2937"/>
                </a:solidFill>
              </a:rPr>
              <a:t>Palavra-chave</a:t>
            </a:r>
          </a:p>
          <a:p>
            <a:pPr algn="l">
              <a:spcAft>
                <a:spcPts val="400"/>
              </a:spcAft>
            </a:pPr>
            <a:r>
              <a:rPr sz="1400" b="0">
                <a:solidFill>
                  <a:srgbClr val="1F2937"/>
                </a:solidFill>
              </a:rPr>
              <a:t>Vantagem: qualquer ordem. Desvantagem: é preciso saber os </a:t>
            </a:r>
            <a:r>
              <a:rPr sz="1400" b="1">
                <a:solidFill>
                  <a:srgbClr val="1F2937"/>
                </a:solidFill>
              </a:rPr>
              <a:t>nomes</a:t>
            </a:r>
            <a:r>
              <a:rPr sz="1400" b="0">
                <a:solidFill>
                  <a:srgbClr val="1F2937"/>
                </a:solidFill>
              </a:rPr>
              <a:t> dos formais (p. 368).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Procedimentos, funções e questões de projeto</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§9.2.4 e §9.3 · p. 371-373</a:t>
            </a:r>
          </a:p>
        </p:txBody>
      </p:sp>
      <p:sp>
        <p:nvSpPr>
          <p:cNvPr id="4" name="Rounded Rectangle 3"/>
          <p:cNvSpPr/>
          <p:nvPr/>
        </p:nvSpPr>
        <p:spPr>
          <a:xfrm>
            <a:off x="548640" y="1325880"/>
            <a:ext cx="4023360" cy="23317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noAutofit/>
          </a:bodyPr>
          <a:lstStyle/>
          <a:p>
            <a:pPr algn="l">
              <a:spcAft>
                <a:spcPts val="400"/>
              </a:spcAft>
            </a:pPr>
            <a:r>
              <a:rPr sz="1900" b="1">
                <a:solidFill>
                  <a:srgbClr val="0F766E"/>
                </a:solidFill>
              </a:rPr>
              <a:t>Procedimento</a:t>
            </a:r>
          </a:p>
          <a:p>
            <a:pPr algn="l">
              <a:spcAft>
                <a:spcPts val="400"/>
              </a:spcAft>
            </a:pPr>
            <a:r>
              <a:rPr sz="1600" b="0">
                <a:solidFill>
                  <a:srgbClr val="1F2937"/>
                </a:solidFill>
              </a:rPr>
              <a:t>Uma nova </a:t>
            </a:r>
            <a:r>
              <a:rPr sz="1600" b="1">
                <a:solidFill>
                  <a:srgbClr val="1F2937"/>
                </a:solidFill>
              </a:rPr>
              <a:t>sentença</a:t>
            </a:r>
            <a:r>
              <a:rPr sz="1600" b="0">
                <a:solidFill>
                  <a:srgbClr val="1F2937"/>
                </a:solidFill>
              </a:rPr>
              <a:t>: produz resultados alterando variáveis ou parâmetros (</a:t>
            </a:r>
            <a:r>
              <a:rPr sz="1472" b="0">
                <a:solidFill>
                  <a:srgbClr val="1F2937"/>
                </a:solidFill>
                <a:latin typeface="Consolas"/>
              </a:rPr>
              <a:t>void</a:t>
            </a:r>
            <a:r>
              <a:rPr sz="1600" b="0">
                <a:solidFill>
                  <a:srgbClr val="1F2937"/>
                </a:solidFill>
              </a:rPr>
              <a:t>, </a:t>
            </a:r>
            <a:r>
              <a:rPr sz="1472" b="0">
                <a:solidFill>
                  <a:srgbClr val="1F2937"/>
                </a:solidFill>
                <a:latin typeface="Consolas"/>
              </a:rPr>
              <a:t>None</a:t>
            </a:r>
            <a:r>
              <a:rPr sz="1600" b="0">
                <a:solidFill>
                  <a:srgbClr val="1F2937"/>
                </a:solidFill>
              </a:rPr>
              <a:t>).</a:t>
            </a:r>
          </a:p>
        </p:txBody>
      </p:sp>
      <p:sp>
        <p:nvSpPr>
          <p:cNvPr id="5" name="Rounded Rectangle 4"/>
          <p:cNvSpPr/>
          <p:nvPr/>
        </p:nvSpPr>
        <p:spPr>
          <a:xfrm>
            <a:off x="548640" y="3794760"/>
            <a:ext cx="4023360" cy="228600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noAutofit/>
          </a:bodyPr>
          <a:lstStyle/>
          <a:p>
            <a:pPr algn="l">
              <a:spcAft>
                <a:spcPts val="400"/>
              </a:spcAft>
            </a:pPr>
            <a:r>
              <a:rPr sz="1900" b="1">
                <a:solidFill>
                  <a:srgbClr val="0F766E"/>
                </a:solidFill>
              </a:rPr>
              <a:t>Função</a:t>
            </a:r>
          </a:p>
          <a:p>
            <a:pPr algn="l">
              <a:spcAft>
                <a:spcPts val="400"/>
              </a:spcAft>
            </a:pPr>
            <a:r>
              <a:rPr sz="1600" b="0">
                <a:solidFill>
                  <a:srgbClr val="1F2937"/>
                </a:solidFill>
              </a:rPr>
              <a:t>Modela uma função </a:t>
            </a:r>
            <a:r>
              <a:rPr sz="1600" b="1">
                <a:solidFill>
                  <a:srgbClr val="1F2937"/>
                </a:solidFill>
              </a:rPr>
              <a:t>matemática</a:t>
            </a:r>
            <a:r>
              <a:rPr sz="1600" b="0">
                <a:solidFill>
                  <a:srgbClr val="1F2937"/>
                </a:solidFill>
              </a:rPr>
              <a:t>: o ideal é que o valor devolvido seja o </a:t>
            </a:r>
            <a:r>
              <a:rPr sz="1600" b="1">
                <a:solidFill>
                  <a:srgbClr val="1F2937"/>
                </a:solidFill>
              </a:rPr>
              <a:t>único</a:t>
            </a:r>
            <a:r>
              <a:rPr sz="1600" b="0">
                <a:solidFill>
                  <a:srgbClr val="1F2937"/>
                </a:solidFill>
              </a:rPr>
              <a:t> efeito (p. 372).</a:t>
            </a:r>
          </a:p>
        </p:txBody>
      </p:sp>
      <p:sp>
        <p:nvSpPr>
          <p:cNvPr id="6" name="TextBox 5"/>
          <p:cNvSpPr txBox="1"/>
          <p:nvPr/>
        </p:nvSpPr>
        <p:spPr>
          <a:xfrm>
            <a:off x="4846320" y="1325880"/>
            <a:ext cx="6793992" cy="411480"/>
          </a:xfrm>
          <a:prstGeom prst="rect">
            <a:avLst/>
          </a:prstGeom>
          <a:noFill/>
        </p:spPr>
        <p:txBody>
          <a:bodyPr wrap="square" anchor="t" lIns="0" rIns="0" tIns="0" bIns="0">
            <a:noAutofit/>
          </a:bodyPr>
          <a:lstStyle/>
          <a:p>
            <a:pPr algn="l">
              <a:spcAft>
                <a:spcPts val="400"/>
              </a:spcAft>
            </a:pPr>
            <a:r>
              <a:rPr sz="1800" b="1">
                <a:solidFill>
                  <a:srgbClr val="1F2937"/>
                </a:solidFill>
              </a:rPr>
              <a:t>Questões de projeto (p. 373)</a:t>
            </a:r>
          </a:p>
        </p:txBody>
      </p:sp>
      <p:sp>
        <p:nvSpPr>
          <p:cNvPr id="7" name="TextBox 6"/>
          <p:cNvSpPr txBox="1"/>
          <p:nvPr/>
        </p:nvSpPr>
        <p:spPr>
          <a:xfrm>
            <a:off x="4846320" y="1783080"/>
            <a:ext cx="3383280" cy="4297680"/>
          </a:xfrm>
          <a:prstGeom prst="rect">
            <a:avLst/>
          </a:prstGeom>
          <a:noFill/>
        </p:spPr>
        <p:txBody>
          <a:bodyPr wrap="square" anchor="t" lIns="0" rIns="0" tIns="0" bIns="0">
            <a:noAutofit/>
          </a:bodyPr>
          <a:lstStyle/>
          <a:p>
            <a:pPr algn="l" marL="256032" indent="-219456">
              <a:spcAft>
                <a:spcPts val="800"/>
              </a:spcAft>
              <a:buClr>
                <a:srgbClr val="0F766E"/>
              </a:buClr>
              <a:buFont typeface="Arial"/>
              <a:buChar char="•"/>
            </a:pPr>
            <a:r>
              <a:rPr sz="1500" b="0">
                <a:solidFill>
                  <a:srgbClr val="1F2937"/>
                </a:solidFill>
              </a:rPr>
              <a:t>Variáveis locais estáticas ou dinâmicas?</a:t>
            </a:r>
          </a:p>
          <a:p>
            <a:pPr algn="l" marL="256032" indent="-219456">
              <a:spcAft>
                <a:spcPts val="800"/>
              </a:spcAft>
              <a:buClr>
                <a:srgbClr val="0F766E"/>
              </a:buClr>
              <a:buFont typeface="Arial"/>
              <a:buChar char="•"/>
            </a:pPr>
            <a:r>
              <a:rPr sz="1500" b="0">
                <a:solidFill>
                  <a:srgbClr val="1F2937"/>
                </a:solidFill>
              </a:rPr>
              <a:t>Subprogramas aninhados?</a:t>
            </a:r>
          </a:p>
          <a:p>
            <a:pPr algn="l" marL="256032" indent="-219456">
              <a:spcAft>
                <a:spcPts val="800"/>
              </a:spcAft>
              <a:buClr>
                <a:srgbClr val="0F766E"/>
              </a:buClr>
              <a:buFont typeface="Arial"/>
              <a:buChar char="•"/>
            </a:pPr>
            <a:r>
              <a:rPr sz="1500" b="0">
                <a:solidFill>
                  <a:srgbClr val="1F2937"/>
                </a:solidFill>
              </a:rPr>
              <a:t>Qual método de </a:t>
            </a:r>
            <a:r>
              <a:rPr sz="1500" b="1">
                <a:solidFill>
                  <a:srgbClr val="1F2937"/>
                </a:solidFill>
              </a:rPr>
              <a:t>passagem</a:t>
            </a:r>
            <a:r>
              <a:rPr sz="1500" b="0">
                <a:solidFill>
                  <a:srgbClr val="1F2937"/>
                </a:solidFill>
              </a:rPr>
              <a:t>?</a:t>
            </a:r>
          </a:p>
          <a:p>
            <a:pPr algn="l" marL="256032" indent="-219456">
              <a:spcAft>
                <a:spcPts val="800"/>
              </a:spcAft>
              <a:buClr>
                <a:srgbClr val="0F766E"/>
              </a:buClr>
              <a:buFont typeface="Arial"/>
              <a:buChar char="•"/>
            </a:pPr>
            <a:r>
              <a:rPr sz="1500" b="0">
                <a:solidFill>
                  <a:srgbClr val="1F2937"/>
                </a:solidFill>
              </a:rPr>
              <a:t>Os tipos dos parâmetros são verificados?</a:t>
            </a:r>
          </a:p>
          <a:p>
            <a:pPr algn="l" marL="256032" indent="-219456">
              <a:spcAft>
                <a:spcPts val="800"/>
              </a:spcAft>
              <a:buClr>
                <a:srgbClr val="0F766E"/>
              </a:buClr>
              <a:buFont typeface="Arial"/>
              <a:buChar char="•"/>
            </a:pPr>
            <a:r>
              <a:rPr sz="1500" b="0">
                <a:solidFill>
                  <a:srgbClr val="1F2937"/>
                </a:solidFill>
              </a:rPr>
              <a:t>Qual ambiente usa um subprograma </a:t>
            </a:r>
            <a:r>
              <a:rPr sz="1500" b="1">
                <a:solidFill>
                  <a:srgbClr val="1F2937"/>
                </a:solidFill>
              </a:rPr>
              <a:t>passado como parâmetro</a:t>
            </a:r>
            <a:r>
              <a:rPr sz="1500" b="0">
                <a:solidFill>
                  <a:srgbClr val="1F2937"/>
                </a:solidFill>
              </a:rPr>
              <a:t>?</a:t>
            </a:r>
          </a:p>
          <a:p>
            <a:pPr algn="l" marL="256032" indent="-219456">
              <a:spcAft>
                <a:spcPts val="800"/>
              </a:spcAft>
              <a:buClr>
                <a:srgbClr val="0F766E"/>
              </a:buClr>
              <a:buFont typeface="Arial"/>
              <a:buChar char="•"/>
            </a:pPr>
            <a:r>
              <a:rPr sz="1500" b="1">
                <a:solidFill>
                  <a:srgbClr val="1F2937"/>
                </a:solidFill>
              </a:rPr>
              <a:t>Fechamentos</a:t>
            </a:r>
            <a:r>
              <a:rPr sz="1500" b="0">
                <a:solidFill>
                  <a:srgbClr val="1F2937"/>
                </a:solidFill>
              </a:rPr>
              <a:t> são suportados?</a:t>
            </a:r>
          </a:p>
        </p:txBody>
      </p:sp>
      <p:sp>
        <p:nvSpPr>
          <p:cNvPr id="8" name="TextBox 7"/>
          <p:cNvSpPr txBox="1"/>
          <p:nvPr/>
        </p:nvSpPr>
        <p:spPr>
          <a:xfrm>
            <a:off x="8321040" y="1783080"/>
            <a:ext cx="3319272" cy="4297680"/>
          </a:xfrm>
          <a:prstGeom prst="rect">
            <a:avLst/>
          </a:prstGeom>
          <a:noFill/>
        </p:spPr>
        <p:txBody>
          <a:bodyPr wrap="square" anchor="t" lIns="0" rIns="0" tIns="0" bIns="0">
            <a:noAutofit/>
          </a:bodyPr>
          <a:lstStyle/>
          <a:p>
            <a:pPr algn="l" marL="256032" indent="-219456">
              <a:spcAft>
                <a:spcPts val="800"/>
              </a:spcAft>
              <a:buClr>
                <a:srgbClr val="0F766E"/>
              </a:buClr>
              <a:buFont typeface="Arial"/>
              <a:buChar char="•"/>
            </a:pPr>
            <a:r>
              <a:rPr sz="1500" b="0">
                <a:solidFill>
                  <a:srgbClr val="667085"/>
                </a:solidFill>
              </a:rPr>
              <a:t>Efeitos colaterais em funções?</a:t>
            </a:r>
          </a:p>
          <a:p>
            <a:pPr algn="l" marL="256032" indent="-219456">
              <a:spcAft>
                <a:spcPts val="800"/>
              </a:spcAft>
              <a:buClr>
                <a:srgbClr val="0F766E"/>
              </a:buClr>
              <a:buFont typeface="Arial"/>
              <a:buChar char="•"/>
            </a:pPr>
            <a:r>
              <a:rPr sz="1500" b="0">
                <a:solidFill>
                  <a:srgbClr val="667085"/>
                </a:solidFill>
              </a:rPr>
              <a:t>Que tipos podem ser retornados?</a:t>
            </a:r>
          </a:p>
          <a:p>
            <a:pPr algn="l" marL="256032" indent="-219456">
              <a:spcAft>
                <a:spcPts val="800"/>
              </a:spcAft>
              <a:buClr>
                <a:srgbClr val="0F766E"/>
              </a:buClr>
              <a:buFont typeface="Arial"/>
              <a:buChar char="•"/>
            </a:pPr>
            <a:r>
              <a:rPr sz="1500" b="0">
                <a:solidFill>
                  <a:srgbClr val="667085"/>
                </a:solidFill>
              </a:rPr>
              <a:t>Quantos valores podem ser retornados?</a:t>
            </a:r>
          </a:p>
          <a:p>
            <a:pPr algn="l" marL="256032" indent="-219456">
              <a:spcAft>
                <a:spcPts val="800"/>
              </a:spcAft>
              <a:buClr>
                <a:srgbClr val="0F766E"/>
              </a:buClr>
              <a:buFont typeface="Arial"/>
              <a:buChar char="•"/>
            </a:pPr>
            <a:r>
              <a:rPr sz="1500" b="0">
                <a:solidFill>
                  <a:srgbClr val="667085"/>
                </a:solidFill>
              </a:rPr>
              <a:t>Sobrecarga é permitida?</a:t>
            </a:r>
          </a:p>
          <a:p>
            <a:pPr algn="l" marL="256032" indent="-219456">
              <a:spcAft>
                <a:spcPts val="800"/>
              </a:spcAft>
              <a:buClr>
                <a:srgbClr val="0F766E"/>
              </a:buClr>
              <a:buFont typeface="Arial"/>
              <a:buChar char="•"/>
            </a:pPr>
            <a:r>
              <a:rPr sz="1500" b="0">
                <a:solidFill>
                  <a:srgbClr val="667085"/>
                </a:solidFill>
              </a:rPr>
              <a:t>Subprogramas genéricos?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Ambientes de referenciamento local</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§9.4 · p. 373-375 · exemplos/02_locais</a:t>
            </a:r>
          </a:p>
        </p:txBody>
      </p:sp>
      <p:sp>
        <p:nvSpPr>
          <p:cNvPr id="4" name="TextBox 3"/>
          <p:cNvSpPr txBox="1"/>
          <p:nvPr/>
        </p:nvSpPr>
        <p:spPr>
          <a:xfrm>
            <a:off x="548640" y="1325880"/>
            <a:ext cx="56692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C · local dinâmica da pilha × static</a:t>
            </a:r>
          </a:p>
        </p:txBody>
      </p:sp>
      <p:sp>
        <p:nvSpPr>
          <p:cNvPr id="5" name="Rectangle 4"/>
          <p:cNvSpPr/>
          <p:nvPr/>
        </p:nvSpPr>
        <p:spPr>
          <a:xfrm>
            <a:off x="548640" y="1673352"/>
            <a:ext cx="5669280" cy="326440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int contador_automatico(void) {</a:t>
            </a:r>
          </a:p>
          <a:p>
            <a:pPr algn="l">
              <a:spcAft>
                <a:spcPts val="0"/>
              </a:spcAft>
            </a:pPr>
            <a:r>
              <a:rPr sz="1500" i="0">
                <a:solidFill>
                  <a:srgbClr val="111827"/>
                </a:solidFill>
                <a:latin typeface="Consolas"/>
              </a:rPr>
              <a:t>    int n = 0;          </a:t>
            </a:r>
            <a:r>
              <a:rPr sz="1500" i="0">
                <a:solidFill>
                  <a:srgbClr val="0F766E"/>
                </a:solidFill>
                <a:latin typeface="Consolas"/>
              </a:rPr>
              <a:t>// dinâmica da pilha</a:t>
            </a:r>
          </a:p>
          <a:p>
            <a:pPr algn="l">
              <a:spcAft>
                <a:spcPts val="0"/>
              </a:spcAft>
            </a:pPr>
            <a:r>
              <a:rPr sz="1500" i="0">
                <a:solidFill>
                  <a:srgbClr val="111827"/>
                </a:solidFill>
                <a:latin typeface="Consolas"/>
              </a:rPr>
              <a:t>    return ++n;</a:t>
            </a:r>
          </a:p>
          <a:p>
            <a:pPr algn="l">
              <a:spcAft>
                <a:spcPts val="0"/>
              </a:spcAft>
            </a:pPr>
            <a:r>
              <a:rPr sz="1500" i="0">
                <a:solidFill>
                  <a:srgbClr val="111827"/>
                </a:solidFill>
                <a:latin typeface="Consolas"/>
              </a:rPr>
              <a:t>}</a:t>
            </a:r>
          </a:p>
          <a:p>
            <a:pPr algn="l">
              <a:spcAft>
                <a:spcPts val="0"/>
              </a:spcAft>
            </a:pPr>
            <a:r>
              <a:rPr sz="1500">
                <a:latin typeface="Consolas"/>
              </a:rPr>
              <a:t/>
            </a:r>
          </a:p>
          <a:p>
            <a:pPr algn="l">
              <a:spcAft>
                <a:spcPts val="0"/>
              </a:spcAft>
            </a:pPr>
            <a:r>
              <a:rPr sz="1500" i="0">
                <a:solidFill>
                  <a:srgbClr val="111827"/>
                </a:solidFill>
                <a:latin typeface="Consolas"/>
              </a:rPr>
              <a:t>int contador_estatico(void) {</a:t>
            </a:r>
          </a:p>
          <a:p>
            <a:pPr algn="l">
              <a:spcAft>
                <a:spcPts val="0"/>
              </a:spcAft>
            </a:pPr>
            <a:r>
              <a:rPr sz="1500" i="0">
                <a:solidFill>
                  <a:srgbClr val="111827"/>
                </a:solidFill>
                <a:latin typeface="Consolas"/>
              </a:rPr>
              <a:t>    static int n = 0;   </a:t>
            </a:r>
            <a:r>
              <a:rPr sz="1500" i="0">
                <a:solidFill>
                  <a:srgbClr val="0F766E"/>
                </a:solidFill>
                <a:latin typeface="Consolas"/>
              </a:rPr>
              <a:t>// estática: lembra o valor</a:t>
            </a:r>
          </a:p>
          <a:p>
            <a:pPr algn="l">
              <a:spcAft>
                <a:spcPts val="0"/>
              </a:spcAft>
            </a:pPr>
            <a:r>
              <a:rPr sz="1500" i="0">
                <a:solidFill>
                  <a:srgbClr val="111827"/>
                </a:solidFill>
                <a:latin typeface="Consolas"/>
              </a:rPr>
              <a:t>    return ++n;</a:t>
            </a:r>
          </a:p>
          <a:p>
            <a:pPr algn="l">
              <a:spcAft>
                <a:spcPts val="0"/>
              </a:spcAft>
            </a:pPr>
            <a:r>
              <a:rPr sz="1500" i="0">
                <a:solidFill>
                  <a:srgbClr val="111827"/>
                </a:solidFill>
                <a:latin typeface="Consolas"/>
              </a:rPr>
              <a:t>}</a:t>
            </a:r>
          </a:p>
          <a:p>
            <a:pPr algn="l">
              <a:spcAft>
                <a:spcPts val="0"/>
              </a:spcAft>
            </a:pPr>
            <a:r>
              <a:rPr sz="1500" i="0">
                <a:solidFill>
                  <a:srgbClr val="0F766E"/>
                </a:solidFill>
                <a:latin typeface="Consolas"/>
              </a:rPr>
              <a:t>// 3 chamadas de cada:</a:t>
            </a:r>
          </a:p>
          <a:p>
            <a:pPr algn="l">
              <a:spcAft>
                <a:spcPts val="0"/>
              </a:spcAft>
            </a:pPr>
            <a:r>
              <a:rPr sz="1500" i="0">
                <a:solidFill>
                  <a:srgbClr val="0F766E"/>
                </a:solidFill>
                <a:latin typeface="Consolas"/>
              </a:rPr>
              <a:t>// automático = 1 1 1   estático = 1 2 3</a:t>
            </a:r>
          </a:p>
        </p:txBody>
      </p:sp>
      <p:graphicFrame>
        <p:nvGraphicFramePr>
          <p:cNvPr id="6" name="Table 5"/>
          <p:cNvGraphicFramePr>
            <a:graphicFrameLocks noGrp="1"/>
          </p:cNvGraphicFramePr>
          <p:nvPr/>
        </p:nvGraphicFramePr>
        <p:xfrm>
          <a:off x="6400800" y="1325880"/>
          <a:ext cx="5239512" cy="2514600"/>
        </p:xfrm>
        <a:graphic>
          <a:graphicData uri="http://schemas.openxmlformats.org/drawingml/2006/table">
            <a:tbl>
              <a:tblPr firstRow="1">
                <a:tableStyleId>{2D5ABB26-0587-4C30-8999-92F81FD0307C}</a:tableStyleId>
              </a:tblPr>
              <a:tblGrid>
                <a:gridCol w="1691640"/>
                <a:gridCol w="1737360"/>
                <a:gridCol w="1810512"/>
              </a:tblGrid>
              <a:tr h="502920">
                <a:tc>
                  <a:txBody>
                    <a:bodyPr wrap="square"/>
                    <a:lstStyle/>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Dinâmica da pilha</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Estática</a:t>
                      </a:r>
                    </a:p>
                  </a:txBody>
                  <a:tcPr marL="91440" marR="91440" marT="36576" marB="36576" anchor="ctr">
                    <a:lnB w="9525">
                      <a:solidFill>
                        <a:srgbClr val="D0D5DD"/>
                      </a:solidFill>
                    </a:lnB>
                    <a:solidFill>
                      <a:srgbClr val="E6F4F1"/>
                    </a:solidFill>
                  </a:tcPr>
                </a:tc>
              </a:tr>
              <a:tr h="502920">
                <a:tc>
                  <a:txBody>
                    <a:bodyPr wrap="square"/>
                    <a:lstStyle/>
                    <a:p>
                      <a:r>
                        <a:rPr sz="1400" b="0">
                          <a:solidFill>
                            <a:srgbClr val="1F2937"/>
                          </a:solidFill>
                        </a:rPr>
                        <a:t>Recursão</a:t>
                      </a:r>
                    </a:p>
                  </a:txBody>
                  <a:tcPr marL="91440" marR="91440" marT="36576" marB="36576" anchor="ctr">
                    <a:lnB w="9525">
                      <a:solidFill>
                        <a:srgbClr val="D0D5DD"/>
                      </a:solidFill>
                    </a:lnB>
                    <a:solidFill>
                      <a:srgbClr val="FFFFFF"/>
                    </a:solidFill>
                  </a:tcPr>
                </a:tc>
                <a:tc>
                  <a:txBody>
                    <a:bodyPr wrap="square"/>
                    <a:lstStyle/>
                    <a:p>
                      <a:r>
                        <a:rPr sz="1400" b="1">
                          <a:solidFill>
                            <a:srgbClr val="1F2937"/>
                          </a:solidFill>
                        </a:rPr>
                        <a:t>sim</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FFFFF"/>
                    </a:solidFill>
                  </a:tcPr>
                </a:tc>
              </a:tr>
              <a:tr h="502920">
                <a:tc>
                  <a:txBody>
                    <a:bodyPr wrap="square"/>
                    <a:lstStyle/>
                    <a:p>
                      <a:r>
                        <a:rPr sz="1400" b="0">
                          <a:solidFill>
                            <a:srgbClr val="1F2937"/>
                          </a:solidFill>
                        </a:rPr>
                        <a:t>Custo por chamada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alocar e liberar</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nenhum</a:t>
                      </a:r>
                    </a:p>
                  </a:txBody>
                  <a:tcPr marL="91440" marR="91440" marT="36576" marB="36576" anchor="ctr">
                    <a:lnB w="9525">
                      <a:solidFill>
                        <a:srgbClr val="D0D5DD"/>
                      </a:solidFill>
                    </a:lnB>
                    <a:solidFill>
                      <a:srgbClr val="F9FAFB"/>
                    </a:solidFill>
                  </a:tcPr>
                </a:tc>
              </a:tr>
              <a:tr h="502920">
                <a:tc>
                  <a:txBody>
                    <a:bodyPr wrap="square"/>
                    <a:lstStyle/>
                    <a:p>
                      <a:r>
                        <a:rPr sz="1400" b="0">
                          <a:solidFill>
                            <a:srgbClr val="1F2937"/>
                          </a:solidFill>
                        </a:rPr>
                        <a:t>Lembra valores</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FFFFF"/>
                    </a:solidFill>
                  </a:tcPr>
                </a:tc>
                <a:tc>
                  <a:txBody>
                    <a:bodyPr wrap="square"/>
                    <a:lstStyle/>
                    <a:p>
                      <a:r>
                        <a:rPr sz="1400" b="1">
                          <a:solidFill>
                            <a:srgbClr val="1F2937"/>
                          </a:solidFill>
                        </a:rPr>
                        <a:t>sim</a:t>
                      </a:r>
                    </a:p>
                  </a:txBody>
                  <a:tcPr marL="91440" marR="91440" marT="36576" marB="36576" anchor="ctr">
                    <a:lnB w="9525">
                      <a:solidFill>
                        <a:srgbClr val="D0D5DD"/>
                      </a:solidFill>
                    </a:lnB>
                    <a:solidFill>
                      <a:srgbClr val="FFFFFF"/>
                    </a:solidFill>
                  </a:tcPr>
                </a:tc>
              </a:tr>
              <a:tr h="502920">
                <a:tc>
                  <a:txBody>
                    <a:bodyPr wrap="square"/>
                    <a:lstStyle/>
                    <a:p>
                      <a:r>
                        <a:rPr sz="1400" b="0">
                          <a:solidFill>
                            <a:srgbClr val="1F2937"/>
                          </a:solidFill>
                        </a:rPr>
                        <a:t>Onde é padrão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C, Java, Python, C#</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static</a:t>
                      </a:r>
                      <a:r>
                        <a:rPr sz="1400" b="0">
                          <a:solidFill>
                            <a:srgbClr val="1F2937"/>
                          </a:solidFill>
                        </a:rPr>
                        <a:t> em C/C++</a:t>
                      </a:r>
                    </a:p>
                  </a:txBody>
                  <a:tcPr marL="91440" marR="91440" marT="36576" marB="36576" anchor="ctr">
                    <a:lnB w="9525">
                      <a:solidFill>
                        <a:srgbClr val="D0D5DD"/>
                      </a:solidFill>
                    </a:lnB>
                    <a:solidFill>
                      <a:srgbClr val="F9FAFB"/>
                    </a:solidFill>
                  </a:tcPr>
                </a:tc>
              </a:tr>
            </a:tbl>
          </a:graphicData>
        </a:graphic>
      </p:graphicFrame>
      <p:sp>
        <p:nvSpPr>
          <p:cNvPr id="7" name="Rounded Rectangle 6"/>
          <p:cNvSpPr/>
          <p:nvPr/>
        </p:nvSpPr>
        <p:spPr>
          <a:xfrm>
            <a:off x="6400800" y="4160520"/>
            <a:ext cx="5239512" cy="19202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noAutofit/>
          </a:bodyPr>
          <a:lstStyle/>
          <a:p>
            <a:pPr algn="l">
              <a:spcAft>
                <a:spcPts val="400"/>
              </a:spcAft>
            </a:pPr>
            <a:r>
              <a:rPr sz="1600" b="1">
                <a:solidFill>
                  <a:srgbClr val="1F2937"/>
                </a:solidFill>
              </a:rPr>
              <a:t>Subprogramas aninhados (p. 375)</a:t>
            </a:r>
          </a:p>
          <a:p>
            <a:pPr algn="l">
              <a:spcAft>
                <a:spcPts val="400"/>
              </a:spcAft>
            </a:pPr>
            <a:r>
              <a:rPr sz="1500" b="0">
                <a:solidFill>
                  <a:srgbClr val="1F2937"/>
                </a:solidFill>
              </a:rPr>
              <a:t>Permitidos em Python, JavaScript, Ruby, Rust e nas linguagens funcionais. Proibidos em C. Java: só classes internas e lambdas.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Passagem de parâmetros: três modelos semânticos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§9.5.1 · p. 376 · Figura 9.1</a:t>
            </a:r>
          </a:p>
        </p:txBody>
      </p:sp>
      <p:sp>
        <p:nvSpPr>
          <p:cNvPr id="4" name="TextBox 3"/>
          <p:cNvSpPr txBox="1"/>
          <p:nvPr/>
        </p:nvSpPr>
        <p:spPr>
          <a:xfrm>
            <a:off x="1097280" y="1463039"/>
            <a:ext cx="3291840" cy="457200"/>
          </a:xfrm>
          <a:prstGeom prst="rect">
            <a:avLst/>
          </a:prstGeom>
          <a:noFill/>
        </p:spPr>
        <p:txBody>
          <a:bodyPr wrap="square" anchor="t" lIns="0" rIns="0" tIns="0" bIns="0">
            <a:noAutofit/>
          </a:bodyPr>
          <a:lstStyle/>
          <a:p>
            <a:pPr algn="ctr">
              <a:spcAft>
                <a:spcPts val="400"/>
              </a:spcAft>
            </a:pPr>
            <a:r>
              <a:rPr sz="1700" b="1">
                <a:solidFill>
                  <a:srgbClr val="1F2937"/>
                </a:solidFill>
                <a:latin typeface="Consolas"/>
              </a:rPr>
              <a:t>Chamador:  sub(a, b, c)</a:t>
            </a:r>
          </a:p>
        </p:txBody>
      </p:sp>
      <p:sp>
        <p:nvSpPr>
          <p:cNvPr id="5" name="TextBox 4"/>
          <p:cNvSpPr txBox="1"/>
          <p:nvPr/>
        </p:nvSpPr>
        <p:spPr>
          <a:xfrm>
            <a:off x="7772400" y="1463039"/>
            <a:ext cx="3291840" cy="457200"/>
          </a:xfrm>
          <a:prstGeom prst="rect">
            <a:avLst/>
          </a:prstGeom>
          <a:noFill/>
        </p:spPr>
        <p:txBody>
          <a:bodyPr wrap="square" anchor="t" lIns="0" rIns="0" tIns="0" bIns="0">
            <a:noAutofit/>
          </a:bodyPr>
          <a:lstStyle/>
          <a:p>
            <a:pPr algn="ctr">
              <a:spcAft>
                <a:spcPts val="400"/>
              </a:spcAft>
            </a:pPr>
            <a:r>
              <a:rPr sz="1700" b="1">
                <a:solidFill>
                  <a:srgbClr val="1F2937"/>
                </a:solidFill>
                <a:latin typeface="Consolas"/>
              </a:rPr>
              <a:t>Chamado:  sub(x, y, z)</a:t>
            </a:r>
          </a:p>
        </p:txBody>
      </p:sp>
      <p:sp>
        <p:nvSpPr>
          <p:cNvPr id="6" name="Rectangle 5"/>
          <p:cNvSpPr/>
          <p:nvPr/>
        </p:nvSpPr>
        <p:spPr>
          <a:xfrm>
            <a:off x="2240280" y="2103120"/>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a</a:t>
            </a:r>
          </a:p>
        </p:txBody>
      </p:sp>
      <p:sp>
        <p:nvSpPr>
          <p:cNvPr id="7" name="Rectangle 6"/>
          <p:cNvSpPr/>
          <p:nvPr/>
        </p:nvSpPr>
        <p:spPr>
          <a:xfrm>
            <a:off x="8915400" y="2103120"/>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x</a:t>
            </a:r>
          </a:p>
        </p:txBody>
      </p:sp>
      <p:cxnSp>
        <p:nvCxnSpPr>
          <p:cNvPr id="8" name="Connector 7"/>
          <p:cNvCxnSpPr/>
          <p:nvPr/>
        </p:nvCxnSpPr>
        <p:spPr>
          <a:xfrm>
            <a:off x="3337560" y="2487168"/>
            <a:ext cx="5486400" cy="0"/>
          </a:xfrm>
          <a:prstGeom prst="line">
            <a:avLst/>
          </a:prstGeom>
          <a:ln w="25400">
            <a:solidFill>
              <a:srgbClr val="0F766E"/>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0" y="2103120"/>
            <a:ext cx="1581912" cy="777240"/>
          </a:xfrm>
          <a:prstGeom prst="rect">
            <a:avLst/>
          </a:prstGeom>
          <a:noFill/>
        </p:spPr>
        <p:txBody>
          <a:bodyPr wrap="square" anchor="ctr" lIns="0" rIns="0" tIns="0" bIns="0">
            <a:noAutofit/>
          </a:bodyPr>
          <a:lstStyle/>
          <a:p>
            <a:pPr algn="l">
              <a:spcAft>
                <a:spcPts val="0"/>
              </a:spcAft>
            </a:pPr>
            <a:r>
              <a:rPr sz="1400" b="1">
                <a:solidFill>
                  <a:srgbClr val="1F2937"/>
                </a:solidFill>
              </a:rPr>
              <a:t>ENTRADA</a:t>
            </a:r>
          </a:p>
          <a:p>
            <a:pPr algn="l">
              <a:spcAft>
                <a:spcPts val="400"/>
              </a:spcAft>
            </a:pPr>
            <a:r>
              <a:rPr sz="1200" b="0">
                <a:solidFill>
                  <a:srgbClr val="667085"/>
                </a:solidFill>
              </a:rPr>
              <a:t>(in): vai na chamada</a:t>
            </a:r>
          </a:p>
        </p:txBody>
      </p:sp>
      <p:sp>
        <p:nvSpPr>
          <p:cNvPr id="10" name="Rectangle 9"/>
          <p:cNvSpPr/>
          <p:nvPr/>
        </p:nvSpPr>
        <p:spPr>
          <a:xfrm>
            <a:off x="2240280" y="3291839"/>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b</a:t>
            </a:r>
          </a:p>
        </p:txBody>
      </p:sp>
      <p:sp>
        <p:nvSpPr>
          <p:cNvPr id="11" name="Rectangle 10"/>
          <p:cNvSpPr/>
          <p:nvPr/>
        </p:nvSpPr>
        <p:spPr>
          <a:xfrm>
            <a:off x="8915400" y="3291839"/>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y</a:t>
            </a:r>
          </a:p>
        </p:txBody>
      </p:sp>
      <p:cxnSp>
        <p:nvCxnSpPr>
          <p:cNvPr id="12" name="Connector 11"/>
          <p:cNvCxnSpPr/>
          <p:nvPr/>
        </p:nvCxnSpPr>
        <p:spPr>
          <a:xfrm flipH="1">
            <a:off x="3337560" y="3675887"/>
            <a:ext cx="5486400" cy="0"/>
          </a:xfrm>
          <a:prstGeom prst="line">
            <a:avLst/>
          </a:prstGeom>
          <a:ln w="25400">
            <a:solidFill>
              <a:srgbClr val="B42318"/>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058400" y="3291839"/>
            <a:ext cx="1581912" cy="777240"/>
          </a:xfrm>
          <a:prstGeom prst="rect">
            <a:avLst/>
          </a:prstGeom>
          <a:noFill/>
        </p:spPr>
        <p:txBody>
          <a:bodyPr wrap="square" anchor="ctr" lIns="0" rIns="0" tIns="0" bIns="0">
            <a:noAutofit/>
          </a:bodyPr>
          <a:lstStyle/>
          <a:p>
            <a:pPr algn="l">
              <a:spcAft>
                <a:spcPts val="0"/>
              </a:spcAft>
            </a:pPr>
            <a:r>
              <a:rPr sz="1400" b="1">
                <a:solidFill>
                  <a:srgbClr val="1F2937"/>
                </a:solidFill>
              </a:rPr>
              <a:t>SAÍDA</a:t>
            </a:r>
          </a:p>
          <a:p>
            <a:pPr algn="l">
              <a:spcAft>
                <a:spcPts val="400"/>
              </a:spcAft>
            </a:pPr>
            <a:r>
              <a:rPr sz="1200" b="0">
                <a:solidFill>
                  <a:srgbClr val="667085"/>
                </a:solidFill>
              </a:rPr>
              <a:t>(out): volta no retorno</a:t>
            </a:r>
          </a:p>
        </p:txBody>
      </p:sp>
      <p:sp>
        <p:nvSpPr>
          <p:cNvPr id="14" name="Rectangle 13"/>
          <p:cNvSpPr/>
          <p:nvPr/>
        </p:nvSpPr>
        <p:spPr>
          <a:xfrm>
            <a:off x="2240280" y="4480560"/>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c</a:t>
            </a:r>
          </a:p>
        </p:txBody>
      </p:sp>
      <p:sp>
        <p:nvSpPr>
          <p:cNvPr id="15" name="Rectangle 14"/>
          <p:cNvSpPr/>
          <p:nvPr/>
        </p:nvSpPr>
        <p:spPr>
          <a:xfrm>
            <a:off x="8915400" y="4480560"/>
            <a:ext cx="1005840" cy="77724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2400" b="1">
                <a:solidFill>
                  <a:srgbClr val="1F2937"/>
                </a:solidFill>
                <a:latin typeface="Consolas"/>
              </a:rPr>
              <a:t>z</a:t>
            </a:r>
          </a:p>
        </p:txBody>
      </p:sp>
      <p:cxnSp>
        <p:nvCxnSpPr>
          <p:cNvPr id="16" name="Connector 15"/>
          <p:cNvCxnSpPr/>
          <p:nvPr/>
        </p:nvCxnSpPr>
        <p:spPr>
          <a:xfrm>
            <a:off x="3337560" y="4736592"/>
            <a:ext cx="5486400" cy="0"/>
          </a:xfrm>
          <a:prstGeom prst="line">
            <a:avLst/>
          </a:prstGeom>
          <a:ln w="25400">
            <a:solidFill>
              <a:srgbClr val="0F766E"/>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337560" y="5029200"/>
            <a:ext cx="5486400" cy="0"/>
          </a:xfrm>
          <a:prstGeom prst="line">
            <a:avLst/>
          </a:prstGeom>
          <a:ln w="25400">
            <a:solidFill>
              <a:srgbClr val="B4231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0" y="4480560"/>
            <a:ext cx="1581912" cy="777240"/>
          </a:xfrm>
          <a:prstGeom prst="rect">
            <a:avLst/>
          </a:prstGeom>
          <a:noFill/>
        </p:spPr>
        <p:txBody>
          <a:bodyPr wrap="square" anchor="ctr" lIns="0" rIns="0" tIns="0" bIns="0">
            <a:noAutofit/>
          </a:bodyPr>
          <a:lstStyle/>
          <a:p>
            <a:pPr algn="l">
              <a:spcAft>
                <a:spcPts val="0"/>
              </a:spcAft>
            </a:pPr>
            <a:r>
              <a:rPr sz="1400" b="1">
                <a:solidFill>
                  <a:srgbClr val="1F2937"/>
                </a:solidFill>
              </a:rPr>
              <a:t>ENTRADA E SAÍDA</a:t>
            </a:r>
          </a:p>
          <a:p>
            <a:pPr algn="l">
              <a:spcAft>
                <a:spcPts val="400"/>
              </a:spcAft>
            </a:pPr>
            <a:r>
              <a:rPr sz="1200" b="0">
                <a:solidFill>
                  <a:srgbClr val="667085"/>
                </a:solidFill>
              </a:rPr>
              <a:t>(inout): vai e volta</a:t>
            </a:r>
          </a:p>
        </p:txBody>
      </p:sp>
      <p:sp>
        <p:nvSpPr>
          <p:cNvPr id="19" name="TextBox 18"/>
          <p:cNvSpPr txBox="1"/>
          <p:nvPr/>
        </p:nvSpPr>
        <p:spPr>
          <a:xfrm>
            <a:off x="548640" y="5532120"/>
            <a:ext cx="11094415" cy="548640"/>
          </a:xfrm>
          <a:prstGeom prst="rect">
            <a:avLst/>
          </a:prstGeom>
          <a:noFill/>
        </p:spPr>
        <p:txBody>
          <a:bodyPr wrap="square" anchor="t" lIns="0" rIns="0" tIns="0" bIns="0">
            <a:noAutofit/>
          </a:bodyPr>
          <a:lstStyle/>
          <a:p>
            <a:pPr algn="l">
              <a:spcAft>
                <a:spcPts val="400"/>
              </a:spcAft>
            </a:pPr>
            <a:r>
              <a:rPr sz="1700" b="0">
                <a:solidFill>
                  <a:srgbClr val="1F2937"/>
                </a:solidFill>
              </a:rPr>
              <a:t>Dois jeitos de transferir: </a:t>
            </a:r>
            <a:r>
              <a:rPr sz="1700" b="1">
                <a:solidFill>
                  <a:srgbClr val="1F2937"/>
                </a:solidFill>
              </a:rPr>
              <a:t>copiar o valor</a:t>
            </a:r>
            <a:r>
              <a:rPr sz="1700" b="0">
                <a:solidFill>
                  <a:srgbClr val="1F2937"/>
                </a:solidFill>
              </a:rPr>
              <a:t> ou passar um </a:t>
            </a:r>
            <a:r>
              <a:rPr sz="1700" b="1">
                <a:solidFill>
                  <a:srgbClr val="1F2937"/>
                </a:solidFill>
              </a:rPr>
              <a:t>caminho de acesso</a:t>
            </a:r>
            <a:r>
              <a:rPr sz="1700" b="0">
                <a:solidFill>
                  <a:srgbClr val="1F2937"/>
                </a:solidFill>
              </a:rPr>
              <a:t> (ponteiro ou referência).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Modelos de implementação da passagem</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§9.5.2 · p. 376-381</a:t>
            </a:r>
          </a:p>
        </p:txBody>
      </p:sp>
      <p:graphicFrame>
        <p:nvGraphicFramePr>
          <p:cNvPr id="4" name="Table 3"/>
          <p:cNvGraphicFramePr>
            <a:graphicFrameLocks noGrp="1"/>
          </p:cNvGraphicFramePr>
          <p:nvPr/>
        </p:nvGraphicFramePr>
        <p:xfrm>
          <a:off x="548640" y="1325880"/>
          <a:ext cx="11091672" cy="3950208"/>
        </p:xfrm>
        <a:graphic>
          <a:graphicData uri="http://schemas.openxmlformats.org/drawingml/2006/table">
            <a:tbl>
              <a:tblPr firstRow="1">
                <a:tableStyleId>{2D5ABB26-0587-4C30-8999-92F81FD0307C}</a:tableStyleId>
              </a:tblPr>
              <a:tblGrid>
                <a:gridCol w="2331720"/>
                <a:gridCol w="1920240"/>
                <a:gridCol w="2743200"/>
                <a:gridCol w="4096512"/>
              </a:tblGrid>
              <a:tr h="658368">
                <a:tc>
                  <a:txBody>
                    <a:bodyPr wrap="square"/>
                    <a:lstStyle/>
                    <a:p>
                      <a:r>
                        <a:rPr sz="1400" b="1">
                          <a:solidFill>
                            <a:srgbClr val="1F2937"/>
                          </a:solidFill>
                        </a:rPr>
                        <a:t>Método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Modo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Como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Vantagem / desvantagem</a:t>
                      </a:r>
                    </a:p>
                  </a:txBody>
                  <a:tcPr marL="91440" marR="91440" marT="36576" marB="36576" anchor="ctr">
                    <a:lnB w="9525">
                      <a:solidFill>
                        <a:srgbClr val="D0D5DD"/>
                      </a:solidFill>
                    </a:lnB>
                    <a:solidFill>
                      <a:srgbClr val="E6F4F1"/>
                    </a:solidFill>
                  </a:tcPr>
                </a:tc>
              </a:tr>
              <a:tr h="658368">
                <a:tc>
                  <a:txBody>
                    <a:bodyPr wrap="square"/>
                    <a:lstStyle/>
                    <a:p>
                      <a:r>
                        <a:rPr sz="1400" b="1">
                          <a:solidFill>
                            <a:srgbClr val="1F2937"/>
                          </a:solidFill>
                        </a:rPr>
                        <a:t>Valor</a:t>
                      </a:r>
                      <a:r>
                        <a:rPr sz="1400" b="0">
                          <a:solidFill>
                            <a:srgbClr val="1F2937"/>
                          </a:solidFill>
                        </a:rPr>
                        <a:t> (p. 377)</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entrada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copia o valor</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simples e seguro / copiar dados grandes custa caro</a:t>
                      </a:r>
                    </a:p>
                  </a:txBody>
                  <a:tcPr marL="91440" marR="91440" marT="36576" marB="36576" anchor="ctr">
                    <a:lnB w="9525">
                      <a:solidFill>
                        <a:srgbClr val="D0D5DD"/>
                      </a:solidFill>
                    </a:lnB>
                    <a:solidFill>
                      <a:srgbClr val="FFFFFF"/>
                    </a:solidFill>
                  </a:tcPr>
                </a:tc>
              </a:tr>
              <a:tr h="658368">
                <a:tc>
                  <a:txBody>
                    <a:bodyPr wrap="square"/>
                    <a:lstStyle/>
                    <a:p>
                      <a:r>
                        <a:rPr sz="1400" b="1">
                          <a:solidFill>
                            <a:srgbClr val="1F2937"/>
                          </a:solidFill>
                        </a:rPr>
                        <a:t>Resultado</a:t>
                      </a:r>
                      <a:r>
                        <a:rPr sz="1400" b="0">
                          <a:solidFill>
                            <a:srgbClr val="1F2937"/>
                          </a:solidFill>
                        </a:rPr>
                        <a:t> (p. 378)</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saída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copia de volta no fim</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sem apelidos / </a:t>
                      </a:r>
                      <a:r>
                        <a:rPr sz="1288" b="0">
                          <a:solidFill>
                            <a:srgbClr val="1F2937"/>
                          </a:solidFill>
                          <a:latin typeface="Consolas"/>
                        </a:rPr>
                        <a:t>sub(p1, p1)</a:t>
                      </a:r>
                      <a:r>
                        <a:rPr sz="1400" b="0">
                          <a:solidFill>
                            <a:srgbClr val="1F2937"/>
                          </a:solidFill>
                        </a:rPr>
                        <a:t>: qual cópia vence?</a:t>
                      </a:r>
                    </a:p>
                  </a:txBody>
                  <a:tcPr marL="91440" marR="91440" marT="36576" marB="36576" anchor="ctr">
                    <a:lnB w="9525">
                      <a:solidFill>
                        <a:srgbClr val="D0D5DD"/>
                      </a:solidFill>
                    </a:lnB>
                    <a:solidFill>
                      <a:srgbClr val="F9FAFB"/>
                    </a:solidFill>
                  </a:tcPr>
                </a:tc>
              </a:tr>
              <a:tr h="658368">
                <a:tc>
                  <a:txBody>
                    <a:bodyPr wrap="square"/>
                    <a:lstStyle/>
                    <a:p>
                      <a:r>
                        <a:rPr sz="1400" b="1">
                          <a:solidFill>
                            <a:srgbClr val="1F2937"/>
                          </a:solidFill>
                        </a:rPr>
                        <a:t>Valor-resultado</a:t>
                      </a:r>
                      <a:r>
                        <a:rPr sz="1400" b="0">
                          <a:solidFill>
                            <a:srgbClr val="1F2937"/>
                          </a:solidFill>
                        </a:rPr>
                        <a:t> (p. 378)</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entrada e saída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copia na ida e na volta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sem apelidos / custo de duas cópias</a:t>
                      </a:r>
                    </a:p>
                  </a:txBody>
                  <a:tcPr marL="91440" marR="91440" marT="36576" marB="36576" anchor="ctr">
                    <a:lnB w="9525">
                      <a:solidFill>
                        <a:srgbClr val="D0D5DD"/>
                      </a:solidFill>
                    </a:lnB>
                    <a:solidFill>
                      <a:srgbClr val="FFFFFF"/>
                    </a:solidFill>
                  </a:tcPr>
                </a:tc>
              </a:tr>
              <a:tr h="658368">
                <a:tc>
                  <a:txBody>
                    <a:bodyPr wrap="square"/>
                    <a:lstStyle/>
                    <a:p>
                      <a:r>
                        <a:rPr sz="1400" b="1">
                          <a:solidFill>
                            <a:srgbClr val="1F2937"/>
                          </a:solidFill>
                        </a:rPr>
                        <a:t>Referência</a:t>
                      </a:r>
                      <a:r>
                        <a:rPr sz="1400" b="0">
                          <a:solidFill>
                            <a:srgbClr val="1F2937"/>
                          </a:solidFill>
                        </a:rPr>
                        <a:t> (p. 379)</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entrada e saída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passa o endereço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eficiente / </a:t>
                      </a:r>
                      <a:r>
                        <a:rPr sz="1400" b="1">
                          <a:solidFill>
                            <a:srgbClr val="1F2937"/>
                          </a:solidFill>
                        </a:rPr>
                        <a:t>apelidos</a:t>
                      </a:r>
                      <a:r>
                        <a:rPr sz="1400" b="0">
                          <a:solidFill>
                            <a:srgbClr val="1F2937"/>
                          </a:solidFill>
                        </a:rPr>
                        <a:t> e alterações acidentais</a:t>
                      </a:r>
                    </a:p>
                  </a:txBody>
                  <a:tcPr marL="91440" marR="91440" marT="36576" marB="36576" anchor="ctr">
                    <a:lnB w="9525">
                      <a:solidFill>
                        <a:srgbClr val="D0D5DD"/>
                      </a:solidFill>
                    </a:lnB>
                    <a:solidFill>
                      <a:srgbClr val="F9FAFB"/>
                    </a:solidFill>
                  </a:tcPr>
                </a:tc>
              </a:tr>
              <a:tr h="658368">
                <a:tc>
                  <a:txBody>
                    <a:bodyPr wrap="square"/>
                    <a:lstStyle/>
                    <a:p>
                      <a:r>
                        <a:rPr sz="1400" b="1">
                          <a:solidFill>
                            <a:srgbClr val="1F2937"/>
                          </a:solidFill>
                        </a:rPr>
                        <a:t>Nome</a:t>
                      </a:r>
                      <a:r>
                        <a:rPr sz="1400" b="0">
                          <a:solidFill>
                            <a:srgbClr val="1F2937"/>
                          </a:solidFill>
                        </a:rPr>
                        <a:t> (p. 380)</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entrada e saída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reavalia o texto a cada uso</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flexível / complexa e lenta (ALGOL 60)</a:t>
                      </a:r>
                    </a:p>
                  </a:txBody>
                  <a:tcPr marL="91440" marR="91440" marT="36576" marB="36576" anchor="ctr">
                    <a:lnB w="9525">
                      <a:solidFill>
                        <a:srgbClr val="D0D5DD"/>
                      </a:solidFill>
                    </a:lnB>
                    <a:solidFill>
                      <a:srgbClr val="FFFFFF"/>
                    </a:solidFill>
                  </a:tcPr>
                </a:tc>
              </a:tr>
            </a:tbl>
          </a:graphicData>
        </a:graphic>
      </p:graphicFrame>
      <p:sp>
        <p:nvSpPr>
          <p:cNvPr id="5" name="TextBox 4"/>
          <p:cNvSpPr txBox="1"/>
          <p:nvPr/>
        </p:nvSpPr>
        <p:spPr>
          <a:xfrm>
            <a:off x="548640" y="5440680"/>
            <a:ext cx="11094415" cy="640080"/>
          </a:xfrm>
          <a:prstGeom prst="rect">
            <a:avLst/>
          </a:prstGeom>
          <a:noFill/>
        </p:spPr>
        <p:txBody>
          <a:bodyPr wrap="square" anchor="t" lIns="0" rIns="0" tIns="0" bIns="0">
            <a:noAutofit/>
          </a:bodyPr>
          <a:lstStyle/>
          <a:p>
            <a:pPr algn="l">
              <a:spcAft>
                <a:spcPts val="400"/>
              </a:spcAft>
            </a:pPr>
            <a:r>
              <a:rPr sz="1600" b="0">
                <a:solidFill>
                  <a:srgbClr val="667085"/>
                </a:solidFill>
              </a:rPr>
              <a:t>Na prática, quase tudo passa pela </a:t>
            </a:r>
            <a:r>
              <a:rPr sz="1600" b="1">
                <a:solidFill>
                  <a:srgbClr val="667085"/>
                </a:solidFill>
              </a:rPr>
              <a:t>pilha de execução</a:t>
            </a:r>
            <a:r>
              <a:rPr sz="1600" b="0">
                <a:solidFill>
                  <a:srgbClr val="667085"/>
                </a:solidFill>
              </a:rPr>
              <a:t> (p. 381): por valor, empilha-se o valor; por referência, o endereço.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 e C++: valor, ponteiros e referências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§9.5.4 · p. 382-383 · exemplos/03_passagem</a:t>
            </a:r>
          </a:p>
        </p:txBody>
      </p:sp>
      <p:sp>
        <p:nvSpPr>
          <p:cNvPr id="4" name="TextBox 3"/>
          <p:cNvSpPr txBox="1"/>
          <p:nvPr/>
        </p:nvSpPr>
        <p:spPr>
          <a:xfrm>
            <a:off x="548640" y="1325880"/>
            <a:ext cx="548640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C · sempre por valor (p. 382)</a:t>
            </a:r>
          </a:p>
        </p:txBody>
      </p:sp>
      <p:sp>
        <p:nvSpPr>
          <p:cNvPr id="5" name="Rectangle 4"/>
          <p:cNvSpPr/>
          <p:nvPr/>
        </p:nvSpPr>
        <p:spPr>
          <a:xfrm>
            <a:off x="548640" y="1673352"/>
            <a:ext cx="5486400" cy="34015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void troca_valor(int a, int b) {</a:t>
            </a:r>
          </a:p>
          <a:p>
            <a:pPr algn="l">
              <a:spcAft>
                <a:spcPts val="0"/>
              </a:spcAft>
            </a:pPr>
            <a:r>
              <a:rPr sz="1450" i="0">
                <a:solidFill>
                  <a:srgbClr val="111827"/>
                </a:solidFill>
                <a:latin typeface="Consolas"/>
              </a:rPr>
              <a:t>    int t = a; a = b; b = t;   </a:t>
            </a:r>
            <a:r>
              <a:rPr sz="1450" i="0">
                <a:solidFill>
                  <a:srgbClr val="0F766E"/>
                </a:solidFill>
                <a:latin typeface="Consolas"/>
              </a:rPr>
              <a:t>// só as cópias</a:t>
            </a:r>
          </a:p>
          <a:p>
            <a:pPr algn="l">
              <a:spcAft>
                <a:spcPts val="0"/>
              </a:spcAft>
            </a:pPr>
            <a:r>
              <a:rPr sz="1450" i="0">
                <a:solidFill>
                  <a:srgbClr val="111827"/>
                </a:solidFill>
                <a:latin typeface="Consolas"/>
              </a:rPr>
              <a:t>}</a:t>
            </a:r>
          </a:p>
          <a:p>
            <a:pPr algn="l">
              <a:spcAft>
                <a:spcPts val="0"/>
              </a:spcAft>
            </a:pPr>
            <a:r>
              <a:rPr sz="1450" i="0">
                <a:solidFill>
                  <a:srgbClr val="111827"/>
                </a:solidFill>
                <a:latin typeface="Consolas"/>
              </a:rPr>
              <a:t>void troca_ponteiro(int *a, int *b) {</a:t>
            </a:r>
          </a:p>
          <a:p>
            <a:pPr algn="l">
              <a:spcAft>
                <a:spcPts val="0"/>
              </a:spcAft>
            </a:pPr>
            <a:r>
              <a:rPr sz="1450" i="0">
                <a:solidFill>
                  <a:srgbClr val="111827"/>
                </a:solidFill>
                <a:latin typeface="Consolas"/>
              </a:rPr>
              <a:t>    int t = *a; *a = *b; *b = t;</a:t>
            </a:r>
          </a:p>
          <a:p>
            <a:pPr algn="l">
              <a:spcAft>
                <a:spcPts val="0"/>
              </a:spcAft>
            </a:pPr>
            <a:r>
              <a:rPr sz="1450" i="0">
                <a:solidFill>
                  <a:srgbClr val="111827"/>
                </a:solidFill>
                <a:latin typeface="Consolas"/>
              </a:rPr>
              <a:t>}</a:t>
            </a:r>
          </a:p>
          <a:p>
            <a:pPr algn="l">
              <a:spcAft>
                <a:spcPts val="0"/>
              </a:spcAft>
            </a:pPr>
            <a:r>
              <a:rPr sz="1450" i="0">
                <a:solidFill>
                  <a:srgbClr val="111827"/>
                </a:solidFill>
                <a:latin typeface="Consolas"/>
              </a:rPr>
              <a:t>troca_valor(x, y);       </a:t>
            </a:r>
            <a:r>
              <a:rPr sz="1450" i="0">
                <a:solidFill>
                  <a:srgbClr val="0F766E"/>
                </a:solidFill>
                <a:latin typeface="Consolas"/>
              </a:rPr>
              <a:t>// x=1 y=2</a:t>
            </a:r>
          </a:p>
          <a:p>
            <a:pPr algn="l">
              <a:spcAft>
                <a:spcPts val="0"/>
              </a:spcAft>
            </a:pPr>
            <a:r>
              <a:rPr sz="1450" i="0">
                <a:solidFill>
                  <a:srgbClr val="111827"/>
                </a:solidFill>
                <a:latin typeface="Consolas"/>
              </a:rPr>
              <a:t>troca_ponteiro(&amp;x, &amp;y);  </a:t>
            </a:r>
            <a:r>
              <a:rPr sz="1450" i="0">
                <a:solidFill>
                  <a:srgbClr val="0F766E"/>
                </a:solidFill>
                <a:latin typeface="Consolas"/>
              </a:rPr>
              <a:t>// x=2 y=1  (o &amp; aparece)</a:t>
            </a:r>
          </a:p>
        </p:txBody>
      </p:sp>
      <p:sp>
        <p:nvSpPr>
          <p:cNvPr id="6" name="TextBox 5"/>
          <p:cNvSpPr txBox="1"/>
          <p:nvPr/>
        </p:nvSpPr>
        <p:spPr>
          <a:xfrm>
            <a:off x="6199632" y="1325880"/>
            <a:ext cx="54406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C++ · parâmetros de referência (p. 382)</a:t>
            </a:r>
          </a:p>
        </p:txBody>
      </p:sp>
      <p:sp>
        <p:nvSpPr>
          <p:cNvPr id="7" name="Rectangle 6"/>
          <p:cNvSpPr/>
          <p:nvPr/>
        </p:nvSpPr>
        <p:spPr>
          <a:xfrm>
            <a:off x="6199632" y="1673352"/>
            <a:ext cx="5440680" cy="34015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void troca(int &amp;a, int &amp;b) {     </a:t>
            </a:r>
            <a:r>
              <a:rPr sz="1500" i="0">
                <a:solidFill>
                  <a:srgbClr val="0F766E"/>
                </a:solidFill>
                <a:latin typeface="Consolas"/>
              </a:rPr>
              <a:t>// referência</a:t>
            </a:r>
          </a:p>
          <a:p>
            <a:pPr algn="l">
              <a:spcAft>
                <a:spcPts val="0"/>
              </a:spcAft>
            </a:pPr>
            <a:r>
              <a:rPr sz="1500" i="0">
                <a:solidFill>
                  <a:srgbClr val="111827"/>
                </a:solidFill>
                <a:latin typeface="Consolas"/>
              </a:rPr>
              <a:t>    int t = a; a = b; b = t;</a:t>
            </a:r>
          </a:p>
          <a:p>
            <a:pPr algn="l">
              <a:spcAft>
                <a:spcPts val="0"/>
              </a:spcAft>
            </a:pPr>
            <a:r>
              <a:rPr sz="1500" i="0">
                <a:solidFill>
                  <a:srgbClr val="111827"/>
                </a:solidFill>
                <a:latin typeface="Consolas"/>
              </a:rPr>
              <a:t>}</a:t>
            </a:r>
          </a:p>
          <a:p>
            <a:pPr algn="l">
              <a:spcAft>
                <a:spcPts val="0"/>
              </a:spcAft>
            </a:pPr>
            <a:r>
              <a:rPr sz="1500" i="0">
                <a:solidFill>
                  <a:srgbClr val="111827"/>
                </a:solidFill>
                <a:latin typeface="Consolas"/>
              </a:rPr>
              <a:t>int tamanho(const std::string &amp;s) {</a:t>
            </a:r>
          </a:p>
          <a:p>
            <a:pPr algn="l">
              <a:spcAft>
                <a:spcPts val="0"/>
              </a:spcAft>
            </a:pPr>
            <a:r>
              <a:rPr sz="1500" i="0">
                <a:solidFill>
                  <a:srgbClr val="111827"/>
                </a:solidFill>
                <a:latin typeface="Consolas"/>
              </a:rPr>
              <a:t>    return s.size();   </a:t>
            </a:r>
            <a:r>
              <a:rPr sz="1500" i="0">
                <a:solidFill>
                  <a:srgbClr val="0F766E"/>
                </a:solidFill>
                <a:latin typeface="Consolas"/>
              </a:rPr>
              <a:t>// sem cópia, sem alterar</a:t>
            </a:r>
          </a:p>
          <a:p>
            <a:pPr algn="l">
              <a:spcAft>
                <a:spcPts val="0"/>
              </a:spcAft>
            </a:pPr>
            <a:r>
              <a:rPr sz="1500" i="0">
                <a:solidFill>
                  <a:srgbClr val="111827"/>
                </a:solidFill>
                <a:latin typeface="Consolas"/>
              </a:rPr>
              <a:t>}</a:t>
            </a:r>
          </a:p>
          <a:p>
            <a:pPr algn="l">
              <a:spcAft>
                <a:spcPts val="0"/>
              </a:spcAft>
            </a:pPr>
            <a:r>
              <a:rPr sz="1500" i="0">
                <a:solidFill>
                  <a:srgbClr val="111827"/>
                </a:solidFill>
                <a:latin typeface="Consolas"/>
              </a:rPr>
              <a:t>troca(x, y);   </a:t>
            </a:r>
            <a:r>
              <a:rPr sz="1500" i="0">
                <a:solidFill>
                  <a:srgbClr val="0F766E"/>
                </a:solidFill>
                <a:latin typeface="Consolas"/>
              </a:rPr>
              <a:t>// x=2 y=1: a chamada não</a:t>
            </a:r>
          </a:p>
          <a:p>
            <a:pPr algn="l">
              <a:spcAft>
                <a:spcPts val="0"/>
              </a:spcAft>
            </a:pPr>
            <a:r>
              <a:rPr sz="1500" i="0">
                <a:solidFill>
                  <a:srgbClr val="111827"/>
                </a:solidFill>
                <a:latin typeface="Consolas"/>
              </a:rPr>
              <a:t>               </a:t>
            </a:r>
            <a:r>
              <a:rPr sz="1500" i="0">
                <a:solidFill>
                  <a:srgbClr val="0F766E"/>
                </a:solidFill>
                <a:latin typeface="Consolas"/>
              </a:rPr>
              <a:t>// mostra que x e y mudam!</a:t>
            </a:r>
          </a:p>
        </p:txBody>
      </p:sp>
      <p:sp>
        <p:nvSpPr>
          <p:cNvPr id="8" name="Rounded Rectangle 7"/>
          <p:cNvSpPr/>
          <p:nvPr/>
        </p:nvSpPr>
        <p:spPr>
          <a:xfrm>
            <a:off x="548640" y="5257800"/>
            <a:ext cx="11094415" cy="822960"/>
          </a:xfrm>
          <a:prstGeom prst="roundRect">
            <a:avLst>
              <a:gd name="adj" fmla="val 7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400"/>
              </a:spcAft>
            </a:pPr>
            <a:r>
              <a:rPr sz="1600" b="0">
                <a:solidFill>
                  <a:srgbClr val="1F2937"/>
                </a:solidFill>
              </a:rPr>
              <a:t>Exemplo do livro (p. 382): </a:t>
            </a:r>
            <a:r>
              <a:rPr sz="1472" b="0">
                <a:solidFill>
                  <a:srgbClr val="1F2937"/>
                </a:solidFill>
                <a:latin typeface="Consolas"/>
              </a:rPr>
              <a:t>void fun(const int &amp;p1, int p2, int &amp;p3)</a:t>
            </a:r>
            <a:r>
              <a:rPr sz="1600" b="0">
                <a:solidFill>
                  <a:srgbClr val="1F2937"/>
                </a:solidFill>
              </a:rPr>
              <a:t>: p1 por referência </a:t>
            </a:r>
            <a:r>
              <a:rPr sz="1600" b="1">
                <a:solidFill>
                  <a:srgbClr val="1F2937"/>
                </a:solidFill>
              </a:rPr>
              <a:t>constante</a:t>
            </a:r>
            <a:r>
              <a:rPr sz="1600" b="0">
                <a:solidFill>
                  <a:srgbClr val="1F2937"/>
                </a:solidFill>
              </a:rPr>
              <a:t>, p2 por valor, p3 por referência.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Java: tudo é passado por valor</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§9.5.4 · p. 383 · exemplos/03_passagem/Troca.java</a:t>
            </a:r>
          </a:p>
        </p:txBody>
      </p:sp>
      <p:sp>
        <p:nvSpPr>
          <p:cNvPr id="4" name="TextBox 3"/>
          <p:cNvSpPr txBox="1"/>
          <p:nvPr/>
        </p:nvSpPr>
        <p:spPr>
          <a:xfrm>
            <a:off x="548640" y="1325880"/>
            <a:ext cx="649224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 · Troca.java</a:t>
            </a:r>
          </a:p>
        </p:txBody>
      </p:sp>
      <p:sp>
        <p:nvSpPr>
          <p:cNvPr id="5" name="Rectangle 4"/>
          <p:cNvSpPr/>
          <p:nvPr/>
        </p:nvSpPr>
        <p:spPr>
          <a:xfrm>
            <a:off x="548640" y="1673352"/>
            <a:ext cx="6492240" cy="32186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static void troca(int a, int b) { int t = a; a = b; b = t; }</a:t>
            </a:r>
          </a:p>
          <a:p>
            <a:pPr algn="l">
              <a:spcAft>
                <a:spcPts val="0"/>
              </a:spcAft>
            </a:pPr>
            <a:r>
              <a:rPr sz="1450" i="0">
                <a:solidFill>
                  <a:srgbClr val="111827"/>
                </a:solidFill>
                <a:latin typeface="Consolas"/>
              </a:rPr>
              <a:t>static void altera(Ponto p)    { p.x = 99; }</a:t>
            </a:r>
          </a:p>
          <a:p>
            <a:pPr algn="l">
              <a:spcAft>
                <a:spcPts val="0"/>
              </a:spcAft>
            </a:pPr>
            <a:r>
              <a:rPr sz="1450" i="0">
                <a:solidFill>
                  <a:srgbClr val="111827"/>
                </a:solidFill>
                <a:latin typeface="Consolas"/>
              </a:rPr>
              <a:t>static void reatribui(Ponto p) { p = new Ponto(-1); }</a:t>
            </a:r>
          </a:p>
          <a:p>
            <a:pPr algn="l">
              <a:spcAft>
                <a:spcPts val="0"/>
              </a:spcAft>
            </a:pPr>
            <a:r>
              <a:rPr sz="1450">
                <a:latin typeface="Consolas"/>
              </a:rPr>
              <a:t/>
            </a:r>
          </a:p>
          <a:p>
            <a:pPr algn="l">
              <a:spcAft>
                <a:spcPts val="0"/>
              </a:spcAft>
            </a:pPr>
            <a:r>
              <a:rPr sz="1450" i="0">
                <a:solidFill>
                  <a:srgbClr val="111827"/>
                </a:solidFill>
                <a:latin typeface="Consolas"/>
              </a:rPr>
              <a:t>troca(x, y);       </a:t>
            </a:r>
            <a:r>
              <a:rPr sz="1450" i="0">
                <a:solidFill>
                  <a:srgbClr val="0F766E"/>
                </a:solidFill>
                <a:latin typeface="Consolas"/>
              </a:rPr>
              <a:t>// x=1 y=2: troca só as cópias</a:t>
            </a:r>
          </a:p>
          <a:p>
            <a:pPr algn="l">
              <a:spcAft>
                <a:spcPts val="0"/>
              </a:spcAft>
            </a:pPr>
            <a:r>
              <a:rPr sz="1450" i="0">
                <a:solidFill>
                  <a:srgbClr val="111827"/>
                </a:solidFill>
                <a:latin typeface="Consolas"/>
              </a:rPr>
              <a:t>altera(p);         </a:t>
            </a:r>
            <a:r>
              <a:rPr sz="1450" i="0">
                <a:solidFill>
                  <a:srgbClr val="0F766E"/>
                </a:solidFill>
                <a:latin typeface="Consolas"/>
              </a:rPr>
              <a:t>// p.x = 99: o OBJETO é compartilhado</a:t>
            </a:r>
          </a:p>
          <a:p>
            <a:pPr algn="l">
              <a:spcAft>
                <a:spcPts val="0"/>
              </a:spcAft>
            </a:pPr>
            <a:r>
              <a:rPr sz="1450" i="0">
                <a:solidFill>
                  <a:srgbClr val="111827"/>
                </a:solidFill>
                <a:latin typeface="Consolas"/>
              </a:rPr>
              <a:t>reatribui(p);      </a:t>
            </a:r>
            <a:r>
              <a:rPr sz="1450" i="0">
                <a:solidFill>
                  <a:srgbClr val="0F766E"/>
                </a:solidFill>
                <a:latin typeface="Consolas"/>
              </a:rPr>
              <a:t>// p.x continua 99: a referência</a:t>
            </a:r>
          </a:p>
          <a:p>
            <a:pPr algn="l">
              <a:spcAft>
                <a:spcPts val="0"/>
              </a:spcAft>
            </a:pPr>
            <a:r>
              <a:rPr sz="1450" i="0">
                <a:solidFill>
                  <a:srgbClr val="111827"/>
                </a:solidFill>
                <a:latin typeface="Consolas"/>
              </a:rPr>
              <a:t>                   </a:t>
            </a:r>
            <a:r>
              <a:rPr sz="1450" i="0">
                <a:solidFill>
                  <a:srgbClr val="0F766E"/>
                </a:solidFill>
                <a:latin typeface="Consolas"/>
              </a:rPr>
              <a:t>// do chamador não muda</a:t>
            </a:r>
          </a:p>
        </p:txBody>
      </p:sp>
      <p:sp>
        <p:nvSpPr>
          <p:cNvPr id="6" name="Rounded Rectangle 5"/>
          <p:cNvSpPr/>
          <p:nvPr/>
        </p:nvSpPr>
        <p:spPr>
          <a:xfrm>
            <a:off x="7269480" y="1325880"/>
            <a:ext cx="4370832" cy="11887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Primitivos</a:t>
            </a:r>
          </a:p>
          <a:p>
            <a:pPr algn="l">
              <a:spcAft>
                <a:spcPts val="400"/>
              </a:spcAft>
            </a:pPr>
            <a:r>
              <a:rPr sz="1400" b="0">
                <a:solidFill>
                  <a:srgbClr val="1F2937"/>
                </a:solidFill>
              </a:rPr>
              <a:t>a cópia do valor: o chamador </a:t>
            </a:r>
            <a:r>
              <a:rPr sz="1400" b="1">
                <a:solidFill>
                  <a:srgbClr val="1F2937"/>
                </a:solidFill>
              </a:rPr>
              <a:t>nunca</a:t>
            </a:r>
            <a:r>
              <a:rPr sz="1400" b="0">
                <a:solidFill>
                  <a:srgbClr val="1F2937"/>
                </a:solidFill>
              </a:rPr>
              <a:t> vê a alteração</a:t>
            </a:r>
          </a:p>
        </p:txBody>
      </p:sp>
      <p:sp>
        <p:nvSpPr>
          <p:cNvPr id="7" name="Rounded Rectangle 6"/>
          <p:cNvSpPr/>
          <p:nvPr/>
        </p:nvSpPr>
        <p:spPr>
          <a:xfrm>
            <a:off x="7269480" y="2651760"/>
            <a:ext cx="4370832" cy="11887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Objetos</a:t>
            </a:r>
          </a:p>
          <a:p>
            <a:pPr algn="l">
              <a:spcAft>
                <a:spcPts val="400"/>
              </a:spcAft>
            </a:pPr>
            <a:r>
              <a:rPr sz="1400" b="0">
                <a:solidFill>
                  <a:srgbClr val="1F2937"/>
                </a:solidFill>
              </a:rPr>
              <a:t>a cópia da </a:t>
            </a:r>
            <a:r>
              <a:rPr sz="1400" b="1">
                <a:solidFill>
                  <a:srgbClr val="1F2937"/>
                </a:solidFill>
              </a:rPr>
              <a:t>referência</a:t>
            </a:r>
            <a:r>
              <a:rPr sz="1400" b="0">
                <a:solidFill>
                  <a:srgbClr val="1F2937"/>
                </a:solidFill>
              </a:rPr>
              <a:t>: dá para alterar o objeto, mas não trocar qual objeto o chamador vê</a:t>
            </a:r>
          </a:p>
        </p:txBody>
      </p:sp>
      <p:sp>
        <p:nvSpPr>
          <p:cNvPr id="8" name="Rounded Rectangle 7"/>
          <p:cNvSpPr/>
          <p:nvPr/>
        </p:nvSpPr>
        <p:spPr>
          <a:xfrm>
            <a:off x="7269480" y="3977639"/>
            <a:ext cx="4370832" cy="11887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Precisa "devolver" um int?</a:t>
            </a:r>
          </a:p>
          <a:p>
            <a:pPr algn="l">
              <a:spcAft>
                <a:spcPts val="400"/>
              </a:spcAft>
            </a:pPr>
            <a:r>
              <a:rPr sz="1400" b="0">
                <a:solidFill>
                  <a:srgbClr val="1F2937"/>
                </a:solidFill>
              </a:rPr>
              <a:t>retorne o valor ou use um objeto que o contenha</a:t>
            </a:r>
          </a:p>
        </p:txBody>
      </p:sp>
      <p:sp>
        <p:nvSpPr>
          <p:cNvPr id="9" name="Rounded Rectangle 8"/>
          <p:cNvSpPr/>
          <p:nvPr/>
        </p:nvSpPr>
        <p:spPr>
          <a:xfrm>
            <a:off x="548640" y="5074920"/>
            <a:ext cx="6492240" cy="1005840"/>
          </a:xfrm>
          <a:prstGeom prst="roundRect">
            <a:avLst>
              <a:gd name="adj" fmla="val 7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400"/>
              </a:spcAft>
            </a:pPr>
            <a:r>
              <a:rPr sz="1600" b="0">
                <a:solidFill>
                  <a:srgbClr val="1F2937"/>
                </a:solidFill>
              </a:rPr>
              <a:t>Sebesta (p. 383): os parâmetros de objeto são, </a:t>
            </a:r>
            <a:r>
              <a:rPr sz="1600" b="1">
                <a:solidFill>
                  <a:srgbClr val="1F2937"/>
                </a:solidFill>
              </a:rPr>
              <a:t>na prática</a:t>
            </a:r>
            <a:r>
              <a:rPr sz="1600" b="0">
                <a:solidFill>
                  <a:srgbClr val="1F2937"/>
                </a:solidFill>
              </a:rPr>
              <a:t>, passados por referência, embora o mecanismo seja passagem por valor.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 C#, Go e Rust</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§9.5.4 · p. 383-384 · exemplos/03_passagem</a:t>
            </a:r>
          </a:p>
        </p:txBody>
      </p:sp>
      <p:sp>
        <p:nvSpPr>
          <p:cNvPr id="4" name="TextBox 3"/>
          <p:cNvSpPr txBox="1"/>
          <p:nvPr/>
        </p:nvSpPr>
        <p:spPr>
          <a:xfrm>
            <a:off x="548640" y="1325880"/>
            <a:ext cx="548640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Python · passagem por atribuição (p. 384)</a:t>
            </a:r>
          </a:p>
        </p:txBody>
      </p:sp>
      <p:sp>
        <p:nvSpPr>
          <p:cNvPr id="5" name="Rectangle 4"/>
          <p:cNvSpPr/>
          <p:nvPr/>
        </p:nvSpPr>
        <p:spPr>
          <a:xfrm>
            <a:off x="548640" y="1673352"/>
            <a:ext cx="5486400" cy="32186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def altera_lista(lista):</a:t>
            </a:r>
          </a:p>
          <a:p>
            <a:pPr algn="l">
              <a:spcAft>
                <a:spcPts val="0"/>
              </a:spcAft>
            </a:pPr>
            <a:r>
              <a:rPr sz="1500" i="0">
                <a:solidFill>
                  <a:srgbClr val="111827"/>
                </a:solidFill>
                <a:latin typeface="Consolas"/>
              </a:rPr>
              <a:t>    lista.append(4)      </a:t>
            </a:r>
            <a:r>
              <a:rPr sz="1500" i="0">
                <a:solidFill>
                  <a:srgbClr val="0F766E"/>
                </a:solidFill>
                <a:latin typeface="Consolas"/>
              </a:rPr>
              <a:t># o chamador vê</a:t>
            </a:r>
          </a:p>
          <a:p>
            <a:pPr algn="l">
              <a:spcAft>
                <a:spcPts val="0"/>
              </a:spcAft>
            </a:pPr>
            <a:r>
              <a:rPr sz="1500" i="0">
                <a:solidFill>
                  <a:srgbClr val="111827"/>
                </a:solidFill>
                <a:latin typeface="Consolas"/>
              </a:rPr>
              <a:t>def reatribui_lista(lista):</a:t>
            </a:r>
          </a:p>
          <a:p>
            <a:pPr algn="l">
              <a:spcAft>
                <a:spcPts val="0"/>
              </a:spcAft>
            </a:pPr>
            <a:r>
              <a:rPr sz="1500" i="0">
                <a:solidFill>
                  <a:srgbClr val="111827"/>
                </a:solidFill>
                <a:latin typeface="Consolas"/>
              </a:rPr>
              <a:t>    lista = [0, 0, 0]    </a:t>
            </a:r>
            <a:r>
              <a:rPr sz="1500" i="0">
                <a:solidFill>
                  <a:srgbClr val="0F766E"/>
                </a:solidFill>
                <a:latin typeface="Consolas"/>
              </a:rPr>
              <a:t># só o nome local muda</a:t>
            </a:r>
          </a:p>
          <a:p>
            <a:pPr algn="l">
              <a:spcAft>
                <a:spcPts val="0"/>
              </a:spcAft>
            </a:pPr>
            <a:r>
              <a:rPr sz="1500" i="0">
                <a:solidFill>
                  <a:srgbClr val="111827"/>
                </a:solidFill>
                <a:latin typeface="Consolas"/>
              </a:rPr>
              <a:t>def incrementa(n):</a:t>
            </a:r>
          </a:p>
          <a:p>
            <a:pPr algn="l">
              <a:spcAft>
                <a:spcPts val="0"/>
              </a:spcAft>
            </a:pPr>
            <a:r>
              <a:rPr sz="1500" i="0">
                <a:solidFill>
                  <a:srgbClr val="111827"/>
                </a:solidFill>
                <a:latin typeface="Consolas"/>
              </a:rPr>
              <a:t>    n = n + 1            </a:t>
            </a:r>
            <a:r>
              <a:rPr sz="1500" i="0">
                <a:solidFill>
                  <a:srgbClr val="0F766E"/>
                </a:solidFill>
                <a:latin typeface="Consolas"/>
              </a:rPr>
              <a:t># int é imutável</a:t>
            </a:r>
          </a:p>
          <a:p>
            <a:pPr algn="l">
              <a:spcAft>
                <a:spcPts val="0"/>
              </a:spcAft>
            </a:pPr>
            <a:r>
              <a:rPr sz="1500">
                <a:latin typeface="Consolas"/>
              </a:rPr>
              <a:t/>
            </a:r>
          </a:p>
          <a:p>
            <a:pPr algn="l">
              <a:spcAft>
                <a:spcPts val="0"/>
              </a:spcAft>
            </a:pPr>
            <a:r>
              <a:rPr sz="1500" i="0">
                <a:solidFill>
                  <a:srgbClr val="111827"/>
                </a:solidFill>
                <a:latin typeface="Consolas"/>
              </a:rPr>
              <a:t>nums = [1, 2, 3]; x = 10</a:t>
            </a:r>
          </a:p>
          <a:p>
            <a:pPr algn="l">
              <a:spcAft>
                <a:spcPts val="0"/>
              </a:spcAft>
            </a:pPr>
            <a:r>
              <a:rPr sz="1500" i="0">
                <a:solidFill>
                  <a:srgbClr val="111827"/>
                </a:solidFill>
                <a:latin typeface="Consolas"/>
              </a:rPr>
              <a:t>altera_lista(nums)     </a:t>
            </a:r>
            <a:r>
              <a:rPr sz="1500" i="0">
                <a:solidFill>
                  <a:srgbClr val="0F766E"/>
                </a:solidFill>
                <a:latin typeface="Consolas"/>
              </a:rPr>
              <a:t># [1, 2, 3, 4]</a:t>
            </a:r>
          </a:p>
          <a:p>
            <a:pPr algn="l">
              <a:spcAft>
                <a:spcPts val="0"/>
              </a:spcAft>
            </a:pPr>
            <a:r>
              <a:rPr sz="1500" i="0">
                <a:solidFill>
                  <a:srgbClr val="111827"/>
                </a:solidFill>
                <a:latin typeface="Consolas"/>
              </a:rPr>
              <a:t>reatribui_lista(nums)  </a:t>
            </a:r>
            <a:r>
              <a:rPr sz="1500" i="0">
                <a:solidFill>
                  <a:srgbClr val="0F766E"/>
                </a:solidFill>
                <a:latin typeface="Consolas"/>
              </a:rPr>
              <a:t># [1, 2, 3, 4]</a:t>
            </a:r>
          </a:p>
          <a:p>
            <a:pPr algn="l">
              <a:spcAft>
                <a:spcPts val="0"/>
              </a:spcAft>
            </a:pPr>
            <a:r>
              <a:rPr sz="1500" i="0">
                <a:solidFill>
                  <a:srgbClr val="111827"/>
                </a:solidFill>
                <a:latin typeface="Consolas"/>
              </a:rPr>
              <a:t>incrementa(x)          </a:t>
            </a:r>
            <a:r>
              <a:rPr sz="1500" i="0">
                <a:solidFill>
                  <a:srgbClr val="0F766E"/>
                </a:solidFill>
                <a:latin typeface="Consolas"/>
              </a:rPr>
              <a:t># 10</a:t>
            </a:r>
          </a:p>
        </p:txBody>
      </p:sp>
      <p:graphicFrame>
        <p:nvGraphicFramePr>
          <p:cNvPr id="6" name="Table 5"/>
          <p:cNvGraphicFramePr>
            <a:graphicFrameLocks noGrp="1"/>
          </p:cNvGraphicFramePr>
          <p:nvPr/>
        </p:nvGraphicFramePr>
        <p:xfrm>
          <a:off x="6217920" y="1325880"/>
          <a:ext cx="5422392" cy="3438144"/>
        </p:xfrm>
        <a:graphic>
          <a:graphicData uri="http://schemas.openxmlformats.org/drawingml/2006/table">
            <a:tbl>
              <a:tblPr firstRow="1">
                <a:tableStyleId>{2D5ABB26-0587-4C30-8999-92F81FD0307C}</a:tableStyleId>
              </a:tblPr>
              <a:tblGrid>
                <a:gridCol w="1417320"/>
                <a:gridCol w="4005072"/>
              </a:tblGrid>
              <a:tr h="429768">
                <a:tc>
                  <a:txBody>
                    <a:bodyPr wrap="square"/>
                    <a:lstStyle/>
                    <a:p>
                      <a:r>
                        <a:rPr sz="1400" b="1">
                          <a:solidFill>
                            <a:srgbClr val="1F2937"/>
                          </a:solidFill>
                        </a:rPr>
                        <a:t>Linguagem</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Como alterar a variável de quem chama?</a:t>
                      </a:r>
                    </a:p>
                  </a:txBody>
                  <a:tcPr marL="91440" marR="91440" marT="36576" marB="36576" anchor="ctr">
                    <a:lnB w="9525">
                      <a:solidFill>
                        <a:srgbClr val="D0D5DD"/>
                      </a:solidFill>
                    </a:lnB>
                    <a:solidFill>
                      <a:srgbClr val="E6F4F1"/>
                    </a:solidFill>
                  </a:tcPr>
                </a:tc>
              </a:tr>
              <a:tr h="429768">
                <a:tc>
                  <a:txBody>
                    <a:bodyPr wrap="square"/>
                    <a:lstStyle/>
                    <a:p>
                      <a:r>
                        <a:rPr sz="1400" b="0">
                          <a:solidFill>
                            <a:srgbClr val="1F2937"/>
                          </a:solidFill>
                        </a:rPr>
                        <a:t>C</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ponteiro: </a:t>
                      </a:r>
                      <a:r>
                        <a:rPr sz="1288" b="0">
                          <a:solidFill>
                            <a:srgbClr val="1F2937"/>
                          </a:solidFill>
                          <a:latin typeface="Consolas"/>
                        </a:rPr>
                        <a:t>f(&amp;x)</a:t>
                      </a:r>
                    </a:p>
                  </a:txBody>
                  <a:tcPr marL="91440" marR="91440" marT="36576" marB="36576" anchor="ctr">
                    <a:lnB w="9525">
                      <a:solidFill>
                        <a:srgbClr val="D0D5DD"/>
                      </a:solidFill>
                    </a:lnB>
                    <a:solidFill>
                      <a:srgbClr val="FFFFFF"/>
                    </a:solidFill>
                  </a:tcPr>
                </a:tc>
              </a:tr>
              <a:tr h="429768">
                <a:tc>
                  <a:txBody>
                    <a:bodyPr wrap="square"/>
                    <a:lstStyle/>
                    <a:p>
                      <a:r>
                        <a:rPr sz="1400" b="0">
                          <a:solidFill>
                            <a:srgbClr val="1F2937"/>
                          </a:solidFill>
                        </a:rPr>
                        <a:t>C++</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referência: </a:t>
                      </a:r>
                      <a:r>
                        <a:rPr sz="1288" b="0">
                          <a:solidFill>
                            <a:srgbClr val="1F2937"/>
                          </a:solidFill>
                          <a:latin typeface="Consolas"/>
                        </a:rPr>
                        <a:t>void f(int &amp;x)</a:t>
                      </a:r>
                    </a:p>
                  </a:txBody>
                  <a:tcPr marL="91440" marR="91440" marT="36576" marB="36576" anchor="ctr">
                    <a:lnB w="9525">
                      <a:solidFill>
                        <a:srgbClr val="D0D5DD"/>
                      </a:solidFill>
                    </a:lnB>
                    <a:solidFill>
                      <a:srgbClr val="F9FAFB"/>
                    </a:solidFill>
                  </a:tcPr>
                </a:tc>
              </a:tr>
              <a:tr h="429768">
                <a:tc>
                  <a:txBody>
                    <a:bodyPr wrap="square"/>
                    <a:lstStyle/>
                    <a:p>
                      <a:r>
                        <a:rPr sz="1400" b="0">
                          <a:solidFill>
                            <a:srgbClr val="1F2937"/>
                          </a:solidFill>
                        </a:rPr>
                        <a:t>Java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não dá para primitivos: devolva o valor</a:t>
                      </a:r>
                    </a:p>
                  </a:txBody>
                  <a:tcPr marL="91440" marR="91440" marT="36576" marB="36576" anchor="ctr">
                    <a:lnB w="9525">
                      <a:solidFill>
                        <a:srgbClr val="D0D5DD"/>
                      </a:solidFill>
                    </a:lnB>
                    <a:solidFill>
                      <a:srgbClr val="FFFFFF"/>
                    </a:solidFill>
                  </a:tcPr>
                </a:tc>
              </a:tr>
              <a:tr h="429768">
                <a:tc>
                  <a:txBody>
                    <a:bodyPr wrap="square"/>
                    <a:lstStyle/>
                    <a:p>
                      <a:r>
                        <a:rPr sz="1400" b="0">
                          <a:solidFill>
                            <a:srgbClr val="1F2937"/>
                          </a:solidFill>
                        </a:rPr>
                        <a:t>C#</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f(ref x)</a:t>
                      </a:r>
                      <a:r>
                        <a:rPr sz="1400" b="0">
                          <a:solidFill>
                            <a:srgbClr val="1F2937"/>
                          </a:solidFill>
                        </a:rPr>
                        <a:t> ou </a:t>
                      </a:r>
                      <a:r>
                        <a:rPr sz="1288" b="0">
                          <a:solidFill>
                            <a:srgbClr val="1F2937"/>
                          </a:solidFill>
                          <a:latin typeface="Consolas"/>
                        </a:rPr>
                        <a:t>f(out x)</a:t>
                      </a:r>
                    </a:p>
                  </a:txBody>
                  <a:tcPr marL="91440" marR="91440" marT="36576" marB="36576" anchor="ctr">
                    <a:lnB w="9525">
                      <a:solidFill>
                        <a:srgbClr val="D0D5DD"/>
                      </a:solidFill>
                    </a:lnB>
                    <a:solidFill>
                      <a:srgbClr val="F9FAFB"/>
                    </a:solidFill>
                  </a:tcPr>
                </a:tc>
              </a:tr>
              <a:tr h="429768">
                <a:tc>
                  <a:txBody>
                    <a:bodyPr wrap="square"/>
                    <a:lstStyle/>
                    <a:p>
                      <a:r>
                        <a:rPr sz="1400" b="0">
                          <a:solidFill>
                            <a:srgbClr val="1F2937"/>
                          </a:solidFill>
                        </a:rPr>
                        <a:t>Python</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devolva o novo valor</a:t>
                      </a:r>
                    </a:p>
                  </a:txBody>
                  <a:tcPr marL="91440" marR="91440" marT="36576" marB="36576" anchor="ctr">
                    <a:lnB w="9525">
                      <a:solidFill>
                        <a:srgbClr val="D0D5DD"/>
                      </a:solidFill>
                    </a:lnB>
                    <a:solidFill>
                      <a:srgbClr val="FFFFFF"/>
                    </a:solidFill>
                  </a:tcPr>
                </a:tc>
              </a:tr>
              <a:tr h="429768">
                <a:tc>
                  <a:txBody>
                    <a:bodyPr wrap="square"/>
                    <a:lstStyle/>
                    <a:p>
                      <a:r>
                        <a:rPr sz="1400" b="0">
                          <a:solidFill>
                            <a:srgbClr val="1F2937"/>
                          </a:solidFill>
                        </a:rPr>
                        <a:t>Go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ponteiro: </a:t>
                      </a:r>
                      <a:r>
                        <a:rPr sz="1288" b="0">
                          <a:solidFill>
                            <a:srgbClr val="1F2937"/>
                          </a:solidFill>
                          <a:latin typeface="Consolas"/>
                        </a:rPr>
                        <a:t>f(&amp;x)</a:t>
                      </a:r>
                    </a:p>
                  </a:txBody>
                  <a:tcPr marL="91440" marR="91440" marT="36576" marB="36576" anchor="ctr">
                    <a:lnB w="9525">
                      <a:solidFill>
                        <a:srgbClr val="D0D5DD"/>
                      </a:solidFill>
                    </a:lnB>
                    <a:solidFill>
                      <a:srgbClr val="F9FAFB"/>
                    </a:solidFill>
                  </a:tcPr>
                </a:tc>
              </a:tr>
              <a:tr h="429768">
                <a:tc>
                  <a:txBody>
                    <a:bodyPr wrap="square"/>
                    <a:lstStyle/>
                    <a:p>
                      <a:r>
                        <a:rPr sz="1400" b="0">
                          <a:solidFill>
                            <a:srgbClr val="1F2937"/>
                          </a:solidFill>
                        </a:rPr>
                        <a:t>Rust</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f(&amp;mut x)</a:t>
                      </a:r>
                    </a:p>
                  </a:txBody>
                  <a:tcPr marL="91440" marR="91440" marT="36576" marB="36576" anchor="ctr">
                    <a:lnB w="9525">
                      <a:solidFill>
                        <a:srgbClr val="D0D5DD"/>
                      </a:solidFill>
                    </a:lnB>
                    <a:solidFill>
                      <a:srgbClr val="FFFFFF"/>
                    </a:solidFill>
                  </a:tcPr>
                </a:tc>
              </a:tr>
            </a:tbl>
          </a:graphicData>
        </a:graphic>
      </p:graphicFrame>
      <p:sp>
        <p:nvSpPr>
          <p:cNvPr id="7" name="Rounded Rectangle 6"/>
          <p:cNvSpPr/>
          <p:nvPr/>
        </p:nvSpPr>
        <p:spPr>
          <a:xfrm>
            <a:off x="548640" y="5074920"/>
            <a:ext cx="5486400" cy="10058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noAutofit/>
          </a:bodyPr>
          <a:lstStyle/>
          <a:p>
            <a:pPr algn="l">
              <a:spcAft>
                <a:spcPts val="400"/>
              </a:spcAft>
            </a:pPr>
            <a:r>
              <a:rPr sz="1500" b="0">
                <a:solidFill>
                  <a:srgbClr val="1F2937"/>
                </a:solidFill>
              </a:rPr>
              <a:t>C#: </a:t>
            </a:r>
            <a:r>
              <a:rPr sz="1380" b="0">
                <a:solidFill>
                  <a:srgbClr val="1F2937"/>
                </a:solidFill>
                <a:latin typeface="Consolas"/>
              </a:rPr>
              <a:t>Troca(ref x, ref y)</a:t>
            </a:r>
            <a:r>
              <a:rPr sz="1500" b="0">
                <a:solidFill>
                  <a:srgbClr val="1F2937"/>
                </a:solidFill>
              </a:rPr>
              <a:t> e </a:t>
            </a:r>
            <a:r>
              <a:rPr sz="1380" b="0">
                <a:solidFill>
                  <a:srgbClr val="1F2937"/>
                </a:solidFill>
                <a:latin typeface="Consolas"/>
              </a:rPr>
              <a:t>int.TryParse("123", out int n)</a:t>
            </a:r>
            <a:r>
              <a:rPr sz="1500" b="0">
                <a:solidFill>
                  <a:srgbClr val="1F2937"/>
                </a:solidFill>
              </a:rPr>
              <a:t>: o modo aparece </a:t>
            </a:r>
            <a:r>
              <a:rPr sz="1500" b="1">
                <a:solidFill>
                  <a:srgbClr val="1F2937"/>
                </a:solidFill>
              </a:rPr>
              <a:t>na chamada</a:t>
            </a:r>
            <a:r>
              <a:rPr sz="1500" b="0">
                <a:solidFill>
                  <a:srgbClr val="1F2937"/>
                </a:solidFil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Apelidos criados pela passagem por referência</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§9.5.2.4 · p. 379-380 · exemplos/03_passagem</a:t>
            </a:r>
          </a:p>
        </p:txBody>
      </p:sp>
      <p:sp>
        <p:nvSpPr>
          <p:cNvPr id="4" name="TextBox 3"/>
          <p:cNvSpPr txBox="1"/>
          <p:nvPr/>
        </p:nvSpPr>
        <p:spPr>
          <a:xfrm>
            <a:off x="548640" y="1325880"/>
            <a:ext cx="5486400" cy="310896"/>
          </a:xfrm>
          <a:prstGeom prst="rect">
            <a:avLst/>
          </a:prstGeom>
          <a:noFill/>
        </p:spPr>
        <p:txBody>
          <a:bodyPr wrap="square" anchor="b" lIns="18288" rIns="18288" tIns="18288" bIns="18288">
            <a:noAutofit/>
          </a:bodyPr>
          <a:lstStyle/>
          <a:p>
            <a:pPr algn="l">
              <a:spcAft>
                <a:spcPts val="400"/>
              </a:spcAft>
            </a:pPr>
            <a:r>
              <a:rPr sz="1400" b="1">
                <a:solidFill>
                  <a:srgbClr val="B42318"/>
                </a:solidFill>
              </a:rPr>
              <a:t>C · a e b são o MESMO endereço</a:t>
            </a:r>
          </a:p>
        </p:txBody>
      </p:sp>
      <p:sp>
        <p:nvSpPr>
          <p:cNvPr id="5" name="Rectangle 4"/>
          <p:cNvSpPr/>
          <p:nvPr/>
        </p:nvSpPr>
        <p:spPr>
          <a:xfrm>
            <a:off x="548640" y="1673352"/>
            <a:ext cx="5486400" cy="34015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void soma_duas_vezes(int *a, int *b) {</a:t>
            </a:r>
          </a:p>
          <a:p>
            <a:pPr algn="l">
              <a:spcAft>
                <a:spcPts val="0"/>
              </a:spcAft>
            </a:pPr>
            <a:r>
              <a:rPr sz="1500" i="0">
                <a:solidFill>
                  <a:srgbClr val="111827"/>
                </a:solidFill>
                <a:latin typeface="Consolas"/>
              </a:rPr>
              <a:t>    *a += *b;</a:t>
            </a:r>
          </a:p>
          <a:p>
            <a:pPr algn="l">
              <a:spcAft>
                <a:spcPts val="0"/>
              </a:spcAft>
            </a:pPr>
            <a:r>
              <a:rPr sz="1500" i="0">
                <a:solidFill>
                  <a:srgbClr val="111827"/>
                </a:solidFill>
                <a:latin typeface="Consolas"/>
              </a:rPr>
              <a:t>    *a += *b;</a:t>
            </a:r>
          </a:p>
          <a:p>
            <a:pPr algn="l">
              <a:spcAft>
                <a:spcPts val="0"/>
              </a:spcAft>
            </a:pPr>
            <a:r>
              <a:rPr sz="1500" i="0">
                <a:solidFill>
                  <a:srgbClr val="111827"/>
                </a:solidFill>
                <a:latin typeface="Consolas"/>
              </a:rPr>
              <a:t>}</a:t>
            </a:r>
          </a:p>
          <a:p>
            <a:pPr algn="l">
              <a:spcAft>
                <a:spcPts val="0"/>
              </a:spcAft>
            </a:pPr>
            <a:r>
              <a:rPr sz="1500">
                <a:latin typeface="Consolas"/>
              </a:rPr>
              <a:t/>
            </a:r>
          </a:p>
          <a:p>
            <a:pPr algn="l">
              <a:spcAft>
                <a:spcPts val="0"/>
              </a:spcAft>
            </a:pPr>
            <a:r>
              <a:rPr sz="1500" i="0">
                <a:solidFill>
                  <a:srgbClr val="111827"/>
                </a:solidFill>
                <a:latin typeface="Consolas"/>
              </a:rPr>
              <a:t>int x = 1, y = 1;</a:t>
            </a:r>
          </a:p>
          <a:p>
            <a:pPr algn="l">
              <a:spcAft>
                <a:spcPts val="0"/>
              </a:spcAft>
            </a:pPr>
            <a:r>
              <a:rPr sz="1500" i="0">
                <a:solidFill>
                  <a:srgbClr val="111827"/>
                </a:solidFill>
                <a:latin typeface="Consolas"/>
              </a:rPr>
              <a:t>soma_duas_vezes(&amp;x, &amp;y);          </a:t>
            </a:r>
            <a:r>
              <a:rPr sz="1500" i="0">
                <a:solidFill>
                  <a:srgbClr val="0F766E"/>
                </a:solidFill>
                <a:latin typeface="Consolas"/>
              </a:rPr>
              <a:t>// x = 3</a:t>
            </a:r>
          </a:p>
          <a:p>
            <a:pPr algn="l">
              <a:spcAft>
                <a:spcPts val="0"/>
              </a:spcAft>
            </a:pPr>
            <a:r>
              <a:rPr sz="1500">
                <a:latin typeface="Consolas"/>
              </a:rPr>
              <a:t/>
            </a:r>
          </a:p>
          <a:p>
            <a:pPr algn="l">
              <a:spcAft>
                <a:spcPts val="0"/>
              </a:spcAft>
            </a:pPr>
            <a:r>
              <a:rPr sz="1500" i="0">
                <a:solidFill>
                  <a:srgbClr val="111827"/>
                </a:solidFill>
                <a:latin typeface="Consolas"/>
              </a:rPr>
              <a:t>int total = 1;</a:t>
            </a:r>
          </a:p>
          <a:p>
            <a:pPr algn="l">
              <a:spcAft>
                <a:spcPts val="0"/>
              </a:spcAft>
            </a:pPr>
            <a:r>
              <a:rPr sz="1500" i="0">
                <a:solidFill>
                  <a:srgbClr val="111827"/>
                </a:solidFill>
                <a:latin typeface="Consolas"/>
              </a:rPr>
              <a:t>soma_duas_vezes(&amp;total, &amp;total);  </a:t>
            </a:r>
            <a:r>
              <a:rPr sz="1500" i="0">
                <a:solidFill>
                  <a:srgbClr val="0F766E"/>
                </a:solidFill>
                <a:latin typeface="Consolas"/>
              </a:rPr>
              <a:t>// total = 4 !</a:t>
            </a:r>
          </a:p>
        </p:txBody>
      </p:sp>
      <p:sp>
        <p:nvSpPr>
          <p:cNvPr id="6" name="TextBox 5"/>
          <p:cNvSpPr txBox="1"/>
          <p:nvPr/>
        </p:nvSpPr>
        <p:spPr>
          <a:xfrm>
            <a:off x="6199632" y="1325880"/>
            <a:ext cx="5440680" cy="310896"/>
          </a:xfrm>
          <a:prstGeom prst="rect">
            <a:avLst/>
          </a:prstGeom>
          <a:noFill/>
        </p:spPr>
        <p:txBody>
          <a:bodyPr wrap="square" anchor="b" lIns="18288" rIns="18288" tIns="18288" bIns="18288">
            <a:noAutofit/>
          </a:bodyPr>
          <a:lstStyle/>
          <a:p>
            <a:pPr algn="l">
              <a:spcAft>
                <a:spcPts val="400"/>
              </a:spcAft>
            </a:pPr>
            <a:r>
              <a:rPr sz="1400" b="1">
                <a:solidFill>
                  <a:srgbClr val="067647"/>
                </a:solidFill>
              </a:rPr>
              <a:t>Rust · o compilador proíbe o apelido</a:t>
            </a:r>
          </a:p>
        </p:txBody>
      </p:sp>
      <p:sp>
        <p:nvSpPr>
          <p:cNvPr id="7" name="Rectangle 6"/>
          <p:cNvSpPr/>
          <p:nvPr/>
        </p:nvSpPr>
        <p:spPr>
          <a:xfrm>
            <a:off x="6199632" y="1673352"/>
            <a:ext cx="5440680" cy="34015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fn soma_duas_vezes(a: &amp;mut i32, b: &amp;i32) {</a:t>
            </a:r>
          </a:p>
          <a:p>
            <a:pPr algn="l">
              <a:spcAft>
                <a:spcPts val="0"/>
              </a:spcAft>
            </a:pPr>
            <a:r>
              <a:rPr sz="1500" i="0">
                <a:solidFill>
                  <a:srgbClr val="111827"/>
                </a:solidFill>
                <a:latin typeface="Consolas"/>
              </a:rPr>
              <a:t>    *a += *b;</a:t>
            </a:r>
          </a:p>
          <a:p>
            <a:pPr algn="l">
              <a:spcAft>
                <a:spcPts val="0"/>
              </a:spcAft>
            </a:pPr>
            <a:r>
              <a:rPr sz="1500" i="0">
                <a:solidFill>
                  <a:srgbClr val="111827"/>
                </a:solidFill>
                <a:latin typeface="Consolas"/>
              </a:rPr>
              <a:t>    *a += *b;</a:t>
            </a:r>
          </a:p>
          <a:p>
            <a:pPr algn="l">
              <a:spcAft>
                <a:spcPts val="0"/>
              </a:spcAft>
            </a:pPr>
            <a:r>
              <a:rPr sz="1500" i="0">
                <a:solidFill>
                  <a:srgbClr val="111827"/>
                </a:solidFill>
                <a:latin typeface="Consolas"/>
              </a:rPr>
              <a:t>}</a:t>
            </a:r>
          </a:p>
          <a:p>
            <a:pPr algn="l">
              <a:spcAft>
                <a:spcPts val="0"/>
              </a:spcAft>
            </a:pPr>
            <a:r>
              <a:rPr sz="1500">
                <a:latin typeface="Consolas"/>
              </a:rPr>
              <a:t/>
            </a:r>
          </a:p>
          <a:p>
            <a:pPr algn="l">
              <a:spcAft>
                <a:spcPts val="0"/>
              </a:spcAft>
            </a:pPr>
            <a:r>
              <a:rPr sz="1500" i="0">
                <a:solidFill>
                  <a:srgbClr val="111827"/>
                </a:solidFill>
                <a:latin typeface="Consolas"/>
              </a:rPr>
              <a:t>let mut total = 1;</a:t>
            </a:r>
          </a:p>
          <a:p>
            <a:pPr algn="l">
              <a:spcAft>
                <a:spcPts val="0"/>
              </a:spcAft>
            </a:pPr>
            <a:r>
              <a:rPr sz="1500" i="0">
                <a:solidFill>
                  <a:srgbClr val="111827"/>
                </a:solidFill>
                <a:latin typeface="Consolas"/>
              </a:rPr>
              <a:t>soma_duas_vezes(&amp;mut total, &amp;total);</a:t>
            </a:r>
          </a:p>
          <a:p>
            <a:pPr algn="l">
              <a:spcAft>
                <a:spcPts val="0"/>
              </a:spcAft>
            </a:pPr>
            <a:r>
              <a:rPr sz="1500" i="0">
                <a:solidFill>
                  <a:srgbClr val="0F766E"/>
                </a:solidFill>
                <a:latin typeface="Consolas"/>
              </a:rPr>
              <a:t>// ERRO E0502: não pode haver &amp;mut e &amp;</a:t>
            </a:r>
          </a:p>
          <a:p>
            <a:pPr algn="l">
              <a:spcAft>
                <a:spcPts val="0"/>
              </a:spcAft>
            </a:pPr>
            <a:r>
              <a:rPr sz="1500" i="0">
                <a:solidFill>
                  <a:srgbClr val="0F766E"/>
                </a:solidFill>
                <a:latin typeface="Consolas"/>
              </a:rPr>
              <a:t>// do mesmo valor ao mesmo tempo</a:t>
            </a:r>
          </a:p>
        </p:txBody>
      </p:sp>
      <p:sp>
        <p:nvSpPr>
          <p:cNvPr id="8" name="Rounded Rectangle 7"/>
          <p:cNvSpPr/>
          <p:nvPr/>
        </p:nvSpPr>
        <p:spPr>
          <a:xfrm>
            <a:off x="548640" y="5257800"/>
            <a:ext cx="11094415" cy="822960"/>
          </a:xfrm>
          <a:prstGeom prst="roundRect">
            <a:avLst>
              <a:gd name="adj" fmla="val 7000"/>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400"/>
              </a:spcAft>
            </a:pPr>
            <a:r>
              <a:rPr sz="1600" b="0">
                <a:solidFill>
                  <a:srgbClr val="1F2937"/>
                </a:solidFill>
              </a:rPr>
              <a:t>Outras fontes de apelidos (p. 380): </a:t>
            </a:r>
            <a:r>
              <a:rPr sz="1472" b="0">
                <a:solidFill>
                  <a:srgbClr val="1F2937"/>
                </a:solidFill>
                <a:latin typeface="Consolas"/>
              </a:rPr>
              <a:t>fun(list[i], list[j])</a:t>
            </a:r>
            <a:r>
              <a:rPr sz="1600" b="0">
                <a:solidFill>
                  <a:srgbClr val="1F2937"/>
                </a:solidFill>
              </a:rPr>
              <a:t> com i == j; </a:t>
            </a:r>
            <a:r>
              <a:rPr sz="1472" b="0">
                <a:solidFill>
                  <a:srgbClr val="1F2937"/>
                </a:solidFill>
                <a:latin typeface="Consolas"/>
              </a:rPr>
              <a:t>fun1(list[i], list)</a:t>
            </a:r>
            <a:r>
              <a:rPr sz="1600" b="0">
                <a:solidFill>
                  <a:srgbClr val="1F2937"/>
                </a:solidFill>
              </a:rPr>
              <a:t>; parâmetro e variável global.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Subprogramas como parâmetros: qual ambiente vale?</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§9.6 · p. 391-393 · exemplos/04_subprogramas_parametros</a:t>
            </a:r>
          </a:p>
        </p:txBody>
      </p:sp>
      <p:sp>
        <p:nvSpPr>
          <p:cNvPr id="4" name="TextBox 3"/>
          <p:cNvSpPr txBox="1"/>
          <p:nvPr/>
        </p:nvSpPr>
        <p:spPr>
          <a:xfrm>
            <a:off x="548640" y="1325880"/>
            <a:ext cx="585216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JavaScript · exemplo do livro (p. 392)</a:t>
            </a:r>
          </a:p>
        </p:txBody>
      </p:sp>
      <p:sp>
        <p:nvSpPr>
          <p:cNvPr id="5" name="Rectangle 4"/>
          <p:cNvSpPr/>
          <p:nvPr/>
        </p:nvSpPr>
        <p:spPr>
          <a:xfrm>
            <a:off x="548640" y="1673352"/>
            <a:ext cx="5852160" cy="445312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function sub1() {</a:t>
            </a:r>
          </a:p>
          <a:p>
            <a:pPr algn="l">
              <a:spcAft>
                <a:spcPts val="0"/>
              </a:spcAft>
            </a:pPr>
            <a:r>
              <a:rPr sz="1500" i="0">
                <a:solidFill>
                  <a:srgbClr val="111827"/>
                </a:solidFill>
                <a:latin typeface="Consolas"/>
              </a:rPr>
              <a:t>  var x;</a:t>
            </a:r>
          </a:p>
          <a:p>
            <a:pPr algn="l">
              <a:spcAft>
                <a:spcPts val="0"/>
              </a:spcAft>
            </a:pPr>
            <a:r>
              <a:rPr sz="1500" i="0">
                <a:solidFill>
                  <a:srgbClr val="111827"/>
                </a:solidFill>
                <a:latin typeface="Consolas"/>
              </a:rPr>
              <a:t>  function sub2() { console.log("x =", x); }</a:t>
            </a:r>
          </a:p>
          <a:p>
            <a:pPr algn="l">
              <a:spcAft>
                <a:spcPts val="0"/>
              </a:spcAft>
            </a:pPr>
            <a:r>
              <a:rPr sz="1500" i="0">
                <a:solidFill>
                  <a:srgbClr val="111827"/>
                </a:solidFill>
                <a:latin typeface="Consolas"/>
              </a:rPr>
              <a:t>  function sub3() {</a:t>
            </a:r>
          </a:p>
          <a:p>
            <a:pPr algn="l">
              <a:spcAft>
                <a:spcPts val="0"/>
              </a:spcAft>
            </a:pPr>
            <a:r>
              <a:rPr sz="1500" i="0">
                <a:solidFill>
                  <a:srgbClr val="111827"/>
                </a:solidFill>
                <a:latin typeface="Consolas"/>
              </a:rPr>
              <a:t>    var x;</a:t>
            </a:r>
          </a:p>
          <a:p>
            <a:pPr algn="l">
              <a:spcAft>
                <a:spcPts val="0"/>
              </a:spcAft>
            </a:pPr>
            <a:r>
              <a:rPr sz="1500" i="0">
                <a:solidFill>
                  <a:srgbClr val="111827"/>
                </a:solidFill>
                <a:latin typeface="Consolas"/>
              </a:rPr>
              <a:t>    x = 3;</a:t>
            </a:r>
          </a:p>
          <a:p>
            <a:pPr algn="l">
              <a:spcAft>
                <a:spcPts val="0"/>
              </a:spcAft>
            </a:pPr>
            <a:r>
              <a:rPr sz="1500" i="0">
                <a:solidFill>
                  <a:srgbClr val="111827"/>
                </a:solidFill>
                <a:latin typeface="Consolas"/>
              </a:rPr>
              <a:t>    sub4(sub2);        </a:t>
            </a:r>
            <a:r>
              <a:rPr sz="1500" i="0">
                <a:solidFill>
                  <a:srgbClr val="0F766E"/>
                </a:solidFill>
                <a:latin typeface="Consolas"/>
              </a:rPr>
              <a:t>// passa sub2 como parâmetro</a:t>
            </a:r>
          </a:p>
          <a:p>
            <a:pPr algn="l">
              <a:spcAft>
                <a:spcPts val="0"/>
              </a:spcAft>
            </a:pPr>
            <a:r>
              <a:rPr sz="1500" i="0">
                <a:solidFill>
                  <a:srgbClr val="111827"/>
                </a:solidFill>
                <a:latin typeface="Consolas"/>
              </a:rPr>
              <a:t>  }</a:t>
            </a:r>
          </a:p>
          <a:p>
            <a:pPr algn="l">
              <a:spcAft>
                <a:spcPts val="0"/>
              </a:spcAft>
            </a:pPr>
            <a:r>
              <a:rPr sz="1500" i="0">
                <a:solidFill>
                  <a:srgbClr val="111827"/>
                </a:solidFill>
                <a:latin typeface="Consolas"/>
              </a:rPr>
              <a:t>  function sub4(subx) {</a:t>
            </a:r>
          </a:p>
          <a:p>
            <a:pPr algn="l">
              <a:spcAft>
                <a:spcPts val="0"/>
              </a:spcAft>
            </a:pPr>
            <a:r>
              <a:rPr sz="1500" i="0">
                <a:solidFill>
                  <a:srgbClr val="111827"/>
                </a:solidFill>
                <a:latin typeface="Consolas"/>
              </a:rPr>
              <a:t>    var x;</a:t>
            </a:r>
          </a:p>
          <a:p>
            <a:pPr algn="l">
              <a:spcAft>
                <a:spcPts val="0"/>
              </a:spcAft>
            </a:pPr>
            <a:r>
              <a:rPr sz="1500" i="0">
                <a:solidFill>
                  <a:srgbClr val="111827"/>
                </a:solidFill>
                <a:latin typeface="Consolas"/>
              </a:rPr>
              <a:t>    x = 4;</a:t>
            </a:r>
          </a:p>
          <a:p>
            <a:pPr algn="l">
              <a:spcAft>
                <a:spcPts val="0"/>
              </a:spcAft>
            </a:pPr>
            <a:r>
              <a:rPr sz="1500" i="0">
                <a:solidFill>
                  <a:srgbClr val="111827"/>
                </a:solidFill>
                <a:latin typeface="Consolas"/>
              </a:rPr>
              <a:t>    subx();            </a:t>
            </a:r>
            <a:r>
              <a:rPr sz="1500" i="0">
                <a:solidFill>
                  <a:srgbClr val="0F766E"/>
                </a:solidFill>
                <a:latin typeface="Consolas"/>
              </a:rPr>
              <a:t>// executa sub2 aqui</a:t>
            </a:r>
          </a:p>
          <a:p>
            <a:pPr algn="l">
              <a:spcAft>
                <a:spcPts val="0"/>
              </a:spcAft>
            </a:pPr>
            <a:r>
              <a:rPr sz="1500" i="0">
                <a:solidFill>
                  <a:srgbClr val="111827"/>
                </a:solidFill>
                <a:latin typeface="Consolas"/>
              </a:rPr>
              <a:t>  }</a:t>
            </a:r>
          </a:p>
          <a:p>
            <a:pPr algn="l">
              <a:spcAft>
                <a:spcPts val="0"/>
              </a:spcAft>
            </a:pPr>
            <a:r>
              <a:rPr sz="1500" i="0">
                <a:solidFill>
                  <a:srgbClr val="111827"/>
                </a:solidFill>
                <a:latin typeface="Consolas"/>
              </a:rPr>
              <a:t>  x = 1;</a:t>
            </a:r>
          </a:p>
          <a:p>
            <a:pPr algn="l">
              <a:spcAft>
                <a:spcPts val="0"/>
              </a:spcAft>
            </a:pPr>
            <a:r>
              <a:rPr sz="1500" i="0">
                <a:solidFill>
                  <a:srgbClr val="111827"/>
                </a:solidFill>
                <a:latin typeface="Consolas"/>
              </a:rPr>
              <a:t>  sub3();</a:t>
            </a:r>
          </a:p>
          <a:p>
            <a:pPr algn="l">
              <a:spcAft>
                <a:spcPts val="0"/>
              </a:spcAft>
            </a:pPr>
            <a:r>
              <a:rPr sz="1500" i="0">
                <a:solidFill>
                  <a:srgbClr val="111827"/>
                </a:solidFill>
                <a:latin typeface="Consolas"/>
              </a:rPr>
              <a:t>}</a:t>
            </a:r>
          </a:p>
          <a:p>
            <a:pPr algn="l">
              <a:spcAft>
                <a:spcPts val="0"/>
              </a:spcAft>
            </a:pPr>
            <a:r>
              <a:rPr sz="1500" i="0">
                <a:solidFill>
                  <a:srgbClr val="111827"/>
                </a:solidFill>
                <a:latin typeface="Consolas"/>
              </a:rPr>
              <a:t>sub1();                </a:t>
            </a:r>
            <a:r>
              <a:rPr sz="1500" i="0">
                <a:solidFill>
                  <a:srgbClr val="0F766E"/>
                </a:solidFill>
                <a:latin typeface="Consolas"/>
              </a:rPr>
              <a:t>// x = ?</a:t>
            </a:r>
          </a:p>
        </p:txBody>
      </p:sp>
      <p:graphicFrame>
        <p:nvGraphicFramePr>
          <p:cNvPr id="6" name="Table 5"/>
          <p:cNvGraphicFramePr>
            <a:graphicFrameLocks noGrp="1"/>
          </p:cNvGraphicFramePr>
          <p:nvPr/>
        </p:nvGraphicFramePr>
        <p:xfrm>
          <a:off x="6583680" y="1325880"/>
          <a:ext cx="5056632" cy="2267712"/>
        </p:xfrm>
        <a:graphic>
          <a:graphicData uri="http://schemas.openxmlformats.org/drawingml/2006/table">
            <a:tbl>
              <a:tblPr firstRow="1">
                <a:tableStyleId>{2D5ABB26-0587-4C30-8999-92F81FD0307C}</a:tableStyleId>
              </a:tblPr>
              <a:tblGrid>
                <a:gridCol w="1783080"/>
                <a:gridCol w="2404872"/>
                <a:gridCol w="868680"/>
              </a:tblGrid>
              <a:tr h="566928">
                <a:tc>
                  <a:txBody>
                    <a:bodyPr wrap="square"/>
                    <a:lstStyle/>
                    <a:p>
                      <a:r>
                        <a:rPr sz="1400" b="1">
                          <a:solidFill>
                            <a:srgbClr val="1F2937"/>
                          </a:solidFill>
                        </a:rPr>
                        <a:t>Vinculação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Ambiente de</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x vale</a:t>
                      </a:r>
                    </a:p>
                  </a:txBody>
                  <a:tcPr marL="91440" marR="91440" marT="36576" marB="36576" anchor="ctr">
                    <a:lnB w="9525">
                      <a:solidFill>
                        <a:srgbClr val="D0D5DD"/>
                      </a:solidFill>
                    </a:lnB>
                    <a:solidFill>
                      <a:srgbClr val="E6F4F1"/>
                    </a:solidFill>
                  </a:tcPr>
                </a:tc>
              </a:tr>
              <a:tr h="566928">
                <a:tc>
                  <a:txBody>
                    <a:bodyPr wrap="square"/>
                    <a:lstStyle/>
                    <a:p>
                      <a:r>
                        <a:rPr sz="1400" b="1">
                          <a:solidFill>
                            <a:srgbClr val="1F2937"/>
                          </a:solidFill>
                        </a:rPr>
                        <a:t>Rasa</a:t>
                      </a:r>
                      <a:r>
                        <a:rPr sz="1400" b="0">
                          <a:solidFill>
                            <a:srgbClr val="1F2937"/>
                          </a:solidFill>
                        </a:rPr>
                        <a:t> (shallow)</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quem executa (</a:t>
                      </a:r>
                      <a:r>
                        <a:rPr sz="1288" b="0">
                          <a:solidFill>
                            <a:srgbClr val="1F2937"/>
                          </a:solidFill>
                          <a:latin typeface="Consolas"/>
                        </a:rPr>
                        <a:t>sub4</a:t>
                      </a:r>
                      <a:r>
                        <a:rPr sz="1400" b="0">
                          <a:solidFill>
                            <a:srgbClr val="1F2937"/>
                          </a:solidFill>
                        </a:rPr>
                        <a:t>)</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4</a:t>
                      </a:r>
                    </a:p>
                  </a:txBody>
                  <a:tcPr marL="91440" marR="91440" marT="36576" marB="36576" anchor="ctr">
                    <a:lnB w="9525">
                      <a:solidFill>
                        <a:srgbClr val="D0D5DD"/>
                      </a:solidFill>
                    </a:lnB>
                    <a:solidFill>
                      <a:srgbClr val="FFFFFF"/>
                    </a:solidFill>
                  </a:tcPr>
                </a:tc>
              </a:tr>
              <a:tr h="566928">
                <a:tc>
                  <a:txBody>
                    <a:bodyPr wrap="square"/>
                    <a:lstStyle/>
                    <a:p>
                      <a:r>
                        <a:rPr sz="1400" b="1">
                          <a:solidFill>
                            <a:srgbClr val="1F2937"/>
                          </a:solidFill>
                        </a:rPr>
                        <a:t>Profunda</a:t>
                      </a:r>
                      <a:r>
                        <a:rPr sz="1400" b="0">
                          <a:solidFill>
                            <a:srgbClr val="1F2937"/>
                          </a:solidFill>
                        </a:rPr>
                        <a:t> (deep)</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a definição (</a:t>
                      </a:r>
                      <a:r>
                        <a:rPr sz="1288" b="0">
                          <a:solidFill>
                            <a:srgbClr val="1F2937"/>
                          </a:solidFill>
                          <a:latin typeface="Consolas"/>
                        </a:rPr>
                        <a:t>sub1</a:t>
                      </a:r>
                      <a:r>
                        <a:rPr sz="1400" b="0">
                          <a:solidFill>
                            <a:srgbClr val="1F2937"/>
                          </a:solidFill>
                        </a:rPr>
                        <a:t>)</a:t>
                      </a:r>
                    </a:p>
                  </a:txBody>
                  <a:tcPr marL="91440" marR="91440" marT="36576" marB="36576" anchor="ctr">
                    <a:lnB w="9525">
                      <a:solidFill>
                        <a:srgbClr val="D0D5DD"/>
                      </a:solidFill>
                    </a:lnB>
                    <a:solidFill>
                      <a:srgbClr val="F9FAFB"/>
                    </a:solidFill>
                  </a:tcPr>
                </a:tc>
                <a:tc>
                  <a:txBody>
                    <a:bodyPr wrap="square"/>
                    <a:lstStyle/>
                    <a:p>
                      <a:r>
                        <a:rPr sz="1400" b="1">
                          <a:solidFill>
                            <a:srgbClr val="067647"/>
                          </a:solidFill>
                        </a:rPr>
                        <a:t>1</a:t>
                      </a:r>
                    </a:p>
                  </a:txBody>
                  <a:tcPr marL="91440" marR="91440" marT="36576" marB="36576" anchor="ctr">
                    <a:lnB w="9525">
                      <a:solidFill>
                        <a:srgbClr val="D0D5DD"/>
                      </a:solidFill>
                    </a:lnB>
                    <a:solidFill>
                      <a:srgbClr val="F9FAFB"/>
                    </a:solidFill>
                  </a:tcPr>
                </a:tc>
              </a:tr>
              <a:tr h="566928">
                <a:tc>
                  <a:txBody>
                    <a:bodyPr wrap="square"/>
                    <a:lstStyle/>
                    <a:p>
                      <a:r>
                        <a:rPr sz="1400" b="1">
                          <a:solidFill>
                            <a:srgbClr val="1F2937"/>
                          </a:solidFill>
                        </a:rPr>
                        <a:t>Ad hoc</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quem passou (</a:t>
                      </a:r>
                      <a:r>
                        <a:rPr sz="1288" b="0">
                          <a:solidFill>
                            <a:srgbClr val="1F2937"/>
                          </a:solidFill>
                          <a:latin typeface="Consolas"/>
                        </a:rPr>
                        <a:t>sub3</a:t>
                      </a:r>
                      <a:r>
                        <a:rPr sz="1400" b="0">
                          <a:solidFill>
                            <a:srgbClr val="1F2937"/>
                          </a:solidFill>
                        </a:rPr>
                        <a:t>)</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3</a:t>
                      </a:r>
                    </a:p>
                  </a:txBody>
                  <a:tcPr marL="91440" marR="91440" marT="36576" marB="36576" anchor="ctr">
                    <a:lnB w="9525">
                      <a:solidFill>
                        <a:srgbClr val="D0D5DD"/>
                      </a:solidFill>
                    </a:lnB>
                    <a:solidFill>
                      <a:srgbClr val="FFFFFF"/>
                    </a:solidFill>
                  </a:tcPr>
                </a:tc>
              </a:tr>
            </a:tbl>
          </a:graphicData>
        </a:graphic>
      </p:graphicFrame>
      <p:sp>
        <p:nvSpPr>
          <p:cNvPr id="7" name="Rounded Rectangle 6"/>
          <p:cNvSpPr/>
          <p:nvPr/>
        </p:nvSpPr>
        <p:spPr>
          <a:xfrm>
            <a:off x="6583680" y="3840480"/>
            <a:ext cx="5056632" cy="2240280"/>
          </a:xfrm>
          <a:prstGeom prst="roundRect">
            <a:avLst>
              <a:gd name="adj" fmla="val 7000"/>
            </a:avLst>
          </a:prstGeom>
          <a:solidFill>
            <a:srgbClr val="E7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500"/>
              </a:spcAft>
            </a:pPr>
            <a:r>
              <a:rPr sz="1800" b="1">
                <a:solidFill>
                  <a:srgbClr val="067647"/>
                </a:solidFill>
              </a:rPr>
              <a:t>JavaScript imprime x = 1</a:t>
            </a:r>
          </a:p>
          <a:p>
            <a:pPr algn="l">
              <a:spcAft>
                <a:spcPts val="400"/>
              </a:spcAft>
            </a:pPr>
            <a:r>
              <a:rPr sz="1500" b="0">
                <a:solidFill>
                  <a:srgbClr val="1F2937"/>
                </a:solidFill>
              </a:rPr>
              <a:t>Linguagens de escopo estático usam a vinculação </a:t>
            </a:r>
            <a:r>
              <a:rPr sz="1500" b="1">
                <a:solidFill>
                  <a:srgbClr val="1F2937"/>
                </a:solidFill>
              </a:rPr>
              <a:t>profunda</a:t>
            </a:r>
            <a:r>
              <a:rPr sz="1500" b="0">
                <a:solidFill>
                  <a:srgbClr val="1F2937"/>
                </a:solidFill>
              </a:rPr>
              <a:t> (p. 393). A rasa aparece em algumas linguagens de escopo dinâmico. A ad hoc nunca foi usada.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Chamada indireta: ponteiros para função e lambdas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§9.7 · p. 393-395 · exemplos/04_subprogramas_parametros</a:t>
            </a:r>
          </a:p>
        </p:txBody>
      </p:sp>
      <p:sp>
        <p:nvSpPr>
          <p:cNvPr id="4" name="TextBox 3"/>
          <p:cNvSpPr txBox="1"/>
          <p:nvPr/>
        </p:nvSpPr>
        <p:spPr>
          <a:xfrm>
            <a:off x="548640" y="1325880"/>
            <a:ext cx="548640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C · ponteiros para função</a:t>
            </a:r>
          </a:p>
        </p:txBody>
      </p:sp>
      <p:sp>
        <p:nvSpPr>
          <p:cNvPr id="5" name="Rectangle 4"/>
          <p:cNvSpPr/>
          <p:nvPr/>
        </p:nvSpPr>
        <p:spPr>
          <a:xfrm>
            <a:off x="548640" y="1673352"/>
            <a:ext cx="5486400"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int decrescente(const void *a, const void *b) {</a:t>
            </a:r>
          </a:p>
          <a:p>
            <a:pPr algn="l">
              <a:spcAft>
                <a:spcPts val="0"/>
              </a:spcAft>
            </a:pPr>
            <a:r>
              <a:rPr sz="1450" i="0">
                <a:solidFill>
                  <a:srgbClr val="111827"/>
                </a:solidFill>
                <a:latin typeface="Consolas"/>
              </a:rPr>
              <a:t>    return *(const int *)b - *(const int *)a;</a:t>
            </a:r>
          </a:p>
          <a:p>
            <a:pPr algn="l">
              <a:spcAft>
                <a:spcPts val="0"/>
              </a:spcAft>
            </a:pPr>
            <a:r>
              <a:rPr sz="1450" i="0">
                <a:solidFill>
                  <a:srgbClr val="111827"/>
                </a:solidFill>
                <a:latin typeface="Consolas"/>
              </a:rPr>
              <a:t>}</a:t>
            </a:r>
          </a:p>
          <a:p>
            <a:pPr algn="l">
              <a:spcAft>
                <a:spcPts val="0"/>
              </a:spcAft>
            </a:pPr>
            <a:r>
              <a:rPr sz="1450" i="0">
                <a:solidFill>
                  <a:srgbClr val="111827"/>
                </a:solidFill>
                <a:latin typeface="Consolas"/>
              </a:rPr>
              <a:t>int dobro(int x)    { return 2 * x; }</a:t>
            </a:r>
          </a:p>
          <a:p>
            <a:pPr algn="l">
              <a:spcAft>
                <a:spcPts val="0"/>
              </a:spcAft>
            </a:pPr>
            <a:r>
              <a:rPr sz="1450" i="0">
                <a:solidFill>
                  <a:srgbClr val="111827"/>
                </a:solidFill>
                <a:latin typeface="Consolas"/>
              </a:rPr>
              <a:t>int quadrado(int x) { return x * x; }</a:t>
            </a:r>
          </a:p>
          <a:p>
            <a:pPr algn="l">
              <a:spcAft>
                <a:spcPts val="0"/>
              </a:spcAft>
            </a:pPr>
            <a:r>
              <a:rPr sz="1450">
                <a:latin typeface="Consolas"/>
              </a:rPr>
              <a:t/>
            </a:r>
          </a:p>
          <a:p>
            <a:pPr algn="l">
              <a:spcAft>
                <a:spcPts val="0"/>
              </a:spcAft>
            </a:pPr>
            <a:r>
              <a:rPr sz="1450" i="0">
                <a:solidFill>
                  <a:srgbClr val="111827"/>
                </a:solidFill>
                <a:latin typeface="Consolas"/>
              </a:rPr>
              <a:t>qsort(v, 4, sizeof(int), decrescente);  </a:t>
            </a:r>
            <a:r>
              <a:rPr sz="1450" i="0">
                <a:solidFill>
                  <a:srgbClr val="0F766E"/>
                </a:solidFill>
                <a:latin typeface="Consolas"/>
              </a:rPr>
              <a:t>// 9 5 2 1</a:t>
            </a:r>
          </a:p>
          <a:p>
            <a:pPr algn="l">
              <a:spcAft>
                <a:spcPts val="0"/>
              </a:spcAft>
            </a:pPr>
            <a:r>
              <a:rPr sz="1450">
                <a:latin typeface="Consolas"/>
              </a:rPr>
              <a:t/>
            </a:r>
          </a:p>
          <a:p>
            <a:pPr algn="l">
              <a:spcAft>
                <a:spcPts val="0"/>
              </a:spcAft>
            </a:pPr>
            <a:r>
              <a:rPr sz="1450" i="0">
                <a:solidFill>
                  <a:srgbClr val="111827"/>
                </a:solidFill>
                <a:latin typeface="Consolas"/>
              </a:rPr>
              <a:t>int (*ops[])(int) = {dobro, quadrado};</a:t>
            </a:r>
          </a:p>
          <a:p>
            <a:pPr algn="l">
              <a:spcAft>
                <a:spcPts val="0"/>
              </a:spcAft>
            </a:pPr>
            <a:r>
              <a:rPr sz="1450" i="0">
                <a:solidFill>
                  <a:srgbClr val="111827"/>
                </a:solidFill>
                <a:latin typeface="Consolas"/>
              </a:rPr>
              <a:t>ops[1](7);                              </a:t>
            </a:r>
            <a:r>
              <a:rPr sz="1450" i="0">
                <a:solidFill>
                  <a:srgbClr val="0F766E"/>
                </a:solidFill>
                <a:latin typeface="Consolas"/>
              </a:rPr>
              <a:t>// 49</a:t>
            </a:r>
          </a:p>
        </p:txBody>
      </p:sp>
      <p:sp>
        <p:nvSpPr>
          <p:cNvPr id="6" name="TextBox 5"/>
          <p:cNvSpPr txBox="1"/>
          <p:nvPr/>
        </p:nvSpPr>
        <p:spPr>
          <a:xfrm>
            <a:off x="6199632" y="1325880"/>
            <a:ext cx="54406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 8+ · lambdas e referências a métodos</a:t>
            </a:r>
          </a:p>
        </p:txBody>
      </p:sp>
      <p:sp>
        <p:nvSpPr>
          <p:cNvPr id="7" name="Rectangle 6"/>
          <p:cNvSpPr/>
          <p:nvPr/>
        </p:nvSpPr>
        <p:spPr>
          <a:xfrm>
            <a:off x="6199632" y="1673352"/>
            <a:ext cx="5440680"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static int aplicar(IntUnaryOperator f, int x) {</a:t>
            </a:r>
          </a:p>
          <a:p>
            <a:pPr algn="l">
              <a:spcAft>
                <a:spcPts val="0"/>
              </a:spcAft>
            </a:pPr>
            <a:r>
              <a:rPr sz="1450" i="0">
                <a:solidFill>
                  <a:srgbClr val="111827"/>
                </a:solidFill>
                <a:latin typeface="Consolas"/>
              </a:rPr>
              <a:t>    return f.applyAsInt(x);</a:t>
            </a:r>
          </a:p>
          <a:p>
            <a:pPr algn="l">
              <a:spcAft>
                <a:spcPts val="0"/>
              </a:spcAft>
            </a:pPr>
            <a:r>
              <a:rPr sz="1450" i="0">
                <a:solidFill>
                  <a:srgbClr val="111827"/>
                </a:solidFill>
                <a:latin typeface="Consolas"/>
              </a:rPr>
              <a:t>}</a:t>
            </a:r>
          </a:p>
          <a:p>
            <a:pPr algn="l">
              <a:spcAft>
                <a:spcPts val="0"/>
              </a:spcAft>
            </a:pPr>
            <a:r>
              <a:rPr sz="1450" i="0">
                <a:solidFill>
                  <a:srgbClr val="111827"/>
                </a:solidFill>
                <a:latin typeface="Consolas"/>
              </a:rPr>
              <a:t>aplicar(x -&gt; x * 2, 7);      </a:t>
            </a:r>
            <a:r>
              <a:rPr sz="1450" i="0">
                <a:solidFill>
                  <a:srgbClr val="0F766E"/>
                </a:solidFill>
                <a:latin typeface="Consolas"/>
              </a:rPr>
              <a:t>// 14 (lambda)</a:t>
            </a:r>
          </a:p>
          <a:p>
            <a:pPr algn="l">
              <a:spcAft>
                <a:spcPts val="0"/>
              </a:spcAft>
            </a:pPr>
            <a:r>
              <a:rPr sz="1450" i="0">
                <a:solidFill>
                  <a:srgbClr val="111827"/>
                </a:solidFill>
                <a:latin typeface="Consolas"/>
              </a:rPr>
              <a:t>aplicar(Math::abs, -7);      </a:t>
            </a:r>
            <a:r>
              <a:rPr sz="1450" i="0">
                <a:solidFill>
                  <a:srgbClr val="0F766E"/>
                </a:solidFill>
                <a:latin typeface="Consolas"/>
              </a:rPr>
              <a:t>// 7  (ref. a método)</a:t>
            </a:r>
          </a:p>
          <a:p>
            <a:pPr algn="l">
              <a:spcAft>
                <a:spcPts val="0"/>
              </a:spcAft>
            </a:pPr>
            <a:r>
              <a:rPr sz="1450">
                <a:latin typeface="Consolas"/>
              </a:rPr>
              <a:t/>
            </a:r>
          </a:p>
          <a:p>
            <a:pPr algn="l">
              <a:spcAft>
                <a:spcPts val="0"/>
              </a:spcAft>
            </a:pPr>
            <a:r>
              <a:rPr sz="1450" i="0">
                <a:solidFill>
                  <a:srgbClr val="111827"/>
                </a:solidFill>
                <a:latin typeface="Consolas"/>
              </a:rPr>
              <a:t>nomes.sort(Comparator.comparing(</a:t>
            </a:r>
          </a:p>
          <a:p>
            <a:pPr algn="l">
              <a:spcAft>
                <a:spcPts val="0"/>
              </a:spcAft>
            </a:pPr>
            <a:r>
              <a:rPr sz="1450" i="0">
                <a:solidFill>
                  <a:srgbClr val="111827"/>
                </a:solidFill>
                <a:latin typeface="Consolas"/>
              </a:rPr>
              <a:t>        String::toLowerCase));</a:t>
            </a:r>
          </a:p>
          <a:p>
            <a:pPr algn="l">
              <a:spcAft>
                <a:spcPts val="0"/>
              </a:spcAft>
            </a:pPr>
            <a:r>
              <a:rPr sz="1450" i="0">
                <a:solidFill>
                  <a:srgbClr val="0F766E"/>
                </a:solidFill>
                <a:latin typeface="Consolas"/>
              </a:rPr>
              <a:t>// [Ana, bia, caio]</a:t>
            </a:r>
          </a:p>
        </p:txBody>
      </p:sp>
      <p:sp>
        <p:nvSpPr>
          <p:cNvPr id="8" name="TextBox 7"/>
          <p:cNvSpPr txBox="1"/>
          <p:nvPr/>
        </p:nvSpPr>
        <p:spPr>
          <a:xfrm>
            <a:off x="548640" y="5440680"/>
            <a:ext cx="11094415" cy="640080"/>
          </a:xfrm>
          <a:prstGeom prst="rect">
            <a:avLst/>
          </a:prstGeom>
          <a:noFill/>
        </p:spPr>
        <p:txBody>
          <a:bodyPr wrap="square" anchor="t" lIns="0" rIns="0" tIns="0" bIns="0">
            <a:noAutofit/>
          </a:bodyPr>
          <a:lstStyle/>
          <a:p>
            <a:pPr algn="l">
              <a:spcAft>
                <a:spcPts val="400"/>
              </a:spcAft>
            </a:pPr>
            <a:r>
              <a:rPr sz="1700" b="0">
                <a:solidFill>
                  <a:srgbClr val="1F2937"/>
                </a:solidFill>
              </a:rPr>
              <a:t>Usos típicos (p. 393): </a:t>
            </a:r>
            <a:r>
              <a:rPr sz="1700" b="1">
                <a:solidFill>
                  <a:srgbClr val="1F2937"/>
                </a:solidFill>
              </a:rPr>
              <a:t>tratadores de eventos</a:t>
            </a:r>
            <a:r>
              <a:rPr sz="1700" b="0">
                <a:solidFill>
                  <a:srgbClr val="1F2937"/>
                </a:solidFill>
              </a:rPr>
              <a:t> e </a:t>
            </a:r>
            <a:r>
              <a:rPr sz="1700" b="1">
                <a:solidFill>
                  <a:srgbClr val="1F2937"/>
                </a:solidFill>
              </a:rPr>
              <a:t>callbacks</a:t>
            </a:r>
            <a:r>
              <a:rPr sz="1700" b="0">
                <a:solidFill>
                  <a:srgbClr val="1F2937"/>
                </a:solidFill>
              </a:rPr>
              <a:t>. Em projeto, é o padrão </a:t>
            </a:r>
            <a:r>
              <a:rPr sz="1700" b="1">
                <a:solidFill>
                  <a:srgbClr val="1F2937"/>
                </a:solidFill>
              </a:rPr>
              <a:t>Strategy</a:t>
            </a:r>
            <a:r>
              <a:rPr sz="1700" b="0">
                <a:solidFill>
                  <a:srgbClr val="1F2937"/>
                </a:solidFil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Fechamentos (closures)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§9.12 · p. 404-406 · exemplos/05_fechamentos</a:t>
            </a:r>
          </a:p>
        </p:txBody>
      </p:sp>
      <p:sp>
        <p:nvSpPr>
          <p:cNvPr id="4" name="TextBox 3"/>
          <p:cNvSpPr txBox="1"/>
          <p:nvPr/>
        </p:nvSpPr>
        <p:spPr>
          <a:xfrm>
            <a:off x="548640" y="1325880"/>
            <a:ext cx="56692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JavaScript · exemplo do livro (p. 405)</a:t>
            </a:r>
          </a:p>
        </p:txBody>
      </p:sp>
      <p:sp>
        <p:nvSpPr>
          <p:cNvPr id="5" name="Rectangle 4"/>
          <p:cNvSpPr/>
          <p:nvPr/>
        </p:nvSpPr>
        <p:spPr>
          <a:xfrm>
            <a:off x="548640" y="1673352"/>
            <a:ext cx="5669280" cy="267004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function makeAdder(x) {</a:t>
            </a:r>
          </a:p>
          <a:p>
            <a:pPr algn="l">
              <a:spcAft>
                <a:spcPts val="0"/>
              </a:spcAft>
            </a:pPr>
            <a:r>
              <a:rPr sz="1600" i="0">
                <a:solidFill>
                  <a:srgbClr val="111827"/>
                </a:solidFill>
                <a:latin typeface="Consolas"/>
              </a:rPr>
              <a:t>  return function (y) { return x + y; };</a:t>
            </a:r>
          </a:p>
          <a:p>
            <a:pPr algn="l">
              <a:spcAft>
                <a:spcPts val="0"/>
              </a:spcAft>
            </a:pPr>
            <a:r>
              <a:rPr sz="1600" i="0">
                <a:solidFill>
                  <a:srgbClr val="111827"/>
                </a:solidFill>
                <a:latin typeface="Consolas"/>
              </a:rPr>
              <a:t>}</a:t>
            </a:r>
          </a:p>
          <a:p>
            <a:pPr algn="l">
              <a:spcAft>
                <a:spcPts val="0"/>
              </a:spcAft>
            </a:pPr>
            <a:r>
              <a:rPr sz="1600" i="0">
                <a:solidFill>
                  <a:srgbClr val="111827"/>
                </a:solidFill>
                <a:latin typeface="Consolas"/>
              </a:rPr>
              <a:t>const add10 = makeAdder(10);</a:t>
            </a:r>
          </a:p>
          <a:p>
            <a:pPr algn="l">
              <a:spcAft>
                <a:spcPts val="0"/>
              </a:spcAft>
            </a:pPr>
            <a:r>
              <a:rPr sz="1600" i="0">
                <a:solidFill>
                  <a:srgbClr val="111827"/>
                </a:solidFill>
                <a:latin typeface="Consolas"/>
              </a:rPr>
              <a:t>const add5 = makeAdder(5);</a:t>
            </a:r>
          </a:p>
          <a:p>
            <a:pPr algn="l">
              <a:spcAft>
                <a:spcPts val="0"/>
              </a:spcAft>
            </a:pPr>
            <a:r>
              <a:rPr sz="1600" i="0">
                <a:solidFill>
                  <a:srgbClr val="111827"/>
                </a:solidFill>
                <a:latin typeface="Consolas"/>
              </a:rPr>
              <a:t>add10(20);   </a:t>
            </a:r>
            <a:r>
              <a:rPr sz="1600" i="0">
                <a:solidFill>
                  <a:srgbClr val="0F766E"/>
                </a:solidFill>
                <a:latin typeface="Consolas"/>
              </a:rPr>
              <a:t>// 30</a:t>
            </a:r>
          </a:p>
          <a:p>
            <a:pPr algn="l">
              <a:spcAft>
                <a:spcPts val="0"/>
              </a:spcAft>
            </a:pPr>
            <a:r>
              <a:rPr sz="1600" i="0">
                <a:solidFill>
                  <a:srgbClr val="111827"/>
                </a:solidFill>
                <a:latin typeface="Consolas"/>
              </a:rPr>
              <a:t>add5(20);    </a:t>
            </a:r>
            <a:r>
              <a:rPr sz="1600" i="0">
                <a:solidFill>
                  <a:srgbClr val="0F766E"/>
                </a:solidFill>
                <a:latin typeface="Consolas"/>
              </a:rPr>
              <a:t>// 25</a:t>
            </a:r>
          </a:p>
        </p:txBody>
      </p:sp>
      <p:sp>
        <p:nvSpPr>
          <p:cNvPr id="6" name="TextBox 5"/>
          <p:cNvSpPr txBox="1"/>
          <p:nvPr/>
        </p:nvSpPr>
        <p:spPr>
          <a:xfrm>
            <a:off x="548640" y="4526280"/>
            <a:ext cx="56692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Estado privado</a:t>
            </a:r>
          </a:p>
        </p:txBody>
      </p:sp>
      <p:sp>
        <p:nvSpPr>
          <p:cNvPr id="7" name="Rectangle 6"/>
          <p:cNvSpPr/>
          <p:nvPr/>
        </p:nvSpPr>
        <p:spPr>
          <a:xfrm>
            <a:off x="548640" y="4873752"/>
            <a:ext cx="5669280" cy="1207007"/>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function criarContador() {</a:t>
            </a:r>
          </a:p>
          <a:p>
            <a:pPr algn="l">
              <a:spcAft>
                <a:spcPts val="0"/>
              </a:spcAft>
            </a:pPr>
            <a:r>
              <a:rPr sz="1500" i="0">
                <a:solidFill>
                  <a:srgbClr val="111827"/>
                </a:solidFill>
                <a:latin typeface="Consolas"/>
              </a:rPr>
              <a:t>  let n = 0;               </a:t>
            </a:r>
            <a:r>
              <a:rPr sz="1500" i="0">
                <a:solidFill>
                  <a:srgbClr val="0F766E"/>
                </a:solidFill>
                <a:latin typeface="Consolas"/>
              </a:rPr>
              <a:t>// sobrevive ao return!</a:t>
            </a:r>
          </a:p>
          <a:p>
            <a:pPr algn="l">
              <a:spcAft>
                <a:spcPts val="0"/>
              </a:spcAft>
            </a:pPr>
            <a:r>
              <a:rPr sz="1500" i="0">
                <a:solidFill>
                  <a:srgbClr val="111827"/>
                </a:solidFill>
                <a:latin typeface="Consolas"/>
              </a:rPr>
              <a:t>  return () =&gt; ++n;</a:t>
            </a:r>
          </a:p>
          <a:p>
            <a:pPr algn="l">
              <a:spcAft>
                <a:spcPts val="0"/>
              </a:spcAft>
            </a:pPr>
            <a:r>
              <a:rPr sz="1500" i="0">
                <a:solidFill>
                  <a:srgbClr val="111827"/>
                </a:solidFill>
                <a:latin typeface="Consolas"/>
              </a:rPr>
              <a:t>}</a:t>
            </a:r>
          </a:p>
        </p:txBody>
      </p:sp>
      <p:sp>
        <p:nvSpPr>
          <p:cNvPr id="8" name="Rounded Rectangle 7"/>
          <p:cNvSpPr/>
          <p:nvPr/>
        </p:nvSpPr>
        <p:spPr>
          <a:xfrm>
            <a:off x="6446520" y="1325880"/>
            <a:ext cx="5193792" cy="1920240"/>
          </a:xfrm>
          <a:prstGeom prst="roundRect">
            <a:avLst>
              <a:gd name="adj" fmla="val 7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500"/>
              </a:spcAft>
            </a:pPr>
            <a:r>
              <a:rPr sz="1800" b="1">
                <a:solidFill>
                  <a:srgbClr val="0F766E"/>
                </a:solidFill>
              </a:rPr>
              <a:t>Fechamento = subprograma + ambiente</a:t>
            </a:r>
          </a:p>
          <a:p>
            <a:pPr algn="l">
              <a:spcAft>
                <a:spcPts val="400"/>
              </a:spcAft>
            </a:pPr>
            <a:r>
              <a:rPr sz="1600" b="0">
                <a:solidFill>
                  <a:srgbClr val="1F2937"/>
                </a:solidFill>
              </a:rPr>
              <a:t>As variáveis capturadas têm </a:t>
            </a:r>
            <a:r>
              <a:rPr sz="1600" b="1">
                <a:solidFill>
                  <a:srgbClr val="1F2937"/>
                </a:solidFill>
              </a:rPr>
              <a:t>extensão ilimitada</a:t>
            </a:r>
            <a:r>
              <a:rPr sz="1600" b="0">
                <a:solidFill>
                  <a:srgbClr val="1F2937"/>
                </a:solidFill>
              </a:rPr>
              <a:t> (p. 405): vão para o </a:t>
            </a:r>
            <a:r>
              <a:rPr sz="1600" b="1">
                <a:solidFill>
                  <a:srgbClr val="1F2937"/>
                </a:solidFill>
              </a:rPr>
              <a:t>monte</a:t>
            </a:r>
            <a:r>
              <a:rPr sz="1600" b="0">
                <a:solidFill>
                  <a:srgbClr val="1F2937"/>
                </a:solidFill>
              </a:rPr>
              <a:t>, não para a pilha.</a:t>
            </a:r>
          </a:p>
        </p:txBody>
      </p:sp>
      <p:sp>
        <p:nvSpPr>
          <p:cNvPr id="9" name="Rounded Rectangle 8"/>
          <p:cNvSpPr/>
          <p:nvPr/>
        </p:nvSpPr>
        <p:spPr>
          <a:xfrm>
            <a:off x="6446520" y="3429000"/>
            <a:ext cx="5193792" cy="1252728"/>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Quem suporta (p. 405)</a:t>
            </a:r>
          </a:p>
          <a:p>
            <a:pPr algn="l">
              <a:spcAft>
                <a:spcPts val="400"/>
              </a:spcAft>
            </a:pPr>
            <a:r>
              <a:rPr sz="1500" b="0">
                <a:solidFill>
                  <a:srgbClr val="1F2937"/>
                </a:solidFill>
              </a:rPr>
              <a:t>linguagens funcionais, de script, C#; hoje também Java, Go, Rust, C++11</a:t>
            </a:r>
          </a:p>
        </p:txBody>
      </p:sp>
      <p:sp>
        <p:nvSpPr>
          <p:cNvPr id="10" name="Rounded Rectangle 9"/>
          <p:cNvSpPr/>
          <p:nvPr/>
        </p:nvSpPr>
        <p:spPr>
          <a:xfrm>
            <a:off x="6446520" y="4818888"/>
            <a:ext cx="5193792" cy="1252728"/>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Para que serve</a:t>
            </a:r>
          </a:p>
          <a:p>
            <a:pPr algn="l">
              <a:spcAft>
                <a:spcPts val="400"/>
              </a:spcAft>
            </a:pPr>
            <a:r>
              <a:rPr sz="1500" b="0">
                <a:solidFill>
                  <a:srgbClr val="1F2937"/>
                </a:solidFill>
              </a:rPr>
              <a:t>estado privado, callbacks com contexto, fábricas de funções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Fechamentos: o que exatamente é capturado?</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§9.12 · p. 404-406 · exemplos/05_fechamentos</a:t>
            </a:r>
          </a:p>
        </p:txBody>
      </p:sp>
      <p:sp>
        <p:nvSpPr>
          <p:cNvPr id="4" name="TextBox 3"/>
          <p:cNvSpPr txBox="1"/>
          <p:nvPr/>
        </p:nvSpPr>
        <p:spPr>
          <a:xfrm>
            <a:off x="548640" y="1325880"/>
            <a:ext cx="56692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JavaScript · var × let</a:t>
            </a:r>
          </a:p>
        </p:txBody>
      </p:sp>
      <p:sp>
        <p:nvSpPr>
          <p:cNvPr id="5" name="Rectangle 4"/>
          <p:cNvSpPr/>
          <p:nvPr/>
        </p:nvSpPr>
        <p:spPr>
          <a:xfrm>
            <a:off x="548640" y="1673352"/>
            <a:ext cx="5669280" cy="29443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const comVar = [];</a:t>
            </a:r>
          </a:p>
          <a:p>
            <a:pPr algn="l">
              <a:spcAft>
                <a:spcPts val="0"/>
              </a:spcAft>
            </a:pPr>
            <a:r>
              <a:rPr sz="1450" i="0">
                <a:solidFill>
                  <a:srgbClr val="111827"/>
                </a:solidFill>
                <a:latin typeface="Consolas"/>
              </a:rPr>
              <a:t>for (var i = 0; i &lt; 3; i++) comVar.push(() =&gt; i);</a:t>
            </a:r>
          </a:p>
          <a:p>
            <a:pPr algn="l">
              <a:spcAft>
                <a:spcPts val="0"/>
              </a:spcAft>
            </a:pPr>
            <a:r>
              <a:rPr sz="1450" i="0">
                <a:solidFill>
                  <a:srgbClr val="111827"/>
                </a:solidFill>
                <a:latin typeface="Consolas"/>
              </a:rPr>
              <a:t>comVar.map(f =&gt; f());   </a:t>
            </a:r>
            <a:r>
              <a:rPr sz="1450" i="0">
                <a:solidFill>
                  <a:srgbClr val="0F766E"/>
                </a:solidFill>
                <a:latin typeface="Consolas"/>
              </a:rPr>
              <a:t>// [3, 3, 3]: UM só i</a:t>
            </a:r>
          </a:p>
          <a:p>
            <a:pPr algn="l">
              <a:spcAft>
                <a:spcPts val="0"/>
              </a:spcAft>
            </a:pPr>
            <a:r>
              <a:rPr sz="1450">
                <a:latin typeface="Consolas"/>
              </a:rPr>
              <a:t/>
            </a:r>
          </a:p>
          <a:p>
            <a:pPr algn="l">
              <a:spcAft>
                <a:spcPts val="0"/>
              </a:spcAft>
            </a:pPr>
            <a:r>
              <a:rPr sz="1450" i="0">
                <a:solidFill>
                  <a:srgbClr val="111827"/>
                </a:solidFill>
                <a:latin typeface="Consolas"/>
              </a:rPr>
              <a:t>const comLet = [];</a:t>
            </a:r>
          </a:p>
          <a:p>
            <a:pPr algn="l">
              <a:spcAft>
                <a:spcPts val="0"/>
              </a:spcAft>
            </a:pPr>
            <a:r>
              <a:rPr sz="1450" i="0">
                <a:solidFill>
                  <a:srgbClr val="111827"/>
                </a:solidFill>
                <a:latin typeface="Consolas"/>
              </a:rPr>
              <a:t>for (let j = 0; j &lt; 3; j++) comLet.push(() =&gt; j);</a:t>
            </a:r>
          </a:p>
          <a:p>
            <a:pPr algn="l">
              <a:spcAft>
                <a:spcPts val="0"/>
              </a:spcAft>
            </a:pPr>
            <a:r>
              <a:rPr sz="1450" i="0">
                <a:solidFill>
                  <a:srgbClr val="111827"/>
                </a:solidFill>
                <a:latin typeface="Consolas"/>
              </a:rPr>
              <a:t>comLet.map(f =&gt; f());   </a:t>
            </a:r>
            <a:r>
              <a:rPr sz="1450" i="0">
                <a:solidFill>
                  <a:srgbClr val="0F766E"/>
                </a:solidFill>
                <a:latin typeface="Consolas"/>
              </a:rPr>
              <a:t>// [0, 1, 2]: um j por volta</a:t>
            </a:r>
          </a:p>
        </p:txBody>
      </p:sp>
      <p:sp>
        <p:nvSpPr>
          <p:cNvPr id="6" name="TextBox 5"/>
          <p:cNvSpPr txBox="1"/>
          <p:nvPr/>
        </p:nvSpPr>
        <p:spPr>
          <a:xfrm>
            <a:off x="6446520" y="1325880"/>
            <a:ext cx="5193792"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Go · cada fechamento tem o seu n</a:t>
            </a:r>
          </a:p>
        </p:txBody>
      </p:sp>
      <p:sp>
        <p:nvSpPr>
          <p:cNvPr id="7" name="Rectangle 6"/>
          <p:cNvSpPr/>
          <p:nvPr/>
        </p:nvSpPr>
        <p:spPr>
          <a:xfrm>
            <a:off x="6446520" y="1673352"/>
            <a:ext cx="5193792" cy="29443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func criarContador() func() int {</a:t>
            </a:r>
          </a:p>
          <a:p>
            <a:pPr algn="l">
              <a:spcAft>
                <a:spcPts val="0"/>
              </a:spcAft>
            </a:pPr>
            <a:r>
              <a:rPr sz="1500" i="0">
                <a:solidFill>
                  <a:srgbClr val="111827"/>
                </a:solidFill>
                <a:latin typeface="Consolas"/>
              </a:rPr>
              <a:t>    n := 0</a:t>
            </a:r>
          </a:p>
          <a:p>
            <a:pPr algn="l">
              <a:spcAft>
                <a:spcPts val="0"/>
              </a:spcAft>
            </a:pPr>
            <a:r>
              <a:rPr sz="1500" i="0">
                <a:solidFill>
                  <a:srgbClr val="111827"/>
                </a:solidFill>
                <a:latin typeface="Consolas"/>
              </a:rPr>
              <a:t>    return func() int { n++; return n }</a:t>
            </a:r>
          </a:p>
          <a:p>
            <a:pPr algn="l">
              <a:spcAft>
                <a:spcPts val="0"/>
              </a:spcAft>
            </a:pPr>
            <a:r>
              <a:rPr sz="1500" i="0">
                <a:solidFill>
                  <a:srgbClr val="111827"/>
                </a:solidFill>
                <a:latin typeface="Consolas"/>
              </a:rPr>
              <a:t>}</a:t>
            </a:r>
          </a:p>
          <a:p>
            <a:pPr algn="l">
              <a:spcAft>
                <a:spcPts val="0"/>
              </a:spcAft>
            </a:pPr>
            <a:r>
              <a:rPr sz="1500" i="0">
                <a:solidFill>
                  <a:srgbClr val="111827"/>
                </a:solidFill>
                <a:latin typeface="Consolas"/>
              </a:rPr>
              <a:t>c1 := criarContador()</a:t>
            </a:r>
          </a:p>
          <a:p>
            <a:pPr algn="l">
              <a:spcAft>
                <a:spcPts val="0"/>
              </a:spcAft>
            </a:pPr>
            <a:r>
              <a:rPr sz="1500" i="0">
                <a:solidFill>
                  <a:srgbClr val="111827"/>
                </a:solidFill>
                <a:latin typeface="Consolas"/>
              </a:rPr>
              <a:t>c2 := criarContador()</a:t>
            </a:r>
          </a:p>
          <a:p>
            <a:pPr algn="l">
              <a:spcAft>
                <a:spcPts val="0"/>
              </a:spcAft>
            </a:pPr>
            <a:r>
              <a:rPr sz="1500" i="0">
                <a:solidFill>
                  <a:srgbClr val="111827"/>
                </a:solidFill>
                <a:latin typeface="Consolas"/>
              </a:rPr>
              <a:t>c1(); c1()</a:t>
            </a:r>
          </a:p>
          <a:p>
            <a:pPr algn="l">
              <a:spcAft>
                <a:spcPts val="0"/>
              </a:spcAft>
            </a:pPr>
            <a:r>
              <a:rPr sz="1500" i="0">
                <a:solidFill>
                  <a:srgbClr val="111827"/>
                </a:solidFill>
                <a:latin typeface="Consolas"/>
              </a:rPr>
              <a:t>fmt.Println(c1(), c2())   </a:t>
            </a:r>
            <a:r>
              <a:rPr sz="1500" i="0">
                <a:solidFill>
                  <a:srgbClr val="0F766E"/>
                </a:solidFill>
                <a:latin typeface="Consolas"/>
              </a:rPr>
              <a:t>// 3 1</a:t>
            </a:r>
          </a:p>
        </p:txBody>
      </p:sp>
      <p:sp>
        <p:nvSpPr>
          <p:cNvPr id="8" name="Rounded Rectangle 7"/>
          <p:cNvSpPr/>
          <p:nvPr/>
        </p:nvSpPr>
        <p:spPr>
          <a:xfrm>
            <a:off x="548640" y="4892040"/>
            <a:ext cx="11094415" cy="118872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300"/>
              </a:spcAft>
            </a:pPr>
            <a:r>
              <a:rPr sz="1700" b="1">
                <a:solidFill>
                  <a:srgbClr val="1F2937"/>
                </a:solidFill>
              </a:rPr>
              <a:t>Regra geral</a:t>
            </a:r>
          </a:p>
          <a:p>
            <a:pPr algn="l">
              <a:spcAft>
                <a:spcPts val="400"/>
              </a:spcAft>
            </a:pPr>
            <a:r>
              <a:rPr sz="1600" b="0">
                <a:solidFill>
                  <a:srgbClr val="1F2937"/>
                </a:solidFill>
              </a:rPr>
              <a:t>O fechamento captura a </a:t>
            </a:r>
            <a:r>
              <a:rPr sz="1600" b="1">
                <a:solidFill>
                  <a:srgbClr val="1F2937"/>
                </a:solidFill>
              </a:rPr>
              <a:t>variável</a:t>
            </a:r>
            <a:r>
              <a:rPr sz="1600" b="0">
                <a:solidFill>
                  <a:srgbClr val="1F2937"/>
                </a:solidFill>
              </a:rPr>
              <a:t> (a célula de memória), e não uma cópia do valor. Rust obriga a escolher: referência, referência mutável ou </a:t>
            </a:r>
            <a:r>
              <a:rPr sz="1472" b="0">
                <a:solidFill>
                  <a:srgbClr val="1F2937"/>
                </a:solidFill>
                <a:latin typeface="Consolas"/>
              </a:rPr>
              <a:t>move</a:t>
            </a:r>
            <a:r>
              <a:rPr sz="1600" b="0">
                <a:solidFill>
                  <a:srgbClr val="1F2937"/>
                </a:solidFill>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 que acontece em uma chamada e em um retorno</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§10.1-10.3.1 · p. 416-421 · Figura 10.3</a:t>
            </a:r>
          </a:p>
        </p:txBody>
      </p:sp>
      <p:sp>
        <p:nvSpPr>
          <p:cNvPr id="4" name="Rounded Rectangle 3"/>
          <p:cNvSpPr/>
          <p:nvPr/>
        </p:nvSpPr>
        <p:spPr>
          <a:xfrm>
            <a:off x="548640" y="1325880"/>
            <a:ext cx="3566160" cy="21488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Na chamada (p. 417)</a:t>
            </a:r>
          </a:p>
          <a:p>
            <a:pPr algn="l">
              <a:spcAft>
                <a:spcPts val="400"/>
              </a:spcAft>
            </a:pPr>
            <a:r>
              <a:rPr sz="1500" b="0">
                <a:solidFill>
                  <a:srgbClr val="1F2937"/>
                </a:solidFill>
              </a:rPr>
              <a:t>salvar o estado, passar os parâmetros, passar o endereço de retorno, transferir o controle</a:t>
            </a:r>
          </a:p>
        </p:txBody>
      </p:sp>
      <p:sp>
        <p:nvSpPr>
          <p:cNvPr id="5" name="Rounded Rectangle 4"/>
          <p:cNvSpPr/>
          <p:nvPr/>
        </p:nvSpPr>
        <p:spPr>
          <a:xfrm>
            <a:off x="548640" y="3703320"/>
            <a:ext cx="3566160" cy="21488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700" b="1">
                <a:solidFill>
                  <a:srgbClr val="1F2937"/>
                </a:solidFill>
              </a:rPr>
              <a:t>No retorno (p. 417)</a:t>
            </a:r>
          </a:p>
          <a:p>
            <a:pPr algn="l">
              <a:spcAft>
                <a:spcPts val="400"/>
              </a:spcAft>
            </a:pPr>
            <a:r>
              <a:rPr sz="1500" b="0">
                <a:solidFill>
                  <a:srgbClr val="1F2937"/>
                </a:solidFill>
              </a:rPr>
              <a:t>copiar os parâmetros de saída, entregar o valor, restaurar o estado, voltar</a:t>
            </a:r>
          </a:p>
        </p:txBody>
      </p:sp>
      <p:sp>
        <p:nvSpPr>
          <p:cNvPr id="6" name="TextBox 5"/>
          <p:cNvSpPr txBox="1"/>
          <p:nvPr/>
        </p:nvSpPr>
        <p:spPr>
          <a:xfrm>
            <a:off x="4480560" y="1325880"/>
            <a:ext cx="3566160" cy="457200"/>
          </a:xfrm>
          <a:prstGeom prst="rect">
            <a:avLst/>
          </a:prstGeom>
          <a:noFill/>
        </p:spPr>
        <p:txBody>
          <a:bodyPr wrap="square" anchor="t" lIns="0" rIns="0" tIns="0" bIns="0">
            <a:noAutofit/>
          </a:bodyPr>
          <a:lstStyle/>
          <a:p>
            <a:pPr algn="ctr">
              <a:spcAft>
                <a:spcPts val="400"/>
              </a:spcAft>
            </a:pPr>
            <a:r>
              <a:rPr sz="1600" b="1">
                <a:solidFill>
                  <a:srgbClr val="1F2937"/>
                </a:solidFill>
              </a:rPr>
              <a:t>Registro de ativação (Fig. 10.3)</a:t>
            </a:r>
          </a:p>
        </p:txBody>
      </p:sp>
      <p:sp>
        <p:nvSpPr>
          <p:cNvPr id="7" name="Rectangle 6"/>
          <p:cNvSpPr/>
          <p:nvPr/>
        </p:nvSpPr>
        <p:spPr>
          <a:xfrm>
            <a:off x="4846320" y="1874519"/>
            <a:ext cx="2834640" cy="822960"/>
          </a:xfrm>
          <a:prstGeom prst="rect">
            <a:avLst/>
          </a:prstGeom>
          <a:solidFill>
            <a:srgbClr val="E6F4F1"/>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1600" b="1">
                <a:solidFill>
                  <a:srgbClr val="1F2937"/>
                </a:solidFill>
              </a:rPr>
              <a:t>Variáveis locais</a:t>
            </a:r>
          </a:p>
        </p:txBody>
      </p:sp>
      <p:sp>
        <p:nvSpPr>
          <p:cNvPr id="8" name="Rectangle 7"/>
          <p:cNvSpPr/>
          <p:nvPr/>
        </p:nvSpPr>
        <p:spPr>
          <a:xfrm>
            <a:off x="4846320" y="2743200"/>
            <a:ext cx="2834640" cy="82296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1600" b="0">
                <a:solidFill>
                  <a:srgbClr val="1F2937"/>
                </a:solidFill>
              </a:rPr>
              <a:t>Parâmetros</a:t>
            </a:r>
          </a:p>
        </p:txBody>
      </p:sp>
      <p:sp>
        <p:nvSpPr>
          <p:cNvPr id="9" name="Rectangle 8"/>
          <p:cNvSpPr/>
          <p:nvPr/>
        </p:nvSpPr>
        <p:spPr>
          <a:xfrm>
            <a:off x="4846320" y="3611879"/>
            <a:ext cx="2834640" cy="82296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1600" b="0">
                <a:solidFill>
                  <a:srgbClr val="1F2937"/>
                </a:solidFill>
              </a:rPr>
              <a:t>Ligação dinâmica</a:t>
            </a:r>
          </a:p>
        </p:txBody>
      </p:sp>
      <p:sp>
        <p:nvSpPr>
          <p:cNvPr id="10" name="Rectangle 9"/>
          <p:cNvSpPr/>
          <p:nvPr/>
        </p:nvSpPr>
        <p:spPr>
          <a:xfrm>
            <a:off x="4846320" y="4480559"/>
            <a:ext cx="2834640" cy="822960"/>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400"/>
              </a:spcAft>
            </a:pPr>
            <a:r>
              <a:rPr sz="1600" b="0">
                <a:solidFill>
                  <a:srgbClr val="1F2937"/>
                </a:solidFill>
              </a:rPr>
              <a:t>Endereço de retorno</a:t>
            </a:r>
          </a:p>
        </p:txBody>
      </p:sp>
      <p:sp>
        <p:nvSpPr>
          <p:cNvPr id="11" name="TextBox 10"/>
          <p:cNvSpPr txBox="1"/>
          <p:nvPr/>
        </p:nvSpPr>
        <p:spPr>
          <a:xfrm>
            <a:off x="4480560" y="5394960"/>
            <a:ext cx="3566160" cy="640080"/>
          </a:xfrm>
          <a:prstGeom prst="rect">
            <a:avLst/>
          </a:prstGeom>
          <a:noFill/>
        </p:spPr>
        <p:txBody>
          <a:bodyPr wrap="square" anchor="t" lIns="0" rIns="0" tIns="0" bIns="0">
            <a:noAutofit/>
          </a:bodyPr>
          <a:lstStyle/>
          <a:p>
            <a:pPr algn="ctr">
              <a:spcAft>
                <a:spcPts val="400"/>
              </a:spcAft>
            </a:pPr>
            <a:r>
              <a:rPr sz="1300" b="0">
                <a:solidFill>
                  <a:srgbClr val="667085"/>
                </a:solidFill>
              </a:rPr>
              <a:t>↑ topo da pilha   ·   base (PE) ↓</a:t>
            </a:r>
          </a:p>
        </p:txBody>
      </p:sp>
      <p:sp>
        <p:nvSpPr>
          <p:cNvPr id="12" name="Rounded Rectangle 11"/>
          <p:cNvSpPr/>
          <p:nvPr/>
        </p:nvSpPr>
        <p:spPr>
          <a:xfrm>
            <a:off x="8321040" y="1325880"/>
            <a:ext cx="3319272" cy="21488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Pilha de execução</a:t>
            </a:r>
          </a:p>
          <a:p>
            <a:pPr algn="l">
              <a:spcAft>
                <a:spcPts val="400"/>
              </a:spcAft>
            </a:pPr>
            <a:r>
              <a:rPr sz="1500" b="0">
                <a:solidFill>
                  <a:srgbClr val="1F2937"/>
                </a:solidFill>
              </a:rPr>
              <a:t>o último chamado é o primeiro a terminar: uma IRA por ativação (p. 421)</a:t>
            </a:r>
          </a:p>
        </p:txBody>
      </p:sp>
      <p:sp>
        <p:nvSpPr>
          <p:cNvPr id="13" name="Rounded Rectangle 12"/>
          <p:cNvSpPr/>
          <p:nvPr/>
        </p:nvSpPr>
        <p:spPr>
          <a:xfrm>
            <a:off x="8321040" y="3703320"/>
            <a:ext cx="3319272" cy="21488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Ponteiro de ambiente</a:t>
            </a:r>
          </a:p>
          <a:p>
            <a:pPr algn="l">
              <a:spcAft>
                <a:spcPts val="400"/>
              </a:spcAft>
            </a:pPr>
            <a:r>
              <a:rPr sz="1500" b="0">
                <a:solidFill>
                  <a:srgbClr val="1F2937"/>
                </a:solidFill>
              </a:rPr>
              <a:t>aponta para a IRA atual; locais = PE + deslocamento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Recursão: várias ativações ao mesmo tempo</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§10.3.3 · p. 425-427 · Figura 10.7 · exemplos/06_pilha</a:t>
            </a:r>
          </a:p>
        </p:txBody>
      </p:sp>
      <p:sp>
        <p:nvSpPr>
          <p:cNvPr id="4" name="TextBox 3"/>
          <p:cNvSpPr txBox="1"/>
          <p:nvPr/>
        </p:nvSpPr>
        <p:spPr>
          <a:xfrm>
            <a:off x="548640" y="1325880"/>
            <a:ext cx="484632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C · exemplo do livro</a:t>
            </a:r>
          </a:p>
        </p:txBody>
      </p:sp>
      <p:sp>
        <p:nvSpPr>
          <p:cNvPr id="5" name="Rectangle 4"/>
          <p:cNvSpPr/>
          <p:nvPr/>
        </p:nvSpPr>
        <p:spPr>
          <a:xfrm>
            <a:off x="548640" y="1673352"/>
            <a:ext cx="4846320" cy="27614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int fatorial(int n) {</a:t>
            </a:r>
          </a:p>
          <a:p>
            <a:pPr algn="l">
              <a:spcAft>
                <a:spcPts val="0"/>
              </a:spcAft>
            </a:pPr>
            <a:r>
              <a:rPr sz="1600" i="0">
                <a:solidFill>
                  <a:srgbClr val="111827"/>
                </a:solidFill>
                <a:latin typeface="Consolas"/>
              </a:rPr>
              <a:t>    if (n &lt;= 1)</a:t>
            </a:r>
          </a:p>
          <a:p>
            <a:pPr algn="l">
              <a:spcAft>
                <a:spcPts val="0"/>
              </a:spcAft>
            </a:pPr>
            <a:r>
              <a:rPr sz="1600" i="0">
                <a:solidFill>
                  <a:srgbClr val="111827"/>
                </a:solidFill>
                <a:latin typeface="Consolas"/>
              </a:rPr>
              <a:t>        return 1;</a:t>
            </a:r>
          </a:p>
          <a:p>
            <a:pPr algn="l">
              <a:spcAft>
                <a:spcPts val="0"/>
              </a:spcAft>
            </a:pPr>
            <a:r>
              <a:rPr sz="1600" i="0">
                <a:solidFill>
                  <a:srgbClr val="111827"/>
                </a:solidFill>
                <a:latin typeface="Consolas"/>
              </a:rPr>
              <a:t>    return n * fatorial(n - 1);</a:t>
            </a:r>
          </a:p>
          <a:p>
            <a:pPr algn="l">
              <a:spcAft>
                <a:spcPts val="0"/>
              </a:spcAft>
            </a:pPr>
            <a:r>
              <a:rPr sz="1600" i="0">
                <a:solidFill>
                  <a:srgbClr val="111827"/>
                </a:solidFill>
                <a:latin typeface="Consolas"/>
              </a:rPr>
              <a:t>}</a:t>
            </a:r>
          </a:p>
          <a:p>
            <a:pPr algn="l">
              <a:spcAft>
                <a:spcPts val="0"/>
              </a:spcAft>
            </a:pPr>
            <a:r>
              <a:rPr sz="1600" i="0">
                <a:solidFill>
                  <a:srgbClr val="111827"/>
                </a:solidFill>
                <a:latin typeface="Consolas"/>
              </a:rPr>
              <a:t>int main(void) {</a:t>
            </a:r>
          </a:p>
          <a:p>
            <a:pPr algn="l">
              <a:spcAft>
                <a:spcPts val="0"/>
              </a:spcAft>
            </a:pPr>
            <a:r>
              <a:rPr sz="1600" i="0">
                <a:solidFill>
                  <a:srgbClr val="111827"/>
                </a:solidFill>
                <a:latin typeface="Consolas"/>
              </a:rPr>
              <a:t>    int valor = fatorial(3);   </a:t>
            </a:r>
            <a:r>
              <a:rPr sz="1600" i="0">
                <a:solidFill>
                  <a:srgbClr val="0F766E"/>
                </a:solidFill>
                <a:latin typeface="Consolas"/>
              </a:rPr>
              <a:t>// p. 425</a:t>
            </a:r>
          </a:p>
          <a:p>
            <a:pPr algn="l">
              <a:spcAft>
                <a:spcPts val="0"/>
              </a:spcAft>
            </a:pPr>
            <a:r>
              <a:rPr sz="1600" i="0">
                <a:solidFill>
                  <a:srgbClr val="111827"/>
                </a:solidFill>
                <a:latin typeface="Consolas"/>
              </a:rPr>
              <a:t>}</a:t>
            </a:r>
          </a:p>
        </p:txBody>
      </p:sp>
      <p:sp>
        <p:nvSpPr>
          <p:cNvPr id="6" name="TextBox 5"/>
          <p:cNvSpPr txBox="1"/>
          <p:nvPr/>
        </p:nvSpPr>
        <p:spPr>
          <a:xfrm>
            <a:off x="548640" y="4572000"/>
            <a:ext cx="484632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Saída no OneCompiler (fatorial.c)</a:t>
            </a:r>
          </a:p>
        </p:txBody>
      </p:sp>
      <p:sp>
        <p:nvSpPr>
          <p:cNvPr id="7" name="Rectangle 6"/>
          <p:cNvSpPr/>
          <p:nvPr/>
        </p:nvSpPr>
        <p:spPr>
          <a:xfrm>
            <a:off x="548640" y="4919472"/>
            <a:ext cx="4846320" cy="11612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00" i="0">
                <a:solidFill>
                  <a:srgbClr val="111827"/>
                </a:solidFill>
                <a:latin typeface="Consolas"/>
              </a:rPr>
              <a:t>fatorial(3): &amp;n = 0x...9dfc</a:t>
            </a:r>
          </a:p>
          <a:p>
            <a:pPr algn="l">
              <a:spcAft>
                <a:spcPts val="0"/>
              </a:spcAft>
            </a:pPr>
            <a:r>
              <a:rPr sz="1400" i="0">
                <a:solidFill>
                  <a:srgbClr val="111827"/>
                </a:solidFill>
                <a:latin typeface="Consolas"/>
              </a:rPr>
              <a:t>fatorial(2): &amp;n = 0x...9ddc   </a:t>
            </a:r>
            <a:r>
              <a:rPr sz="1400" i="0">
                <a:solidFill>
                  <a:srgbClr val="0F766E"/>
                </a:solidFill>
                <a:latin typeface="Consolas"/>
              </a:rPr>
              <a:t>(-32)</a:t>
            </a:r>
          </a:p>
          <a:p>
            <a:pPr algn="l">
              <a:spcAft>
                <a:spcPts val="0"/>
              </a:spcAft>
            </a:pPr>
            <a:r>
              <a:rPr sz="1400" i="0">
                <a:solidFill>
                  <a:srgbClr val="111827"/>
                </a:solidFill>
                <a:latin typeface="Consolas"/>
              </a:rPr>
              <a:t>fatorial(1): &amp;n = 0x...9dbc   </a:t>
            </a:r>
            <a:r>
              <a:rPr sz="1400" i="0">
                <a:solidFill>
                  <a:srgbClr val="0F766E"/>
                </a:solidFill>
                <a:latin typeface="Consolas"/>
              </a:rPr>
              <a:t>(-32)</a:t>
            </a:r>
          </a:p>
        </p:txBody>
      </p:sp>
      <p:sp>
        <p:nvSpPr>
          <p:cNvPr id="8" name="TextBox 7"/>
          <p:cNvSpPr txBox="1"/>
          <p:nvPr/>
        </p:nvSpPr>
        <p:spPr>
          <a:xfrm>
            <a:off x="5852160" y="1325880"/>
            <a:ext cx="5788152" cy="411480"/>
          </a:xfrm>
          <a:prstGeom prst="rect">
            <a:avLst/>
          </a:prstGeom>
          <a:noFill/>
        </p:spPr>
        <p:txBody>
          <a:bodyPr wrap="square" anchor="t" lIns="0" rIns="0" tIns="0" bIns="0">
            <a:noAutofit/>
          </a:bodyPr>
          <a:lstStyle/>
          <a:p>
            <a:pPr algn="ctr">
              <a:spcAft>
                <a:spcPts val="400"/>
              </a:spcAft>
            </a:pPr>
            <a:r>
              <a:rPr sz="1600" b="1">
                <a:solidFill>
                  <a:srgbClr val="1F2937"/>
                </a:solidFill>
              </a:rPr>
              <a:t>Pilha na terceira chamada (Fig. 10.7)</a:t>
            </a:r>
          </a:p>
        </p:txBody>
      </p:sp>
      <p:sp>
        <p:nvSpPr>
          <p:cNvPr id="9" name="Rectangle 8"/>
          <p:cNvSpPr/>
          <p:nvPr/>
        </p:nvSpPr>
        <p:spPr>
          <a:xfrm>
            <a:off x="5852160" y="1828800"/>
            <a:ext cx="5788152" cy="841248"/>
          </a:xfrm>
          <a:prstGeom prst="rect">
            <a:avLst/>
          </a:prstGeom>
          <a:solidFill>
            <a:srgbClr val="E6F4F1"/>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100"/>
              </a:spcAft>
            </a:pPr>
            <a:r>
              <a:rPr sz="1600" b="1">
                <a:solidFill>
                  <a:srgbClr val="1F2937"/>
                </a:solidFill>
              </a:rPr>
              <a:t>fatorial(1)</a:t>
            </a:r>
          </a:p>
          <a:p>
            <a:pPr algn="l">
              <a:spcAft>
                <a:spcPts val="400"/>
              </a:spcAft>
            </a:pPr>
            <a:r>
              <a:rPr sz="1400" b="0">
                <a:solidFill>
                  <a:srgbClr val="667085"/>
                </a:solidFill>
                <a:latin typeface="Consolas"/>
              </a:rPr>
              <a:t>n = 1   valor = ?   retorno → fatorial</a:t>
            </a:r>
          </a:p>
        </p:txBody>
      </p:sp>
      <p:sp>
        <p:nvSpPr>
          <p:cNvPr id="10" name="Rectangle 9"/>
          <p:cNvSpPr/>
          <p:nvPr/>
        </p:nvSpPr>
        <p:spPr>
          <a:xfrm>
            <a:off x="5852160" y="2761488"/>
            <a:ext cx="5788152" cy="841248"/>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100"/>
              </a:spcAft>
            </a:pPr>
            <a:r>
              <a:rPr sz="1600" b="1">
                <a:solidFill>
                  <a:srgbClr val="1F2937"/>
                </a:solidFill>
              </a:rPr>
              <a:t>fatorial(2)</a:t>
            </a:r>
          </a:p>
          <a:p>
            <a:pPr algn="l">
              <a:spcAft>
                <a:spcPts val="400"/>
              </a:spcAft>
            </a:pPr>
            <a:r>
              <a:rPr sz="1400" b="0">
                <a:solidFill>
                  <a:srgbClr val="667085"/>
                </a:solidFill>
                <a:latin typeface="Consolas"/>
              </a:rPr>
              <a:t>n = 2   valor = ?   retorno → fatorial</a:t>
            </a:r>
          </a:p>
        </p:txBody>
      </p:sp>
      <p:sp>
        <p:nvSpPr>
          <p:cNvPr id="11" name="Rectangle 10"/>
          <p:cNvSpPr/>
          <p:nvPr/>
        </p:nvSpPr>
        <p:spPr>
          <a:xfrm>
            <a:off x="5852160" y="3694176"/>
            <a:ext cx="5788152" cy="841248"/>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100"/>
              </a:spcAft>
            </a:pPr>
            <a:r>
              <a:rPr sz="1600" b="1">
                <a:solidFill>
                  <a:srgbClr val="1F2937"/>
                </a:solidFill>
              </a:rPr>
              <a:t>fatorial(3)</a:t>
            </a:r>
          </a:p>
          <a:p>
            <a:pPr algn="l">
              <a:spcAft>
                <a:spcPts val="400"/>
              </a:spcAft>
            </a:pPr>
            <a:r>
              <a:rPr sz="1400" b="0">
                <a:solidFill>
                  <a:srgbClr val="667085"/>
                </a:solidFill>
                <a:latin typeface="Consolas"/>
              </a:rPr>
              <a:t>n = 3   valor = ?   retorno → main</a:t>
            </a:r>
          </a:p>
        </p:txBody>
      </p:sp>
      <p:sp>
        <p:nvSpPr>
          <p:cNvPr id="12" name="Rectangle 11"/>
          <p:cNvSpPr/>
          <p:nvPr/>
        </p:nvSpPr>
        <p:spPr>
          <a:xfrm>
            <a:off x="5852160" y="4626864"/>
            <a:ext cx="5788152" cy="841248"/>
          </a:xfrm>
          <a:prstGeom prst="rect">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100"/>
              </a:spcAft>
            </a:pPr>
            <a:r>
              <a:rPr sz="1600" b="1">
                <a:solidFill>
                  <a:srgbClr val="1F2937"/>
                </a:solidFill>
              </a:rPr>
              <a:t>main</a:t>
            </a:r>
          </a:p>
          <a:p>
            <a:pPr algn="l">
              <a:spcAft>
                <a:spcPts val="400"/>
              </a:spcAft>
            </a:pPr>
            <a:r>
              <a:rPr sz="1400" b="0">
                <a:solidFill>
                  <a:srgbClr val="667085"/>
                </a:solidFill>
                <a:latin typeface="Consolas"/>
              </a:rPr>
              <a:t>valor = ?</a:t>
            </a:r>
          </a:p>
        </p:txBody>
      </p:sp>
      <p:sp>
        <p:nvSpPr>
          <p:cNvPr id="13" name="TextBox 12"/>
          <p:cNvSpPr txBox="1"/>
          <p:nvPr/>
        </p:nvSpPr>
        <p:spPr>
          <a:xfrm>
            <a:off x="5852160" y="5577840"/>
            <a:ext cx="5788152" cy="502920"/>
          </a:xfrm>
          <a:prstGeom prst="rect">
            <a:avLst/>
          </a:prstGeom>
          <a:noFill/>
        </p:spPr>
        <p:txBody>
          <a:bodyPr wrap="square" anchor="t" lIns="0" rIns="0" tIns="0" bIns="0">
            <a:noAutofit/>
          </a:bodyPr>
          <a:lstStyle/>
          <a:p>
            <a:pPr algn="ctr">
              <a:spcAft>
                <a:spcPts val="400"/>
              </a:spcAft>
            </a:pPr>
            <a:r>
              <a:rPr sz="1300" b="0">
                <a:solidFill>
                  <a:srgbClr val="667085"/>
                </a:solidFill>
              </a:rPr>
              <a:t>↑ topo: a ativação mais recente   ·   Python Tutor: pythontutor.com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Quando a pilha acaba</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§10.3 · p. 419-427 · exemplos/06_pilha</a:t>
            </a:r>
          </a:p>
        </p:txBody>
      </p:sp>
      <p:sp>
        <p:nvSpPr>
          <p:cNvPr id="4" name="TextBox 3"/>
          <p:cNvSpPr txBox="1"/>
          <p:nvPr/>
        </p:nvSpPr>
        <p:spPr>
          <a:xfrm>
            <a:off x="548640" y="1325880"/>
            <a:ext cx="548640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Python · limite padrão de 1000 chamadas</a:t>
            </a:r>
          </a:p>
        </p:txBody>
      </p:sp>
      <p:sp>
        <p:nvSpPr>
          <p:cNvPr id="5" name="Rectangle 4"/>
          <p:cNvSpPr/>
          <p:nvPr/>
        </p:nvSpPr>
        <p:spPr>
          <a:xfrm>
            <a:off x="548640" y="1673352"/>
            <a:ext cx="5486400" cy="20299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450" i="0">
                <a:solidFill>
                  <a:srgbClr val="111827"/>
                </a:solidFill>
                <a:latin typeface="Consolas"/>
              </a:rPr>
              <a:t>def sem_fim(n):</a:t>
            </a:r>
          </a:p>
          <a:p>
            <a:pPr algn="l">
              <a:spcAft>
                <a:spcPts val="0"/>
              </a:spcAft>
            </a:pPr>
            <a:r>
              <a:rPr sz="1450" i="0">
                <a:solidFill>
                  <a:srgbClr val="111827"/>
                </a:solidFill>
                <a:latin typeface="Consolas"/>
              </a:rPr>
              <a:t>    return sem_fim(n + 1)     </a:t>
            </a:r>
            <a:r>
              <a:rPr sz="1450" i="0">
                <a:solidFill>
                  <a:srgbClr val="0F766E"/>
                </a:solidFill>
                <a:latin typeface="Consolas"/>
              </a:rPr>
              <a:t># sem caso base</a:t>
            </a:r>
          </a:p>
          <a:p>
            <a:pPr algn="l">
              <a:spcAft>
                <a:spcPts val="0"/>
              </a:spcAft>
            </a:pPr>
            <a:r>
              <a:rPr sz="1450">
                <a:latin typeface="Consolas"/>
              </a:rPr>
              <a:t/>
            </a:r>
          </a:p>
          <a:p>
            <a:pPr algn="l">
              <a:spcAft>
                <a:spcPts val="0"/>
              </a:spcAft>
            </a:pPr>
            <a:r>
              <a:rPr sz="1450" i="0">
                <a:solidFill>
                  <a:srgbClr val="111827"/>
                </a:solidFill>
                <a:latin typeface="Consolas"/>
              </a:rPr>
              <a:t>sem_fim(0)</a:t>
            </a:r>
          </a:p>
          <a:p>
            <a:pPr algn="l">
              <a:spcAft>
                <a:spcPts val="0"/>
              </a:spcAft>
            </a:pPr>
            <a:r>
              <a:rPr sz="1450" i="0">
                <a:solidFill>
                  <a:srgbClr val="0F766E"/>
                </a:solidFill>
                <a:latin typeface="Consolas"/>
              </a:rPr>
              <a:t># RecursionError: maximum recursion depth exceeded</a:t>
            </a:r>
          </a:p>
        </p:txBody>
      </p:sp>
      <p:sp>
        <p:nvSpPr>
          <p:cNvPr id="6" name="TextBox 5"/>
          <p:cNvSpPr txBox="1"/>
          <p:nvPr/>
        </p:nvSpPr>
        <p:spPr>
          <a:xfrm>
            <a:off x="6199632" y="1325880"/>
            <a:ext cx="5440680"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Java · StackOverflowError</a:t>
            </a:r>
          </a:p>
        </p:txBody>
      </p:sp>
      <p:sp>
        <p:nvSpPr>
          <p:cNvPr id="7" name="Rectangle 6"/>
          <p:cNvSpPr/>
          <p:nvPr/>
        </p:nvSpPr>
        <p:spPr>
          <a:xfrm>
            <a:off x="6199632" y="1673352"/>
            <a:ext cx="5440680" cy="202996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500" i="0">
                <a:solidFill>
                  <a:srgbClr val="111827"/>
                </a:solidFill>
                <a:latin typeface="Consolas"/>
              </a:rPr>
              <a:t>static void semFim() {</a:t>
            </a:r>
          </a:p>
          <a:p>
            <a:pPr algn="l">
              <a:spcAft>
                <a:spcPts val="0"/>
              </a:spcAft>
            </a:pPr>
            <a:r>
              <a:rPr sz="1500" i="0">
                <a:solidFill>
                  <a:srgbClr val="111827"/>
                </a:solidFill>
                <a:latin typeface="Consolas"/>
              </a:rPr>
              <a:t>    profundidade++;</a:t>
            </a:r>
          </a:p>
          <a:p>
            <a:pPr algn="l">
              <a:spcAft>
                <a:spcPts val="0"/>
              </a:spcAft>
            </a:pPr>
            <a:r>
              <a:rPr sz="1500" i="0">
                <a:solidFill>
                  <a:srgbClr val="111827"/>
                </a:solidFill>
                <a:latin typeface="Consolas"/>
              </a:rPr>
              <a:t>    semFim();</a:t>
            </a:r>
          </a:p>
          <a:p>
            <a:pPr algn="l">
              <a:spcAft>
                <a:spcPts val="0"/>
              </a:spcAft>
            </a:pPr>
            <a:r>
              <a:rPr sz="1500" i="0">
                <a:solidFill>
                  <a:srgbClr val="111827"/>
                </a:solidFill>
                <a:latin typeface="Consolas"/>
              </a:rPr>
              <a:t>}</a:t>
            </a:r>
          </a:p>
          <a:p>
            <a:pPr algn="l">
              <a:spcAft>
                <a:spcPts val="0"/>
              </a:spcAft>
            </a:pPr>
            <a:r>
              <a:rPr sz="1500" i="0">
                <a:solidFill>
                  <a:srgbClr val="0F766E"/>
                </a:solidFill>
                <a:latin typeface="Consolas"/>
              </a:rPr>
              <a:t>// StackOverflowError depois de</a:t>
            </a:r>
          </a:p>
          <a:p>
            <a:pPr algn="l">
              <a:spcAft>
                <a:spcPts val="0"/>
              </a:spcAft>
            </a:pPr>
            <a:r>
              <a:rPr sz="1500" i="0">
                <a:solidFill>
                  <a:srgbClr val="0F766E"/>
                </a:solidFill>
                <a:latin typeface="Consolas"/>
              </a:rPr>
              <a:t>// ~75 mil chamadas (OneCompiler)</a:t>
            </a:r>
          </a:p>
        </p:txBody>
      </p:sp>
      <p:sp>
        <p:nvSpPr>
          <p:cNvPr id="8" name="Rounded Rectangle 7"/>
          <p:cNvSpPr/>
          <p:nvPr/>
        </p:nvSpPr>
        <p:spPr>
          <a:xfrm>
            <a:off x="548640" y="3931920"/>
            <a:ext cx="11094415" cy="978408"/>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C</a:t>
            </a:r>
          </a:p>
          <a:p>
            <a:pPr algn="l">
              <a:spcAft>
                <a:spcPts val="400"/>
              </a:spcAft>
            </a:pPr>
            <a:r>
              <a:rPr sz="1500" b="0">
                <a:solidFill>
                  <a:srgbClr val="1F2937"/>
                </a:solidFill>
              </a:rPr>
              <a:t>não há exceção: o sistema operacional aborta o programa (segmentation fault)</a:t>
            </a:r>
          </a:p>
        </p:txBody>
      </p:sp>
      <p:sp>
        <p:nvSpPr>
          <p:cNvPr id="9" name="Rounded Rectangle 8"/>
          <p:cNvSpPr/>
          <p:nvPr/>
        </p:nvSpPr>
        <p:spPr>
          <a:xfrm>
            <a:off x="548640" y="5047488"/>
            <a:ext cx="11094415" cy="978408"/>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400"/>
              </a:spcAft>
            </a:pPr>
            <a:r>
              <a:rPr sz="1600" b="1">
                <a:solidFill>
                  <a:srgbClr val="1F2937"/>
                </a:solidFill>
              </a:rPr>
              <a:t>Saída para recursões profundas</a:t>
            </a:r>
          </a:p>
          <a:p>
            <a:pPr algn="l">
              <a:spcAft>
                <a:spcPts val="400"/>
              </a:spcAft>
            </a:pPr>
            <a:r>
              <a:rPr sz="1500" b="0">
                <a:solidFill>
                  <a:srgbClr val="1F2937"/>
                </a:solidFill>
              </a:rPr>
              <a:t>reescrever como laço ou usar otimização de chamada de cauda: Scheme a garante (Cap. 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Exercício em duplas: qual é a saída? (1/3)</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Arquivos: exemplos/07_exercicio · execute em onecompiler.com</a:t>
            </a:r>
          </a:p>
        </p:txBody>
      </p:sp>
      <p:sp>
        <p:nvSpPr>
          <p:cNvPr id="4" name="TextBox 3"/>
          <p:cNvSpPr txBox="1"/>
          <p:nvPr/>
        </p:nvSpPr>
        <p:spPr>
          <a:xfrm>
            <a:off x="548640" y="1261872"/>
            <a:ext cx="11094415" cy="457200"/>
          </a:xfrm>
          <a:prstGeom prst="rect">
            <a:avLst/>
          </a:prstGeom>
          <a:noFill/>
        </p:spPr>
        <p:txBody>
          <a:bodyPr wrap="square" anchor="t" lIns="0" rIns="0" tIns="0" bIns="0">
            <a:noAutofit/>
          </a:bodyPr>
          <a:lstStyle/>
          <a:p>
            <a:pPr algn="l">
              <a:spcAft>
                <a:spcPts val="400"/>
              </a:spcAft>
            </a:pPr>
            <a:r>
              <a:rPr sz="1700" b="0">
                <a:solidFill>
                  <a:srgbClr val="1F2937"/>
                </a:solidFill>
              </a:rPr>
              <a:t>Para cada trecho: </a:t>
            </a:r>
            <a:r>
              <a:rPr sz="1700" b="1">
                <a:solidFill>
                  <a:srgbClr val="1F2937"/>
                </a:solidFill>
              </a:rPr>
              <a:t>(a)</a:t>
            </a:r>
            <a:r>
              <a:rPr sz="1700" b="0">
                <a:solidFill>
                  <a:srgbClr val="1F2937"/>
                </a:solidFill>
              </a:rPr>
              <a:t> qual é a saída?  </a:t>
            </a:r>
            <a:r>
              <a:rPr sz="1700" b="1">
                <a:solidFill>
                  <a:srgbClr val="1F2937"/>
                </a:solidFill>
              </a:rPr>
              <a:t>(b)</a:t>
            </a:r>
            <a:r>
              <a:rPr sz="1700" b="0">
                <a:solidFill>
                  <a:srgbClr val="1F2937"/>
                </a:solidFill>
              </a:rPr>
              <a:t> qual conceito da aula explica?</a:t>
            </a:r>
          </a:p>
        </p:txBody>
      </p:sp>
      <p:sp>
        <p:nvSpPr>
          <p:cNvPr id="5" name="TextBox 4"/>
          <p:cNvSpPr txBox="1"/>
          <p:nvPr/>
        </p:nvSpPr>
        <p:spPr>
          <a:xfrm>
            <a:off x="548640"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1 · Python</a:t>
            </a:r>
          </a:p>
        </p:txBody>
      </p:sp>
      <p:sp>
        <p:nvSpPr>
          <p:cNvPr id="6" name="Rectangle 5"/>
          <p:cNvSpPr/>
          <p:nvPr/>
        </p:nvSpPr>
        <p:spPr>
          <a:xfrm>
            <a:off x="548640"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def adicionar(item, lista=[]):</a:t>
            </a:r>
          </a:p>
          <a:p>
            <a:pPr algn="l">
              <a:spcAft>
                <a:spcPts val="0"/>
              </a:spcAft>
            </a:pPr>
            <a:r>
              <a:rPr sz="1600" i="0">
                <a:solidFill>
                  <a:srgbClr val="111827"/>
                </a:solidFill>
                <a:latin typeface="Consolas"/>
              </a:rPr>
              <a:t>    lista.append(item)</a:t>
            </a:r>
          </a:p>
          <a:p>
            <a:pPr algn="l">
              <a:spcAft>
                <a:spcPts val="0"/>
              </a:spcAft>
            </a:pPr>
            <a:r>
              <a:rPr sz="1600" i="0">
                <a:solidFill>
                  <a:srgbClr val="111827"/>
                </a:solidFill>
                <a:latin typeface="Consolas"/>
              </a:rPr>
              <a:t>    return lista</a:t>
            </a:r>
          </a:p>
          <a:p>
            <a:pPr algn="l">
              <a:spcAft>
                <a:spcPts val="0"/>
              </a:spcAft>
            </a:pPr>
            <a:r>
              <a:rPr sz="1600">
                <a:latin typeface="Consolas"/>
              </a:rPr>
              <a:t/>
            </a:r>
          </a:p>
          <a:p>
            <a:pPr algn="l">
              <a:spcAft>
                <a:spcPts val="0"/>
              </a:spcAft>
            </a:pPr>
            <a:r>
              <a:rPr sz="1600" i="0">
                <a:solidFill>
                  <a:srgbClr val="111827"/>
                </a:solidFill>
                <a:latin typeface="Consolas"/>
              </a:rPr>
              <a:t>print(adicionar(1))</a:t>
            </a:r>
          </a:p>
          <a:p>
            <a:pPr algn="l">
              <a:spcAft>
                <a:spcPts val="0"/>
              </a:spcAft>
            </a:pPr>
            <a:r>
              <a:rPr sz="1600" i="0">
                <a:solidFill>
                  <a:srgbClr val="111827"/>
                </a:solidFill>
                <a:latin typeface="Consolas"/>
              </a:rPr>
              <a:t>print(adicionar(2))</a:t>
            </a:r>
          </a:p>
        </p:txBody>
      </p:sp>
      <p:sp>
        <p:nvSpPr>
          <p:cNvPr id="7" name="TextBox 6"/>
          <p:cNvSpPr txBox="1"/>
          <p:nvPr/>
        </p:nvSpPr>
        <p:spPr>
          <a:xfrm>
            <a:off x="6233007"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2 · Java</a:t>
            </a:r>
          </a:p>
        </p:txBody>
      </p:sp>
      <p:sp>
        <p:nvSpPr>
          <p:cNvPr id="8" name="Rectangle 7"/>
          <p:cNvSpPr/>
          <p:nvPr/>
        </p:nvSpPr>
        <p:spPr>
          <a:xfrm>
            <a:off x="6233007"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static void zera(int[] v, int n) {</a:t>
            </a:r>
          </a:p>
          <a:p>
            <a:pPr algn="l">
              <a:spcAft>
                <a:spcPts val="0"/>
              </a:spcAft>
            </a:pPr>
            <a:r>
              <a:rPr sz="1600" i="0">
                <a:solidFill>
                  <a:srgbClr val="111827"/>
                </a:solidFill>
                <a:latin typeface="Consolas"/>
              </a:rPr>
              <a:t>    v[0] = 0;</a:t>
            </a:r>
          </a:p>
          <a:p>
            <a:pPr algn="l">
              <a:spcAft>
                <a:spcPts val="0"/>
              </a:spcAft>
            </a:pPr>
            <a:r>
              <a:rPr sz="1600" i="0">
                <a:solidFill>
                  <a:srgbClr val="111827"/>
                </a:solidFill>
                <a:latin typeface="Consolas"/>
              </a:rPr>
              <a:t>    n = 0;</a:t>
            </a:r>
          </a:p>
          <a:p>
            <a:pPr algn="l">
              <a:spcAft>
                <a:spcPts val="0"/>
              </a:spcAft>
            </a:pPr>
            <a:r>
              <a:rPr sz="1600" i="0">
                <a:solidFill>
                  <a:srgbClr val="111827"/>
                </a:solidFill>
                <a:latin typeface="Consolas"/>
              </a:rPr>
              <a:t>}</a:t>
            </a:r>
          </a:p>
          <a:p>
            <a:pPr algn="l">
              <a:spcAft>
                <a:spcPts val="0"/>
              </a:spcAft>
            </a:pPr>
            <a:r>
              <a:rPr sz="1600" i="0">
                <a:solidFill>
                  <a:srgbClr val="111827"/>
                </a:solidFill>
                <a:latin typeface="Consolas"/>
              </a:rPr>
              <a:t>int[] v = {5, 5}; int n = 5;</a:t>
            </a:r>
          </a:p>
          <a:p>
            <a:pPr algn="l">
              <a:spcAft>
                <a:spcPts val="0"/>
              </a:spcAft>
            </a:pPr>
            <a:r>
              <a:rPr sz="1600" i="0">
                <a:solidFill>
                  <a:srgbClr val="111827"/>
                </a:solidFill>
                <a:latin typeface="Consolas"/>
              </a:rPr>
              <a:t>zera(v, n);</a:t>
            </a:r>
          </a:p>
          <a:p>
            <a:pPr algn="l">
              <a:spcAft>
                <a:spcPts val="0"/>
              </a:spcAft>
            </a:pPr>
            <a:r>
              <a:rPr sz="1600" i="0">
                <a:solidFill>
                  <a:srgbClr val="111827"/>
                </a:solidFill>
                <a:latin typeface="Consolas"/>
              </a:rPr>
              <a:t>System.out.println(v[0] + " " + 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Exercício: qual é a saída? (2/3)</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Arquivos: exemplos/07_exercicio · execute em onecompiler.com</a:t>
            </a:r>
          </a:p>
        </p:txBody>
      </p:sp>
      <p:sp>
        <p:nvSpPr>
          <p:cNvPr id="4" name="TextBox 3"/>
          <p:cNvSpPr txBox="1"/>
          <p:nvPr/>
        </p:nvSpPr>
        <p:spPr>
          <a:xfrm>
            <a:off x="548640" y="1261872"/>
            <a:ext cx="11094415" cy="457200"/>
          </a:xfrm>
          <a:prstGeom prst="rect">
            <a:avLst/>
          </a:prstGeom>
          <a:noFill/>
        </p:spPr>
        <p:txBody>
          <a:bodyPr wrap="square" anchor="t" lIns="0" rIns="0" tIns="0" bIns="0">
            <a:noAutofit/>
          </a:bodyPr>
          <a:lstStyle/>
          <a:p>
            <a:pPr algn="l">
              <a:spcAft>
                <a:spcPts val="400"/>
              </a:spcAft>
            </a:pPr>
            <a:r>
              <a:rPr sz="1700" b="0">
                <a:solidFill>
                  <a:srgbClr val="1F2937"/>
                </a:solidFill>
              </a:rPr>
              <a:t>Para cada trecho: </a:t>
            </a:r>
            <a:r>
              <a:rPr sz="1700" b="1">
                <a:solidFill>
                  <a:srgbClr val="1F2937"/>
                </a:solidFill>
              </a:rPr>
              <a:t>(a)</a:t>
            </a:r>
            <a:r>
              <a:rPr sz="1700" b="0">
                <a:solidFill>
                  <a:srgbClr val="1F2937"/>
                </a:solidFill>
              </a:rPr>
              <a:t> qual é a saída?  </a:t>
            </a:r>
            <a:r>
              <a:rPr sz="1700" b="1">
                <a:solidFill>
                  <a:srgbClr val="1F2937"/>
                </a:solidFill>
              </a:rPr>
              <a:t>(b)</a:t>
            </a:r>
            <a:r>
              <a:rPr sz="1700" b="0">
                <a:solidFill>
                  <a:srgbClr val="1F2937"/>
                </a:solidFill>
              </a:rPr>
              <a:t> qual conceito da aula explica?</a:t>
            </a:r>
          </a:p>
        </p:txBody>
      </p:sp>
      <p:sp>
        <p:nvSpPr>
          <p:cNvPr id="5" name="TextBox 4"/>
          <p:cNvSpPr txBox="1"/>
          <p:nvPr/>
        </p:nvSpPr>
        <p:spPr>
          <a:xfrm>
            <a:off x="548640"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3 · Python</a:t>
            </a:r>
          </a:p>
        </p:txBody>
      </p:sp>
      <p:sp>
        <p:nvSpPr>
          <p:cNvPr id="6" name="Rectangle 5"/>
          <p:cNvSpPr/>
          <p:nvPr/>
        </p:nvSpPr>
        <p:spPr>
          <a:xfrm>
            <a:off x="548640"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fs = [lambda: i for i in range(3)]</a:t>
            </a:r>
          </a:p>
          <a:p>
            <a:pPr algn="l">
              <a:spcAft>
                <a:spcPts val="0"/>
              </a:spcAft>
            </a:pPr>
            <a:r>
              <a:rPr sz="1600" i="0">
                <a:solidFill>
                  <a:srgbClr val="111827"/>
                </a:solidFill>
                <a:latin typeface="Consolas"/>
              </a:rPr>
              <a:t>print([f() for f in fs])</a:t>
            </a:r>
          </a:p>
        </p:txBody>
      </p:sp>
      <p:sp>
        <p:nvSpPr>
          <p:cNvPr id="7" name="TextBox 6"/>
          <p:cNvSpPr txBox="1"/>
          <p:nvPr/>
        </p:nvSpPr>
        <p:spPr>
          <a:xfrm>
            <a:off x="6233007"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4 · C</a:t>
            </a:r>
          </a:p>
        </p:txBody>
      </p:sp>
      <p:sp>
        <p:nvSpPr>
          <p:cNvPr id="8" name="Rectangle 7"/>
          <p:cNvSpPr/>
          <p:nvPr/>
        </p:nvSpPr>
        <p:spPr>
          <a:xfrm>
            <a:off x="6233007"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int contador(void) {</a:t>
            </a:r>
          </a:p>
          <a:p>
            <a:pPr algn="l">
              <a:spcAft>
                <a:spcPts val="0"/>
              </a:spcAft>
            </a:pPr>
            <a:r>
              <a:rPr sz="1600" i="0">
                <a:solidFill>
                  <a:srgbClr val="111827"/>
                </a:solidFill>
                <a:latin typeface="Consolas"/>
              </a:rPr>
              <a:t>    static int n = 0;</a:t>
            </a:r>
          </a:p>
          <a:p>
            <a:pPr algn="l">
              <a:spcAft>
                <a:spcPts val="0"/>
              </a:spcAft>
            </a:pPr>
            <a:r>
              <a:rPr sz="1600" i="0">
                <a:solidFill>
                  <a:srgbClr val="111827"/>
                </a:solidFill>
                <a:latin typeface="Consolas"/>
              </a:rPr>
              <a:t>    return ++n;</a:t>
            </a:r>
          </a:p>
          <a:p>
            <a:pPr algn="l">
              <a:spcAft>
                <a:spcPts val="0"/>
              </a:spcAft>
            </a:pPr>
            <a:r>
              <a:rPr sz="1600" i="0">
                <a:solidFill>
                  <a:srgbClr val="111827"/>
                </a:solidFill>
                <a:latin typeface="Consolas"/>
              </a:rPr>
              <a:t>}</a:t>
            </a:r>
          </a:p>
          <a:p>
            <a:pPr algn="l">
              <a:spcAft>
                <a:spcPts val="0"/>
              </a:spcAft>
            </a:pPr>
            <a:r>
              <a:rPr sz="1600" i="0">
                <a:solidFill>
                  <a:srgbClr val="0F766E"/>
                </a:solidFill>
                <a:latin typeface="Consolas"/>
              </a:rPr>
              <a:t>// em main:</a:t>
            </a:r>
          </a:p>
          <a:p>
            <a:pPr algn="l">
              <a:spcAft>
                <a:spcPts val="0"/>
              </a:spcAft>
            </a:pPr>
            <a:r>
              <a:rPr sz="1600" i="0">
                <a:solidFill>
                  <a:srgbClr val="111827"/>
                </a:solidFill>
                <a:latin typeface="Consolas"/>
              </a:rPr>
              <a:t>contador(); contador();</a:t>
            </a:r>
          </a:p>
          <a:p>
            <a:pPr algn="l">
              <a:spcAft>
                <a:spcPts val="0"/>
              </a:spcAft>
            </a:pPr>
            <a:r>
              <a:rPr sz="1600" i="0">
                <a:solidFill>
                  <a:srgbClr val="111827"/>
                </a:solidFill>
                <a:latin typeface="Consolas"/>
              </a:rPr>
              <a:t>printf("%d\n", contador());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Exercício: qual é a saída? (3/3)</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Arquivos: exemplos/07_exercicio · execute em onecompiler.com</a:t>
            </a:r>
          </a:p>
        </p:txBody>
      </p:sp>
      <p:sp>
        <p:nvSpPr>
          <p:cNvPr id="4" name="TextBox 3"/>
          <p:cNvSpPr txBox="1"/>
          <p:nvPr/>
        </p:nvSpPr>
        <p:spPr>
          <a:xfrm>
            <a:off x="548640" y="1261872"/>
            <a:ext cx="11094415" cy="457200"/>
          </a:xfrm>
          <a:prstGeom prst="rect">
            <a:avLst/>
          </a:prstGeom>
          <a:noFill/>
        </p:spPr>
        <p:txBody>
          <a:bodyPr wrap="square" anchor="t" lIns="0" rIns="0" tIns="0" bIns="0">
            <a:noAutofit/>
          </a:bodyPr>
          <a:lstStyle/>
          <a:p>
            <a:pPr algn="l">
              <a:spcAft>
                <a:spcPts val="400"/>
              </a:spcAft>
            </a:pPr>
            <a:r>
              <a:rPr sz="1700" b="0">
                <a:solidFill>
                  <a:srgbClr val="1F2937"/>
                </a:solidFill>
              </a:rPr>
              <a:t>Para cada trecho: </a:t>
            </a:r>
            <a:r>
              <a:rPr sz="1700" b="1">
                <a:solidFill>
                  <a:srgbClr val="1F2937"/>
                </a:solidFill>
              </a:rPr>
              <a:t>(a)</a:t>
            </a:r>
            <a:r>
              <a:rPr sz="1700" b="0">
                <a:solidFill>
                  <a:srgbClr val="1F2937"/>
                </a:solidFill>
              </a:rPr>
              <a:t> qual é a saída?  </a:t>
            </a:r>
            <a:r>
              <a:rPr sz="1700" b="1">
                <a:solidFill>
                  <a:srgbClr val="1F2937"/>
                </a:solidFill>
              </a:rPr>
              <a:t>(b)</a:t>
            </a:r>
            <a:r>
              <a:rPr sz="1700" b="0">
                <a:solidFill>
                  <a:srgbClr val="1F2937"/>
                </a:solidFill>
              </a:rPr>
              <a:t> qual conceito da aula explica?</a:t>
            </a:r>
          </a:p>
        </p:txBody>
      </p:sp>
      <p:sp>
        <p:nvSpPr>
          <p:cNvPr id="5" name="TextBox 4"/>
          <p:cNvSpPr txBox="1"/>
          <p:nvPr/>
        </p:nvSpPr>
        <p:spPr>
          <a:xfrm>
            <a:off x="548640"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5 · Rust</a:t>
            </a:r>
          </a:p>
        </p:txBody>
      </p:sp>
      <p:sp>
        <p:nvSpPr>
          <p:cNvPr id="6" name="Rectangle 5"/>
          <p:cNvSpPr/>
          <p:nvPr/>
        </p:nvSpPr>
        <p:spPr>
          <a:xfrm>
            <a:off x="548640"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fn dobra(v: Vec&lt;i32&gt;) -&gt; Vec&lt;i32&gt; {</a:t>
            </a:r>
          </a:p>
          <a:p>
            <a:pPr algn="l">
              <a:spcAft>
                <a:spcPts val="0"/>
              </a:spcAft>
            </a:pPr>
            <a:r>
              <a:rPr sz="1600" i="0">
                <a:solidFill>
                  <a:srgbClr val="111827"/>
                </a:solidFill>
                <a:latin typeface="Consolas"/>
              </a:rPr>
              <a:t>    v.iter().map(|x| x * 2).collect()</a:t>
            </a:r>
          </a:p>
          <a:p>
            <a:pPr algn="l">
              <a:spcAft>
                <a:spcPts val="0"/>
              </a:spcAft>
            </a:pPr>
            <a:r>
              <a:rPr sz="1600" i="0">
                <a:solidFill>
                  <a:srgbClr val="111827"/>
                </a:solidFill>
                <a:latin typeface="Consolas"/>
              </a:rPr>
              <a:t>}</a:t>
            </a:r>
          </a:p>
          <a:p>
            <a:pPr algn="l">
              <a:spcAft>
                <a:spcPts val="0"/>
              </a:spcAft>
            </a:pPr>
            <a:r>
              <a:rPr sz="1600" i="0">
                <a:solidFill>
                  <a:srgbClr val="111827"/>
                </a:solidFill>
                <a:latin typeface="Consolas"/>
              </a:rPr>
              <a:t>let v = vec![1, 2, 3];</a:t>
            </a:r>
          </a:p>
          <a:p>
            <a:pPr algn="l">
              <a:spcAft>
                <a:spcPts val="0"/>
              </a:spcAft>
            </a:pPr>
            <a:r>
              <a:rPr sz="1600" i="0">
                <a:solidFill>
                  <a:srgbClr val="111827"/>
                </a:solidFill>
                <a:latin typeface="Consolas"/>
              </a:rPr>
              <a:t>let d = dobra(v);</a:t>
            </a:r>
          </a:p>
          <a:p>
            <a:pPr algn="l">
              <a:spcAft>
                <a:spcPts val="0"/>
              </a:spcAft>
            </a:pPr>
            <a:r>
              <a:rPr sz="1600" i="0">
                <a:solidFill>
                  <a:srgbClr val="111827"/>
                </a:solidFill>
                <a:latin typeface="Consolas"/>
              </a:rPr>
              <a:t>println!("{:?} {:?}", v, d);</a:t>
            </a:r>
          </a:p>
        </p:txBody>
      </p:sp>
      <p:sp>
        <p:nvSpPr>
          <p:cNvPr id="7" name="TextBox 6"/>
          <p:cNvSpPr txBox="1"/>
          <p:nvPr/>
        </p:nvSpPr>
        <p:spPr>
          <a:xfrm>
            <a:off x="6233007" y="1920240"/>
            <a:ext cx="5410047" cy="310896"/>
          </a:xfrm>
          <a:prstGeom prst="rect">
            <a:avLst/>
          </a:prstGeom>
          <a:noFill/>
        </p:spPr>
        <p:txBody>
          <a:bodyPr wrap="square" anchor="b" lIns="18288" rIns="18288" tIns="18288" bIns="18288">
            <a:noAutofit/>
          </a:bodyPr>
          <a:lstStyle/>
          <a:p>
            <a:pPr algn="l">
              <a:spcAft>
                <a:spcPts val="400"/>
              </a:spcAft>
            </a:pPr>
            <a:r>
              <a:rPr sz="1400" b="1">
                <a:solidFill>
                  <a:srgbClr val="0F766E"/>
                </a:solidFill>
              </a:rPr>
              <a:t>6 · Python</a:t>
            </a:r>
          </a:p>
        </p:txBody>
      </p:sp>
      <p:sp>
        <p:nvSpPr>
          <p:cNvPr id="8" name="Rectangle 7"/>
          <p:cNvSpPr/>
          <p:nvPr/>
        </p:nvSpPr>
        <p:spPr>
          <a:xfrm>
            <a:off x="6233007" y="2267712"/>
            <a:ext cx="5410047" cy="3675888"/>
          </a:xfrm>
          <a:prstGeom prst="rect">
            <a:avLst/>
          </a:prstGeom>
          <a:solidFill>
            <a:srgbClr val="F3F4F6"/>
          </a:solidFill>
          <a:ln w="9525">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t" wrap="none" lIns="128016" rIns="128016" tIns="73152" bIns="73152">
            <a:noAutofit/>
          </a:bodyPr>
          <a:lstStyle/>
          <a:p>
            <a:pPr algn="l">
              <a:spcAft>
                <a:spcPts val="0"/>
              </a:spcAft>
            </a:pPr>
            <a:r>
              <a:rPr sz="1600" i="0">
                <a:solidFill>
                  <a:srgbClr val="111827"/>
                </a:solidFill>
                <a:latin typeface="Consolas"/>
              </a:rPr>
              <a:t>total = 0</a:t>
            </a:r>
          </a:p>
          <a:p>
            <a:pPr algn="l">
              <a:spcAft>
                <a:spcPts val="0"/>
              </a:spcAft>
            </a:pPr>
            <a:r>
              <a:rPr sz="1600">
                <a:latin typeface="Consolas"/>
              </a:rPr>
              <a:t/>
            </a:r>
          </a:p>
          <a:p>
            <a:pPr algn="l">
              <a:spcAft>
                <a:spcPts val="0"/>
              </a:spcAft>
            </a:pPr>
            <a:r>
              <a:rPr sz="1600" i="0">
                <a:solidFill>
                  <a:srgbClr val="111827"/>
                </a:solidFill>
                <a:latin typeface="Consolas"/>
              </a:rPr>
              <a:t>def adiciona(x):</a:t>
            </a:r>
          </a:p>
          <a:p>
            <a:pPr algn="l">
              <a:spcAft>
                <a:spcPts val="0"/>
              </a:spcAft>
            </a:pPr>
            <a:r>
              <a:rPr sz="1600" i="0">
                <a:solidFill>
                  <a:srgbClr val="111827"/>
                </a:solidFill>
                <a:latin typeface="Consolas"/>
              </a:rPr>
              <a:t>    total = total + x</a:t>
            </a:r>
          </a:p>
          <a:p>
            <a:pPr algn="l">
              <a:spcAft>
                <a:spcPts val="0"/>
              </a:spcAft>
            </a:pPr>
            <a:r>
              <a:rPr sz="1600" i="0">
                <a:solidFill>
                  <a:srgbClr val="111827"/>
                </a:solidFill>
                <a:latin typeface="Consolas"/>
              </a:rPr>
              <a:t>    return total</a:t>
            </a:r>
          </a:p>
          <a:p>
            <a:pPr algn="l">
              <a:spcAft>
                <a:spcPts val="0"/>
              </a:spcAft>
            </a:pPr>
            <a:r>
              <a:rPr sz="1600">
                <a:latin typeface="Consolas"/>
              </a:rPr>
              <a:t/>
            </a:r>
          </a:p>
          <a:p>
            <a:pPr algn="l">
              <a:spcAft>
                <a:spcPts val="0"/>
              </a:spcAft>
            </a:pPr>
            <a:r>
              <a:rPr sz="1600" i="0">
                <a:solidFill>
                  <a:srgbClr val="111827"/>
                </a:solidFill>
                <a:latin typeface="Consolas"/>
              </a:rPr>
              <a:t>print(adiciona(5))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Síntese: parâmetros e fechamentos nas linguagens atuais</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Caps. 9 e 10 · p. 363-444</a:t>
            </a:r>
          </a:p>
        </p:txBody>
      </p:sp>
      <p:graphicFrame>
        <p:nvGraphicFramePr>
          <p:cNvPr id="4" name="Table 3"/>
          <p:cNvGraphicFramePr>
            <a:graphicFrameLocks noGrp="1"/>
          </p:cNvGraphicFramePr>
          <p:nvPr/>
        </p:nvGraphicFramePr>
        <p:xfrm>
          <a:off x="548640" y="1325880"/>
          <a:ext cx="11091672" cy="4443984"/>
        </p:xfrm>
        <a:graphic>
          <a:graphicData uri="http://schemas.openxmlformats.org/drawingml/2006/table">
            <a:tbl>
              <a:tblPr firstRow="1">
                <a:tableStyleId>{2D5ABB26-0587-4C30-8999-92F81FD0307C}</a:tableStyleId>
              </a:tblPr>
              <a:tblGrid>
                <a:gridCol w="1554480"/>
                <a:gridCol w="2834640"/>
                <a:gridCol w="3840480"/>
                <a:gridCol w="2862072"/>
              </a:tblGrid>
              <a:tr h="493776">
                <a:tc>
                  <a:txBody>
                    <a:bodyPr wrap="square"/>
                    <a:lstStyle/>
                    <a:p>
                      <a:r>
                        <a:rPr sz="1400" b="1">
                          <a:solidFill>
                            <a:srgbClr val="1F2937"/>
                          </a:solidFill>
                        </a:rPr>
                        <a:t>Linguagem</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Padrão</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Para alterar a variável de quem chama</a:t>
                      </a:r>
                    </a:p>
                  </a:txBody>
                  <a:tcPr marL="91440" marR="91440" marT="36576" marB="36576" anchor="ctr">
                    <a:lnB w="9525">
                      <a:solidFill>
                        <a:srgbClr val="D0D5DD"/>
                      </a:solidFill>
                    </a:lnB>
                    <a:solidFill>
                      <a:srgbClr val="E6F4F1"/>
                    </a:solidFill>
                  </a:tcPr>
                </a:tc>
                <a:tc>
                  <a:txBody>
                    <a:bodyPr wrap="square"/>
                    <a:lstStyle/>
                    <a:p>
                      <a:r>
                        <a:rPr sz="1400" b="1">
                          <a:solidFill>
                            <a:srgbClr val="1F2937"/>
                          </a:solidFill>
                        </a:rPr>
                        <a:t>Fechamentos</a:t>
                      </a:r>
                    </a:p>
                  </a:txBody>
                  <a:tcPr marL="91440" marR="91440" marT="36576" marB="36576" anchor="ctr">
                    <a:lnB w="9525">
                      <a:solidFill>
                        <a:srgbClr val="D0D5DD"/>
                      </a:solidFill>
                    </a:lnB>
                    <a:solidFill>
                      <a:srgbClr val="E6F4F1"/>
                    </a:solidFill>
                  </a:tcPr>
                </a:tc>
              </a:tr>
              <a:tr h="493776">
                <a:tc>
                  <a:txBody>
                    <a:bodyPr wrap="square"/>
                    <a:lstStyle/>
                    <a:p>
                      <a:r>
                        <a:rPr sz="1400" b="0">
                          <a:solidFill>
                            <a:srgbClr val="1F2937"/>
                          </a:solidFill>
                        </a:rPr>
                        <a:t>C</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valor</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ponteiro (</a:t>
                      </a:r>
                      <a:r>
                        <a:rPr sz="1288" b="0">
                          <a:solidFill>
                            <a:srgbClr val="1F2937"/>
                          </a:solidFill>
                          <a:latin typeface="Consolas"/>
                        </a:rPr>
                        <a:t>&amp;x</a:t>
                      </a:r>
                      <a:r>
                        <a:rPr sz="1400" b="0">
                          <a:solidFill>
                            <a:srgbClr val="1F2937"/>
                          </a:solidFill>
                        </a:rPr>
                        <a:t> na chamada)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não</a:t>
                      </a:r>
                    </a:p>
                  </a:txBody>
                  <a:tcPr marL="91440" marR="91440" marT="36576" marB="36576" anchor="ctr">
                    <a:lnB w="9525">
                      <a:solidFill>
                        <a:srgbClr val="D0D5DD"/>
                      </a:solidFill>
                    </a:lnB>
                    <a:solidFill>
                      <a:srgbClr val="FFFFFF"/>
                    </a:solidFill>
                  </a:tcPr>
                </a:tc>
              </a:tr>
              <a:tr h="493776">
                <a:tc>
                  <a:txBody>
                    <a:bodyPr wrap="square"/>
                    <a:lstStyle/>
                    <a:p>
                      <a:r>
                        <a:rPr sz="1400" b="0">
                          <a:solidFill>
                            <a:srgbClr val="1F2937"/>
                          </a:solidFill>
                        </a:rPr>
                        <a:t>C++</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valor</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referência </a:t>
                      </a:r>
                      <a:r>
                        <a:rPr sz="1288" b="0">
                          <a:solidFill>
                            <a:srgbClr val="1F2937"/>
                          </a:solidFill>
                          <a:latin typeface="Consolas"/>
                        </a:rPr>
                        <a:t>int &amp;</a:t>
                      </a:r>
                      <a:r>
                        <a:rPr sz="1400" b="0">
                          <a:solidFill>
                            <a:srgbClr val="1F2937"/>
                          </a:solidFill>
                        </a:rPr>
                        <a:t> (invisível na chamada)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lambdas (C++11)</a:t>
                      </a:r>
                    </a:p>
                  </a:txBody>
                  <a:tcPr marL="91440" marR="91440" marT="36576" marB="36576" anchor="ctr">
                    <a:lnB w="9525">
                      <a:solidFill>
                        <a:srgbClr val="D0D5DD"/>
                      </a:solidFill>
                    </a:lnB>
                    <a:solidFill>
                      <a:srgbClr val="F9FAFB"/>
                    </a:solidFill>
                  </a:tcPr>
                </a:tc>
              </a:tr>
              <a:tr h="493776">
                <a:tc>
                  <a:txBody>
                    <a:bodyPr wrap="square"/>
                    <a:lstStyle/>
                    <a:p>
                      <a:r>
                        <a:rPr sz="1400" b="0">
                          <a:solidFill>
                            <a:srgbClr val="1F2937"/>
                          </a:solidFill>
                        </a:rPr>
                        <a:t>Java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valor (inclusive referências)</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impossível para primitivos</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lambdas (efetivamente finais)</a:t>
                      </a:r>
                    </a:p>
                  </a:txBody>
                  <a:tcPr marL="91440" marR="91440" marT="36576" marB="36576" anchor="ctr">
                    <a:lnB w="9525">
                      <a:solidFill>
                        <a:srgbClr val="D0D5DD"/>
                      </a:solidFill>
                    </a:lnB>
                    <a:solidFill>
                      <a:srgbClr val="FFFFFF"/>
                    </a:solidFill>
                  </a:tcPr>
                </a:tc>
              </a:tr>
              <a:tr h="493776">
                <a:tc>
                  <a:txBody>
                    <a:bodyPr wrap="square"/>
                    <a:lstStyle/>
                    <a:p>
                      <a:r>
                        <a:rPr sz="1400" b="0">
                          <a:solidFill>
                            <a:srgbClr val="1F2937"/>
                          </a:solidFill>
                        </a:rPr>
                        <a:t>C#</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valor</a:t>
                      </a:r>
                    </a:p>
                  </a:txBody>
                  <a:tcPr marL="91440" marR="91440" marT="36576" marB="36576" anchor="ctr">
                    <a:lnB w="9525">
                      <a:solidFill>
                        <a:srgbClr val="D0D5DD"/>
                      </a:solidFill>
                    </a:lnB>
                    <a:solidFill>
                      <a:srgbClr val="F9FAFB"/>
                    </a:solidFill>
                  </a:tcPr>
                </a:tc>
                <a:tc>
                  <a:txBody>
                    <a:bodyPr wrap="square"/>
                    <a:lstStyle/>
                    <a:p>
                      <a:r>
                        <a:rPr sz="1288" b="0">
                          <a:solidFill>
                            <a:srgbClr val="1F2937"/>
                          </a:solidFill>
                          <a:latin typeface="Consolas"/>
                        </a:rPr>
                        <a:t>ref</a:t>
                      </a:r>
                      <a:r>
                        <a:rPr sz="1400" b="0">
                          <a:solidFill>
                            <a:srgbClr val="1F2937"/>
                          </a:solidFill>
                        </a:rPr>
                        <a:t> / </a:t>
                      </a:r>
                      <a:r>
                        <a:rPr sz="1288" b="0">
                          <a:solidFill>
                            <a:srgbClr val="1F2937"/>
                          </a:solidFill>
                          <a:latin typeface="Consolas"/>
                        </a:rPr>
                        <a:t>out</a:t>
                      </a:r>
                      <a:r>
                        <a:rPr sz="1400" b="0">
                          <a:solidFill>
                            <a:srgbClr val="1F2937"/>
                          </a:solidFill>
                        </a:rPr>
                        <a:t> (visível na chamada)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9FAFB"/>
                    </a:solidFill>
                  </a:tcPr>
                </a:tc>
              </a:tr>
              <a:tr h="493776">
                <a:tc>
                  <a:txBody>
                    <a:bodyPr wrap="square"/>
                    <a:lstStyle/>
                    <a:p>
                      <a:r>
                        <a:rPr sz="1400" b="0">
                          <a:solidFill>
                            <a:srgbClr val="1F2937"/>
                          </a:solidFill>
                        </a:rPr>
                        <a:t>Python</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por atribuição</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devolver o novo valor</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 (</a:t>
                      </a:r>
                      <a:r>
                        <a:rPr sz="1288" b="0">
                          <a:solidFill>
                            <a:srgbClr val="1F2937"/>
                          </a:solidFill>
                          <a:latin typeface="Consolas"/>
                        </a:rPr>
                        <a:t>nonlocal</a:t>
                      </a:r>
                      <a:r>
                        <a:rPr sz="1400" b="0">
                          <a:solidFill>
                            <a:srgbClr val="1F2937"/>
                          </a:solidFill>
                        </a:rPr>
                        <a:t>)</a:t>
                      </a:r>
                    </a:p>
                  </a:txBody>
                  <a:tcPr marL="91440" marR="91440" marT="36576" marB="36576" anchor="ctr">
                    <a:lnB w="9525">
                      <a:solidFill>
                        <a:srgbClr val="D0D5DD"/>
                      </a:solidFill>
                    </a:lnB>
                    <a:solidFill>
                      <a:srgbClr val="FFFFFF"/>
                    </a:solidFill>
                  </a:tcPr>
                </a:tc>
              </a:tr>
              <a:tr h="493776">
                <a:tc>
                  <a:txBody>
                    <a:bodyPr wrap="square"/>
                    <a:lstStyle/>
                    <a:p>
                      <a:r>
                        <a:rPr sz="1400" b="0">
                          <a:solidFill>
                            <a:srgbClr val="1F2937"/>
                          </a:solidFill>
                        </a:rPr>
                        <a:t>Go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valor</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ponteiro (</a:t>
                      </a:r>
                      <a:r>
                        <a:rPr sz="1288" b="0">
                          <a:solidFill>
                            <a:srgbClr val="1F2937"/>
                          </a:solidFill>
                          <a:latin typeface="Consolas"/>
                        </a:rPr>
                        <a:t>&amp;x</a:t>
                      </a:r>
                      <a:r>
                        <a:rPr sz="1400" b="0">
                          <a:solidFill>
                            <a:srgbClr val="1F2937"/>
                          </a:solidFill>
                        </a:rPr>
                        <a:t>)</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9FAFB"/>
                    </a:solidFill>
                  </a:tcPr>
                </a:tc>
              </a:tr>
              <a:tr h="493776">
                <a:tc>
                  <a:txBody>
                    <a:bodyPr wrap="square"/>
                    <a:lstStyle/>
                    <a:p>
                      <a:r>
                        <a:rPr sz="1400" b="0">
                          <a:solidFill>
                            <a:srgbClr val="1F2937"/>
                          </a:solidFill>
                        </a:rPr>
                        <a:t>Rust</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posse (move)</a:t>
                      </a:r>
                    </a:p>
                  </a:txBody>
                  <a:tcPr marL="91440" marR="91440" marT="36576" marB="36576" anchor="ctr">
                    <a:lnB w="9525">
                      <a:solidFill>
                        <a:srgbClr val="D0D5DD"/>
                      </a:solidFill>
                    </a:lnB>
                    <a:solidFill>
                      <a:srgbClr val="FFFFFF"/>
                    </a:solidFill>
                  </a:tcPr>
                </a:tc>
                <a:tc>
                  <a:txBody>
                    <a:bodyPr wrap="square"/>
                    <a:lstStyle/>
                    <a:p>
                      <a:r>
                        <a:rPr sz="1288" b="0">
                          <a:solidFill>
                            <a:srgbClr val="1F2937"/>
                          </a:solidFill>
                          <a:latin typeface="Consolas"/>
                        </a:rPr>
                        <a:t>&amp;mut x</a:t>
                      </a:r>
                      <a:r>
                        <a:rPr sz="1400" b="0">
                          <a:solidFill>
                            <a:srgbClr val="1F2937"/>
                          </a:solidFill>
                        </a:rPr>
                        <a:t> (visível na chamada)</a:t>
                      </a:r>
                    </a:p>
                  </a:txBody>
                  <a:tcPr marL="91440" marR="91440" marT="36576" marB="36576" anchor="ctr">
                    <a:lnB w="9525">
                      <a:solidFill>
                        <a:srgbClr val="D0D5DD"/>
                      </a:solidFill>
                    </a:lnB>
                    <a:solidFill>
                      <a:srgbClr val="FFFFFF"/>
                    </a:solidFill>
                  </a:tcPr>
                </a:tc>
                <a:tc>
                  <a:txBody>
                    <a:bodyPr wrap="square"/>
                    <a:lstStyle/>
                    <a:p>
                      <a:r>
                        <a:rPr sz="1400" b="0">
                          <a:solidFill>
                            <a:srgbClr val="1F2937"/>
                          </a:solidFill>
                        </a:rPr>
                        <a:t>sim (</a:t>
                      </a:r>
                      <a:r>
                        <a:rPr sz="1288" b="0">
                          <a:solidFill>
                            <a:srgbClr val="1F2937"/>
                          </a:solidFill>
                          <a:latin typeface="Consolas"/>
                        </a:rPr>
                        <a:t>move</a:t>
                      </a:r>
                      <a:r>
                        <a:rPr sz="1400" b="0">
                          <a:solidFill>
                            <a:srgbClr val="1F2937"/>
                          </a:solidFill>
                        </a:rPr>
                        <a:t>, </a:t>
                      </a:r>
                      <a:r>
                        <a:rPr sz="1288" b="0">
                          <a:solidFill>
                            <a:srgbClr val="1F2937"/>
                          </a:solidFill>
                          <a:latin typeface="Consolas"/>
                        </a:rPr>
                        <a:t>Fn</a:t>
                      </a:r>
                      <a:r>
                        <a:rPr sz="1400" b="0">
                          <a:solidFill>
                            <a:srgbClr val="1F2937"/>
                          </a:solidFill>
                        </a:rPr>
                        <a:t>, </a:t>
                      </a:r>
                      <a:r>
                        <a:rPr sz="1288" b="0">
                          <a:solidFill>
                            <a:srgbClr val="1F2937"/>
                          </a:solidFill>
                          <a:latin typeface="Consolas"/>
                        </a:rPr>
                        <a:t>FnMut</a:t>
                      </a:r>
                      <a:r>
                        <a:rPr sz="1400" b="0">
                          <a:solidFill>
                            <a:srgbClr val="1F2937"/>
                          </a:solidFill>
                        </a:rPr>
                        <a:t>)</a:t>
                      </a:r>
                    </a:p>
                  </a:txBody>
                  <a:tcPr marL="91440" marR="91440" marT="36576" marB="36576" anchor="ctr">
                    <a:lnB w="9525">
                      <a:solidFill>
                        <a:srgbClr val="D0D5DD"/>
                      </a:solidFill>
                    </a:lnB>
                    <a:solidFill>
                      <a:srgbClr val="FFFFFF"/>
                    </a:solidFill>
                  </a:tcPr>
                </a:tc>
              </a:tr>
              <a:tr h="493776">
                <a:tc>
                  <a:txBody>
                    <a:bodyPr wrap="square"/>
                    <a:lstStyle/>
                    <a:p>
                      <a:r>
                        <a:rPr sz="1400" b="0">
                          <a:solidFill>
                            <a:srgbClr val="1F2937"/>
                          </a:solidFill>
                        </a:rPr>
                        <a:t>JavaScript</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valor (objetos por referência)</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devolver ou alterar um objeto</a:t>
                      </a:r>
                    </a:p>
                  </a:txBody>
                  <a:tcPr marL="91440" marR="91440" marT="36576" marB="36576" anchor="ctr">
                    <a:lnB w="9525">
                      <a:solidFill>
                        <a:srgbClr val="D0D5DD"/>
                      </a:solidFill>
                    </a:lnB>
                    <a:solidFill>
                      <a:srgbClr val="F9FAFB"/>
                    </a:solidFill>
                  </a:tcPr>
                </a:tc>
                <a:tc>
                  <a:txBody>
                    <a:bodyPr wrap="square"/>
                    <a:lstStyle/>
                    <a:p>
                      <a:r>
                        <a:rPr sz="1400" b="0">
                          <a:solidFill>
                            <a:srgbClr val="1F2937"/>
                          </a:solidFill>
                        </a:rPr>
                        <a:t>sim</a:t>
                      </a:r>
                    </a:p>
                  </a:txBody>
                  <a:tcPr marL="91440" marR="91440" marT="36576" marB="36576" anchor="ctr">
                    <a:lnB w="9525">
                      <a:solidFill>
                        <a:srgbClr val="D0D5DD"/>
                      </a:solidFill>
                    </a:lnB>
                    <a:solidFill>
                      <a:srgbClr val="F9FAFB"/>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Atividades complementares (autopesquisa)</a:t>
            </a:r>
          </a:p>
        </p:txBody>
      </p:sp>
      <p:sp>
        <p:nvSpPr>
          <p:cNvPr id="3" name="TextBox 2"/>
          <p:cNvSpPr txBox="1"/>
          <p:nvPr/>
        </p:nvSpPr>
        <p:spPr>
          <a:xfrm>
            <a:off x="548640" y="6382512"/>
            <a:ext cx="11094415" cy="310896"/>
          </a:xfrm>
          <a:prstGeom prst="rect">
            <a:avLst/>
          </a:prstGeom>
          <a:noFill/>
        </p:spPr>
        <p:txBody>
          <a:bodyPr wrap="square" anchor="ctr" lIns="0" rIns="0" tIns="0" bIns="0">
            <a:noAutofit/>
          </a:bodyPr>
          <a:lstStyle/>
          <a:p>
            <a:pPr algn="r">
              <a:spcAft>
                <a:spcPts val="400"/>
              </a:spcAft>
            </a:pPr>
            <a:r>
              <a:rPr sz="1100" b="0">
                <a:solidFill>
                  <a:srgbClr val="667085"/>
                </a:solidFill>
              </a:rPr>
              <a:t>Sebesta, 11ª ed. · §9.8-9.13 e §10.4-10.6 · exemplos/08_autopesquisa</a:t>
            </a:r>
          </a:p>
        </p:txBody>
      </p:sp>
      <p:sp>
        <p:nvSpPr>
          <p:cNvPr id="4" name="TextBox 3"/>
          <p:cNvSpPr txBox="1"/>
          <p:nvPr/>
        </p:nvSpPr>
        <p:spPr>
          <a:xfrm>
            <a:off x="548640" y="1325880"/>
            <a:ext cx="6766560" cy="4754880"/>
          </a:xfrm>
          <a:prstGeom prst="rect">
            <a:avLst/>
          </a:prstGeom>
          <a:noFill/>
        </p:spPr>
        <p:txBody>
          <a:bodyPr wrap="square" anchor="t" lIns="0" rIns="0" tIns="0" bIns="0">
            <a:noAutofit/>
          </a:bodyPr>
          <a:lstStyle/>
          <a:p>
            <a:pPr algn="l" marL="256032" indent="-219456">
              <a:spcAft>
                <a:spcPts val="1100"/>
              </a:spcAft>
              <a:buClr>
                <a:srgbClr val="0F766E"/>
              </a:buClr>
              <a:buFont typeface="Arial"/>
              <a:buChar char="•"/>
            </a:pPr>
            <a:r>
              <a:rPr sz="1700" b="1">
                <a:solidFill>
                  <a:srgbClr val="1F2937"/>
                </a:solidFill>
              </a:rPr>
              <a:t>Questões de projeto para funções</a:t>
            </a:r>
            <a:r>
              <a:rPr sz="1700" b="0">
                <a:solidFill>
                  <a:srgbClr val="1F2937"/>
                </a:solidFill>
              </a:rPr>
              <a:t>: efeitos colaterais, tipos e número de retornos (§9.8, p. 395-397)</a:t>
            </a:r>
          </a:p>
          <a:p>
            <a:pPr algn="l" marL="256032" indent="-219456">
              <a:spcAft>
                <a:spcPts val="1100"/>
              </a:spcAft>
              <a:buClr>
                <a:srgbClr val="0F766E"/>
              </a:buClr>
              <a:buFont typeface="Arial"/>
              <a:buChar char="•"/>
            </a:pPr>
            <a:r>
              <a:rPr sz="1700" b="1">
                <a:solidFill>
                  <a:srgbClr val="1F2937"/>
                </a:solidFill>
              </a:rPr>
              <a:t>Subprogramas sobrecarregados</a:t>
            </a:r>
            <a:r>
              <a:rPr sz="1700" b="0">
                <a:solidFill>
                  <a:srgbClr val="1F2937"/>
                </a:solidFill>
              </a:rPr>
              <a:t> (§9.9, p. 397): </a:t>
            </a:r>
            <a:r>
              <a:rPr sz="1564" b="0">
                <a:solidFill>
                  <a:srgbClr val="1F2937"/>
                </a:solidFill>
                <a:latin typeface="Consolas"/>
              </a:rPr>
              <a:t>Sobrecarga.java</a:t>
            </a:r>
          </a:p>
          <a:p>
            <a:pPr algn="l" marL="256032" indent="-219456">
              <a:spcAft>
                <a:spcPts val="1100"/>
              </a:spcAft>
              <a:buClr>
                <a:srgbClr val="0F766E"/>
              </a:buClr>
              <a:buFont typeface="Arial"/>
              <a:buChar char="•"/>
            </a:pPr>
            <a:r>
              <a:rPr sz="1700" b="1">
                <a:solidFill>
                  <a:srgbClr val="1F2937"/>
                </a:solidFill>
              </a:rPr>
              <a:t>Subprogramas genéricos</a:t>
            </a:r>
            <a:r>
              <a:rPr sz="1700" b="0">
                <a:solidFill>
                  <a:srgbClr val="1F2937"/>
                </a:solidFill>
              </a:rPr>
              <a:t> (§9.10, p. 398-404): </a:t>
            </a:r>
            <a:r>
              <a:rPr sz="1564" b="0">
                <a:solidFill>
                  <a:srgbClr val="1F2937"/>
                </a:solidFill>
                <a:latin typeface="Consolas"/>
              </a:rPr>
              <a:t>Generico.java</a:t>
            </a:r>
            <a:r>
              <a:rPr sz="1700" b="0">
                <a:solidFill>
                  <a:srgbClr val="1F2937"/>
                </a:solidFill>
              </a:rPr>
              <a:t> (voltam na próxima aula)</a:t>
            </a:r>
          </a:p>
          <a:p>
            <a:pPr algn="l" marL="256032" indent="-219456">
              <a:spcAft>
                <a:spcPts val="1100"/>
              </a:spcAft>
              <a:buClr>
                <a:srgbClr val="0F766E"/>
              </a:buClr>
              <a:buFont typeface="Arial"/>
              <a:buChar char="•"/>
            </a:pPr>
            <a:r>
              <a:rPr sz="1700" b="1">
                <a:solidFill>
                  <a:srgbClr val="1F2937"/>
                </a:solidFill>
              </a:rPr>
              <a:t>Corrotinas</a:t>
            </a:r>
            <a:r>
              <a:rPr sz="1700" b="0">
                <a:solidFill>
                  <a:srgbClr val="1F2937"/>
                </a:solidFill>
              </a:rPr>
              <a:t> (§9.13, p. 406-412): </a:t>
            </a:r>
            <a:r>
              <a:rPr sz="1564" b="0">
                <a:solidFill>
                  <a:srgbClr val="1F2937"/>
                </a:solidFill>
                <a:latin typeface="Consolas"/>
              </a:rPr>
              <a:t>geradores.py</a:t>
            </a:r>
          </a:p>
          <a:p>
            <a:pPr algn="l" marL="256032" indent="-219456">
              <a:spcAft>
                <a:spcPts val="1100"/>
              </a:spcAft>
              <a:buClr>
                <a:srgbClr val="0F766E"/>
              </a:buClr>
              <a:buFont typeface="Arial"/>
              <a:buChar char="•"/>
            </a:pPr>
            <a:r>
              <a:rPr sz="1700" b="1">
                <a:solidFill>
                  <a:srgbClr val="1F2937"/>
                </a:solidFill>
              </a:rPr>
              <a:t>Subprogramas aninhados e cadeia estática</a:t>
            </a:r>
            <a:r>
              <a:rPr sz="1700" b="0">
                <a:solidFill>
                  <a:srgbClr val="1F2937"/>
                </a:solidFill>
              </a:rPr>
              <a:t> (§10.4, p. 427-434)</a:t>
            </a:r>
          </a:p>
          <a:p>
            <a:pPr algn="l" marL="256032" indent="-219456">
              <a:spcAft>
                <a:spcPts val="1100"/>
              </a:spcAft>
              <a:buClr>
                <a:srgbClr val="0F766E"/>
              </a:buClr>
              <a:buFont typeface="Arial"/>
              <a:buChar char="•"/>
            </a:pPr>
            <a:r>
              <a:rPr sz="1700" b="1">
                <a:solidFill>
                  <a:srgbClr val="1F2937"/>
                </a:solidFill>
              </a:rPr>
              <a:t>Blocos</a:t>
            </a:r>
            <a:r>
              <a:rPr sz="1700" b="0">
                <a:solidFill>
                  <a:srgbClr val="1F2937"/>
                </a:solidFill>
              </a:rPr>
              <a:t> e </a:t>
            </a:r>
            <a:r>
              <a:rPr sz="1700" b="1">
                <a:solidFill>
                  <a:srgbClr val="1F2937"/>
                </a:solidFill>
              </a:rPr>
              <a:t>implementação de escopo dinâmico</a:t>
            </a:r>
            <a:r>
              <a:rPr sz="1700" b="0">
                <a:solidFill>
                  <a:srgbClr val="1F2937"/>
                </a:solidFill>
              </a:rPr>
              <a:t> (§10.5-10.6, p. 434-443)</a:t>
            </a:r>
          </a:p>
        </p:txBody>
      </p:sp>
      <p:sp>
        <p:nvSpPr>
          <p:cNvPr id="5" name="Rounded Rectangle 4"/>
          <p:cNvSpPr/>
          <p:nvPr/>
        </p:nvSpPr>
        <p:spPr>
          <a:xfrm>
            <a:off x="7680960" y="1325880"/>
            <a:ext cx="3959352" cy="2834640"/>
          </a:xfrm>
          <a:prstGeom prst="roundRect">
            <a:avLst>
              <a:gd name="adj" fmla="val 7000"/>
            </a:avLst>
          </a:prstGeom>
          <a:solidFill>
            <a:srgbClr val="E6F4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600"/>
              </a:spcAft>
            </a:pPr>
            <a:r>
              <a:rPr sz="1800" b="1">
                <a:solidFill>
                  <a:srgbClr val="0F766E"/>
                </a:solidFill>
              </a:rPr>
              <a:t>Entrega sugerida</a:t>
            </a:r>
          </a:p>
          <a:p>
            <a:pPr algn="l">
              <a:spcAft>
                <a:spcPts val="400"/>
              </a:spcAft>
            </a:pPr>
            <a:r>
              <a:rPr sz="1600" b="0">
                <a:solidFill>
                  <a:srgbClr val="1F2937"/>
                </a:solidFill>
              </a:rPr>
              <a:t>Desenhe a pilha de execução (as IRAs com parâmetros, locais e endereço de retorno) de um programa com duas funções e uma recursão, e confira no Python Tutor.</a:t>
            </a:r>
          </a:p>
        </p:txBody>
      </p:sp>
      <p:sp>
        <p:nvSpPr>
          <p:cNvPr id="6" name="Rounded Rectangle 5"/>
          <p:cNvSpPr/>
          <p:nvPr/>
        </p:nvSpPr>
        <p:spPr>
          <a:xfrm>
            <a:off x="7680960" y="4343400"/>
            <a:ext cx="3959352" cy="1691640"/>
          </a:xfrm>
          <a:prstGeom prst="roundRect">
            <a:avLst>
              <a:gd name="adj" fmla="val 7000"/>
            </a:avLst>
          </a:prstGeom>
          <a:solidFill>
            <a:srgbClr val="F8FAFC"/>
          </a:solidFill>
          <a:ln w="1270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600"/>
              </a:spcAft>
            </a:pPr>
            <a:r>
              <a:rPr sz="1800" b="1">
                <a:solidFill>
                  <a:srgbClr val="1F2937"/>
                </a:solidFill>
              </a:rPr>
              <a:t>Próxima aula</a:t>
            </a:r>
          </a:p>
          <a:p>
            <a:pPr algn="l">
              <a:spcAft>
                <a:spcPts val="400"/>
              </a:spcAft>
            </a:pPr>
            <a:r>
              <a:rPr sz="1600" b="0">
                <a:solidFill>
                  <a:srgbClr val="1F2937"/>
                </a:solidFill>
              </a:rPr>
              <a:t>Tipos de dados abstratos, encapsulamento e orientação a objetos (Caps. 11 e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
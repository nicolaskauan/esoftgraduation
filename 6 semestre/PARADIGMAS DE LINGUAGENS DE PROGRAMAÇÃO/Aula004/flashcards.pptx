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7365D"/>
                </a:solidFill>
                <a:latin typeface="Aptos"/>
              </a:defRPr>
            </a:pPr>
            <a:r>
              <a:t>Análise Léxica e Sintática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2677D"/>
                </a:solidFill>
                <a:latin typeface="Aptos"/>
              </a:defRPr>
            </a:pPr>
            <a:r>
              <a:t>Pergunta primeiro. Resposta no cartão seguinte.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4D5CD"/>
                </a:solidFill>
                <a:latin typeface="Aptos"/>
              </a:defRPr>
            </a:pPr>
            <a:r>
              <a:t>Pergunta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Por que estes conceitos importam em uma decisão técnica?</a:t>
            </a:r>
            <a:br/>
            <a:r>
              <a:t>Análise do código fonte, FNB na descrição da sintaxe, Analisador léxico e analisador sintático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1EC"/>
                </a:solidFill>
                <a:latin typeface="Aptos"/>
              </a:defRPr>
            </a:pPr>
            <a:r>
              <a:t>Pense por alguns segundos antes de avançar.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5B8A"/>
                </a:solidFill>
                <a:latin typeface="Aptos"/>
              </a:defRPr>
            </a:pPr>
            <a:r>
              <a:t>Resposta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7365D"/>
                </a:solidFill>
                <a:latin typeface="Aptos"/>
              </a:defRPr>
            </a:pPr>
            <a:r>
              <a:t>Análise do código fonte, FNB na descrição da sintaxe, Analisador léxico e analisador sintático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72536"/>
                </a:solidFill>
                <a:latin typeface="Aptos"/>
              </a:defRPr>
            </a:pPr>
            <a:r>
              <a:t>Análise do código fonte: Etapa utilizada nas implementações de linguagens de programação por compilação, interpretação pura ou sistemas híbridos. No escopo da aula, ela envolve a análise léxica e a análise sintática.</a:t>
            </a:r>
            <a:br/>
            <a:br/>
            <a:r>
              <a:t>FNB na descrição da sintaxe: A FNB fornece uma descrição clara e concisa da sintaxe e pode servir de base para o analisador sintático, facilitando sua manutenção.</a:t>
            </a:r>
            <a:br/>
            <a:br/>
            <a:r>
              <a:t>Analisador léxico e analisador sintático: A análise de um processador de linguagens é dividida em analisador léxico, associado a autômato finito e gramática regular, e analisador sintático ou parser, associado a autômato com pilha e GLC ou FNB.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2677D"/>
                </a:solidFill>
                <a:latin typeface="Aptos"/>
              </a:defRPr>
            </a:pPr>
            <a:r>
              <a:t>Objetivos: obj01, obj03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4D5CD"/>
                </a:solidFill>
                <a:latin typeface="Aptos"/>
              </a:defRPr>
            </a:pPr>
            <a:r>
              <a:t>Pergunta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Como você explicaria a relação entre estes conceitos?</a:t>
            </a:r>
            <a:br/>
            <a:r>
              <a:t>Separação da análise léxica e da análise sintática, Análise Léxica, Lexema e token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1EC"/>
                </a:solidFill>
                <a:latin typeface="Aptos"/>
              </a:defRPr>
            </a:pPr>
            <a:r>
              <a:t>Pense por alguns segundos antes de avançar.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5B8A"/>
                </a:solidFill>
                <a:latin typeface="Aptos"/>
              </a:defRPr>
            </a:pPr>
            <a:r>
              <a:t>Resposta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7365D"/>
                </a:solidFill>
                <a:latin typeface="Aptos"/>
              </a:defRPr>
            </a:pPr>
            <a:r>
              <a:t>Separação da análise léxica e da análise sintática, Análise Léxica, Lexema e token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72536"/>
                </a:solidFill>
                <a:latin typeface="Aptos"/>
              </a:defRPr>
            </a:pPr>
            <a:r>
              <a:t>Separação da análise léxica e da análise sintática: A separação favorece a simplicidade, pois permite técnicas menos complexas no analisador léxico; a eficiência, por possibilitar sua otimização; e a portabilidade, por isolar partes lexicais dependentes da plataforma.</a:t>
            </a:r>
            <a:br/>
            <a:br/>
            <a:r>
              <a:t>Análise Léxica: Casamento de padrões que identifica subcadeias no código fonte, agrupa-as logicamente e fornece ao parser códigos internos correspondentes. O parser chama o analisador léxico quando precisa do próximo token.</a:t>
            </a:r>
            <a:br/>
            <a:br/>
            <a:r>
              <a:t>Lexema e token: Lexema é a subcadeia reconhecida no código fonte. Token é o código interno atribuído à categoria do lexema; por exemplo, diferentes nomes de variáveis podem receber IDENT, enquanto o símbolo de soma pode receber OP_SOMA.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2677D"/>
                </a:solidFill>
                <a:latin typeface="Aptos"/>
              </a:defRPr>
            </a:pPr>
            <a:r>
              <a:t>Objetivos: obj01, obj02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4D5CD"/>
                </a:solidFill>
                <a:latin typeface="Aptos"/>
              </a:defRPr>
            </a:pPr>
            <a:r>
              <a:t>Pergunta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Que problema profissional estes conceitos ajudam a analisar?</a:t>
            </a:r>
            <a:br/>
            <a:r>
              <a:t>Abordagens para construir o analisador léxico, Classes de caracteres, Reconhecimento de palavras reservadas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1EC"/>
                </a:solidFill>
                <a:latin typeface="Aptos"/>
              </a:defRPr>
            </a:pPr>
            <a:r>
              <a:t>Pense por alguns segundos antes de avançar.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5B8A"/>
                </a:solidFill>
                <a:latin typeface="Aptos"/>
              </a:defRPr>
            </a:pPr>
            <a:r>
              <a:t>Resposta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7365D"/>
                </a:solidFill>
                <a:latin typeface="Aptos"/>
              </a:defRPr>
            </a:pPr>
            <a:r>
              <a:t>Abordagens para construir o analisador léxico, Classes de caracteres, Reconhecimento de palavras reservadas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72536"/>
                </a:solidFill>
                <a:latin typeface="Aptos"/>
              </a:defRPr>
            </a:pPr>
            <a:r>
              <a:t>Abordagens para construir o analisador léxico: O analisador léxico pode ser obtido por uma ferramenta a partir da descrição formal dos tokens, implementado como programa baseado em um diagrama de estados ou construído por meio de uma tabela elaborada manualmente a partir desse diagrama.</a:t>
            </a:r>
            <a:br/>
            <a:br/>
            <a:r>
              <a:t>Classes de caracteres: Agrupamentos como letras e dígitos substituem transições individuais para cada caractere, reduzindo a extensão e a complexidade do diagrama de estados usado no reconhecimento de identificadores e inteiros.</a:t>
            </a:r>
            <a:br/>
            <a:br/>
            <a:r>
              <a:t>Reconhecimento de palavras reservadas: Palavras reservadas e identificadores podem ser reconhecidos inicialmente pelo mesmo padrão. Depois, uma tabela determina se o lexema reconhecido como possível identificador corresponde a uma palavra reservada.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2677D"/>
                </a:solidFill>
                <a:latin typeface="Aptos"/>
              </a:defRPr>
            </a:pPr>
            <a:r>
              <a:t>Objetivos: obj02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4D5CD"/>
                </a:solidFill>
                <a:latin typeface="Aptos"/>
              </a:defRPr>
            </a:pPr>
            <a:r>
              <a:t>Pergunta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Quais trade-offs aparecem quando pensamos em:</a:t>
            </a:r>
            <a:br/>
            <a:r>
              <a:t>Funções getChar, addChar e lookup, Objetivos da análise sintática, Análise Sintática Descendente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1EC"/>
                </a:solidFill>
                <a:latin typeface="Aptos"/>
              </a:defRPr>
            </a:pPr>
            <a:r>
              <a:t>Pense por alguns segundos antes de avançar.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5B8A"/>
                </a:solidFill>
                <a:latin typeface="Aptos"/>
              </a:defRPr>
            </a:pPr>
            <a:r>
              <a:t>Resposta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7365D"/>
                </a:solidFill>
                <a:latin typeface="Aptos"/>
              </a:defRPr>
            </a:pPr>
            <a:r>
              <a:t>Funções getChar, addChar e lookup, Objetivos da análise sintática, Análise Sintática Descendente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72536"/>
                </a:solidFill>
                <a:latin typeface="Aptos"/>
              </a:defRPr>
            </a:pPr>
            <a:r>
              <a:t>Funções getChar, addChar e lookup: getChar obtém o próximo caractere e determina sua classe; addChar incorpora o caractere ao lexema em processamento; lookup consulta a cadeia formada para verificar, entre outras possibilidades, se ela é uma palavra reservada e retornar seu código.</a:t>
            </a:r>
            <a:br/>
            <a:br/>
            <a:r>
              <a:t>Objetivos da análise sintática: O parser deve localizar erros sintáticos, apresentar diagnósticos e recuperar-se rapidamente, além de produzir a árvore de análise sintática ou ao menos um caminho correspondente nessa árvore.</a:t>
            </a:r>
            <a:br/>
            <a:br/>
            <a:r>
              <a:t>Análise Sintática Descendente: Abordagem top down que constrói a árvore a partir da raiz, emprega derivação mais à esquerda e seleciona a regra do não-terminal corrente com base nos primeiros tokens que ele pode produzir.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2677D"/>
                </a:solidFill>
                <a:latin typeface="Aptos"/>
              </a:defRPr>
            </a:pPr>
            <a:r>
              <a:t>Objetivos: obj02, obj03, obj04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4D5CD"/>
                </a:solidFill>
                <a:latin typeface="Aptos"/>
              </a:defRPr>
            </a:pPr>
            <a:r>
              <a:t>Pergunta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Por que estes conceitos importam em uma decisão técnica?</a:t>
            </a:r>
            <a:br/>
            <a:r>
              <a:t>Análise Sintática Ascendente, Deslocamento e redução, Complexidade da análise sintática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1EC"/>
                </a:solidFill>
                <a:latin typeface="Aptos"/>
              </a:defRPr>
            </a:pPr>
            <a:r>
              <a:t>Pense por alguns segundos antes de avançar.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5B8A"/>
                </a:solidFill>
                <a:latin typeface="Aptos"/>
              </a:defRPr>
            </a:pPr>
            <a:r>
              <a:t>Resposta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7365D"/>
                </a:solidFill>
                <a:latin typeface="Aptos"/>
              </a:defRPr>
            </a:pPr>
            <a:r>
              <a:t>Análise Sintática Ascendente, Deslocamento e redução, Complexidade da análise sintática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72536"/>
                </a:solidFill>
                <a:latin typeface="Aptos"/>
              </a:defRPr>
            </a:pPr>
            <a:r>
              <a:t>Análise Sintática Ascendente: Abordagem bottom up que começa pelas folhas e busca reduzir uma subcadeia correspondente ao lado direito de uma regra, reconstruindo no sentido inverso uma derivação mais à direita. A família LR é apresentada como a principal família de algoritmos ascendentes.</a:t>
            </a:r>
            <a:br/>
            <a:br/>
            <a:r>
              <a:t>Deslocamento e redução: Na análise sintática ascendente, deslocar move o próximo símbolo da entrada para a pilha; reduzir substitui uma subcadeia reconhecida pelo lado esquerdo da regra correspondente. Essas são as ações centrais dos analisadores shift-reduce da família LR.</a:t>
            </a:r>
            <a:br/>
            <a:br/>
            <a:r>
              <a:t>Complexidade da análise sintática: Algoritmos aplicáveis a todas as gramáticas não ambíguas podem apresentar complexidade O(n³). Compiladores restringem-se a subconjuntos dessas gramáticas para realizar a análise em tempo linear O(n), em que n é o tamanho da entrada.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2677D"/>
                </a:solidFill>
                <a:latin typeface="Aptos"/>
              </a:defRPr>
            </a:pPr>
            <a:r>
              <a:t>Objetivos: obj03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4D5CD"/>
                </a:solidFill>
                <a:latin typeface="Aptos"/>
              </a:defRPr>
            </a:pPr>
            <a:r>
              <a:t>Pergunta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Como você explicaria a relação entre estes conceitos?</a:t>
            </a:r>
            <a:br/>
            <a:r>
              <a:t>Análise Sintática Descendente Recursiva, FNBE para expressões simples, Processamento do lado direito de uma regra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1EC"/>
                </a:solidFill>
                <a:latin typeface="Aptos"/>
              </a:defRPr>
            </a:pPr>
            <a:r>
              <a:t>Pense por alguns segundos antes de avançar.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5B8A"/>
                </a:solidFill>
                <a:latin typeface="Aptos"/>
              </a:defRPr>
            </a:pPr>
            <a:r>
              <a:t>Resposta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7365D"/>
                </a:solidFill>
                <a:latin typeface="Aptos"/>
              </a:defRPr>
            </a:pPr>
            <a:r>
              <a:t>Análise Sintática Descendente Recursiva, FNBE para expressões simples, Processamento do lado direito de uma regra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72536"/>
                </a:solidFill>
                <a:latin typeface="Aptos"/>
              </a:defRPr>
            </a:pPr>
            <a:r>
              <a:t>Análise Sintática Descendente Recursiva: Implementação formada por uma coleção de subprogramas, geralmente com um subprograma para cada não-terminal. Os subprogramas percorrem as regras e produzem a análise em ordem descendente.</a:t>
            </a:r>
            <a:br/>
            <a:br/>
            <a:r>
              <a:t>FNBE para expressões simples: A FNBE apresentada organiza expressões em expr, term e factor. expr trata soma e subtração entre termos; term trata multiplicação e divisão entre fatores; factor reconhece identificador, constante inteira ou expressão entre parênteses.</a:t>
            </a:r>
            <a:br/>
            <a:br/>
            <a:r>
              <a:t>Processamento do lado direito de uma regra: Para cada terminal no lado direito, o parser compara o símbolo com nextToken e sinaliza erro se não houver casamento. Para cada não-terminal, chama o subprograma correspondente. Quando um terminal casa, o analisador léxico fornece o próximo token.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2677D"/>
                </a:solidFill>
                <a:latin typeface="Aptos"/>
              </a:defRPr>
            </a:pPr>
            <a:r>
              <a:t>Objetivos: obj04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4D5CD"/>
                </a:solidFill>
                <a:latin typeface="Aptos"/>
              </a:defRPr>
            </a:pPr>
            <a:r>
              <a:t>Pergunta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Que problema profissional estes conceitos ajudam a analisar?</a:t>
            </a:r>
            <a:br/>
            <a:r>
              <a:t>Convenção de nextToken, Lookahead, Recursão à esquerda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1EC"/>
                </a:solidFill>
                <a:latin typeface="Aptos"/>
              </a:defRPr>
            </a:pPr>
            <a:r>
              <a:t>Pense por alguns segundos antes de avançar.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5B8A"/>
                </a:solidFill>
                <a:latin typeface="Aptos"/>
              </a:defRPr>
            </a:pPr>
            <a:r>
              <a:t>Resposta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7365D"/>
                </a:solidFill>
                <a:latin typeface="Aptos"/>
              </a:defRPr>
            </a:pPr>
            <a:r>
              <a:t>Convenção de nextToken, Lookahead, Recursão à esquerda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72536"/>
                </a:solidFill>
                <a:latin typeface="Aptos"/>
              </a:defRPr>
            </a:pPr>
            <a:r>
              <a:t>Convenção de nextToken: Cada rotina do analisador sintático deixa em nextToken o próximo token ainda não processado. Assim, a rotina seguinte pode examinar esse token para continuar a análise ou escolher uma regra.</a:t>
            </a:r>
            <a:br/>
            <a:br/>
            <a:r>
              <a:t>Lookahead: Quando um não-terminal possui mais de uma regra, o próximo token da entrada é comparado com os primeiros tokens que cada alternativa pode gerar. Uma alternativa compatível é escolhida; a ausência de casamento caracteriza erro sintático.</a:t>
            </a:r>
            <a:br/>
            <a:br/>
            <a:r>
              <a:t>Recursão à esquerda: Uma gramática com recursão à esquerda direta ou indireta não pode ser usada diretamente por um analisador sintático descendente. A transformação apresentada separa alternativas recursivas Aα das alternativas não recursivas β e introduz um novo não-terminal A'.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2677D"/>
                </a:solidFill>
                <a:latin typeface="Aptos"/>
              </a:defRPr>
            </a:pPr>
            <a:r>
              <a:t>Objetivos: obj04, obj05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4D5CD"/>
                </a:solidFill>
                <a:latin typeface="Aptos"/>
              </a:defRPr>
            </a:pPr>
            <a:r>
              <a:t>Pergunta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Quais trade-offs aparecem quando pensamos em:</a:t>
            </a:r>
            <a:br/>
            <a:r>
              <a:t>FIRST, Teste de Disjunção par a par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1EC"/>
                </a:solidFill>
                <a:latin typeface="Aptos"/>
              </a:defRPr>
            </a:pPr>
            <a:r>
              <a:t>Pense por alguns segundos antes de avançar.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5B8A"/>
                </a:solidFill>
                <a:latin typeface="Aptos"/>
              </a:defRPr>
            </a:pPr>
            <a:r>
              <a:t>Resposta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7365D"/>
                </a:solidFill>
                <a:latin typeface="Aptos"/>
              </a:defRPr>
            </a:pPr>
            <a:r>
              <a:t>FIRST, Teste de Disjunção par a par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72536"/>
                </a:solidFill>
                <a:latin typeface="Aptos"/>
              </a:defRPr>
            </a:pPr>
            <a:r>
              <a:t>FIRST: FIRST(α) é o conjunto de símbolos terminais que podem aparecer no início de uma cadeia derivada de α. Se α puder derivar a cadeia vazia, ε também pertence a FIRST(α).</a:t>
            </a:r>
            <a:br/>
            <a:br/>
            <a:r>
              <a:t>Teste de Disjunção par a par: Para cada par de alternativas A → αi e A → αj, os conjuntos FIRST(αi) e FIRST(αj) devem ter intersecção vazia. Se houver intersecção, o lookahead pode não determinar de forma única qual alternativa deve ser usada.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2677D"/>
                </a:solidFill>
                <a:latin typeface="Aptos"/>
              </a:defRPr>
            </a:pPr>
            <a:r>
              <a:t>Objetivos: obj05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Léxica e Sintática — Flashcards</dc:title>
  <dc:subject/>
  <dc:creator>Aula Factory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
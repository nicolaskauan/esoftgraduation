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6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-italic.fntdata"/><Relationship Id="rId13" Type="http://schemas.openxmlformats.org/officeDocument/2006/relationships/slide" Target="slides/slide8.xml"/><Relationship Id="rId57" Type="http://schemas.openxmlformats.org/officeDocument/2006/relationships/font" Target="fonts/RobotoMono-bold.fntdata"/><Relationship Id="rId12" Type="http://schemas.openxmlformats.org/officeDocument/2006/relationships/slide" Target="slides/slide7.xml"/><Relationship Id="rId56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59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slide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slide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slide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slide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cf69a2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cf69a2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slide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slide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slide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slide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slide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slide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ide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ide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slide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slide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slide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slide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slide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slide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slide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slide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slide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slide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slide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slide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slide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slide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slide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slide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slide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slide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slide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slide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slide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slide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lide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lide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slide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slide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slide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slide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slide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slide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slide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slide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slide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slide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slide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slide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slide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slide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slide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slide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slide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slide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slide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slide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slide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slide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slide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slide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Paradigmas de Linguagens de Programação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00 — Introdução 🚀  |  Prof. Munif Gebara Jr.  |  Eng. de Software · UniCesumar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Quem é esse cara? 🤔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Munif Gebara Jr. — @munifgebara (GitHub · Instagram · Gmail)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💾 Nerd desde a época em que 'salvar' era em fita cassete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🎓 Bacharel em Ciência da Computação (UEM)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🔬 Mestre em Informática Industrial (CEFET-PR)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🤖 Doutorando no PCC-UEM — IA aplicada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😄 Aviso: sou daltônico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175" y="1593081"/>
            <a:ext cx="2377440" cy="3136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Minha trajetória (spoiler: comecei no VHS) 📼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🎬 1988–99: computação gráfica — aberturas de fitas de casamento e vinhetas de TV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🎓 1994–97: graduação em Ciência da Computação (UEM)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🔬 1998–2001: mestrado (CEFET-PR)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💼 2005–2023: empresas e projetos — do backend à 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🤖 2024–… Nações Unidas: Doutorado + Inteligência Artificial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🧑‍🏫 2026: aqui, com vocês!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🗺️ Nosso mapa do semestre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— o programa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 gerais 🎯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Compreender os diferentes paradigmas e suas características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Analisar linguagens de programação e suas construções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Avaliar a linguagem adequada para cada projeto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Aprender novas linguagens rapidamente 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Traduzindo pro português… 😅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🚗🔧 Aqui a gente abre o capô das linguagens de programação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é 'aprender mais uma linguagem' — é entender COMO todas funcionam por dentro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Tipos, escopo, memória, avaliação, concorrência… o 'porquê' das coisas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Depois disso, aprender linguagem nova vira só 'ler a bula' 💊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estudar isso? 🧐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🧠 Aumenta sua capacidade de expressar ideias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🧰 Você escolhe a ferramenta certa (não só a que já conhece)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🚀 Aprende linguagens novas muito mais rápido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🐛 Entende o que o compilador faz nas suas costas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💰 Dev que domina paradigmas é mais versátil (e valorizado)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57374" cy="31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775" y="152400"/>
            <a:ext cx="3610076" cy="28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00" y="2794450"/>
            <a:ext cx="3521275" cy="234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preliminares 🧭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Por que estudar conceitos de linguagens? Você pensa melhor e escolhe melhor a ferramenta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Domínios de aplicação: científico, comercial, IA, sistemas, web e jogos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Categorias e trade-offs de projeto; métodos de implementação (compilar × interpretar) e ambientes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Evolução das linguagens 🕰️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Do começo: Plankalkül, pseudocódigos, IBM 704 e Fortran; a origem funcional (</a:t>
            </a:r>
            <a:r>
              <a:rPr lang="pt-BR">
                <a:highlight>
                  <a:schemeClr val="accent6"/>
                </a:highlight>
              </a:rPr>
              <a:t>LISP</a:t>
            </a:r>
            <a:r>
              <a:rPr lang="pt-BR"/>
              <a:t>), ALGOL 60, </a:t>
            </a:r>
            <a:r>
              <a:rPr lang="pt-BR">
                <a:highlight>
                  <a:srgbClr val="FFFF00"/>
                </a:highlight>
              </a:rPr>
              <a:t>COBOL </a:t>
            </a:r>
            <a:r>
              <a:rPr lang="pt-BR"/>
              <a:t>e </a:t>
            </a:r>
            <a:r>
              <a:rPr lang="pt-BR">
                <a:highlight>
                  <a:srgbClr val="FFFF00"/>
                </a:highlight>
              </a:rPr>
              <a:t>BASIC</a:t>
            </a:r>
            <a:endParaRPr>
              <a:highlight>
                <a:srgbClr val="FF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PL/I, APL, SNOBOL, SIMULA 67, ALGOL 68, descendentes do ALGOL, </a:t>
            </a:r>
            <a:r>
              <a:rPr lang="pt-BR">
                <a:highlight>
                  <a:schemeClr val="accent6"/>
                </a:highlight>
              </a:rPr>
              <a:t>Prolog </a:t>
            </a:r>
            <a:r>
              <a:rPr lang="pt-BR"/>
              <a:t>(lógica) e 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era moderna: </a:t>
            </a:r>
            <a:r>
              <a:rPr lang="pt-BR">
                <a:highlight>
                  <a:srgbClr val="FFFF00"/>
                </a:highlight>
              </a:rPr>
              <a:t>Smalltalk, C++, Java, scripting, C# e as híbridas de marcação/programação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Sintaxe e semântica 📐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descrever a SINTAXE (a forma) de uma linguagem — e o problema de fazê-lo com precisão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Métodos formais: gramáticas para a sintaxe e gramáticas de atributos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o SIGNIFICADO dos programas: semântica (inclusive semântica dinâmica)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léxica e sintática 🔍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o compilador LÊ seu código: análise léxica (quebra em tokens)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problema da análise sintática — montar a árvore do programa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Duas estratégias: descendente recursiva e ascendente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Nomes, vinculações e escopo 🏷️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Nomes e variáveis; a vinculação (binding) — quando um nome ganha significado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Escopo e tempo de vida das variáveis; ambientes de referenciamento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Constantes nomeadas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dados 🧮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 primitivos, cadeias de caracteres e tipos ordinais definidos pelo usuário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Estruturas: matrizes, matrizes associativas, registros e uniões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Ponteiros e referências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Expressões aritméticas, operadores sobrecarregados e conversões de tipo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Expressões relacionais e booleanas; avaliação em curto-circuito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Ex: if (x != 0 &amp;&amp; 10 / x &gt; 2)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Sentenças de atribuição e atribuição de modo misto</a:t>
            </a:r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Expressões e atribuições ➕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Estruturas de controle 🔀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Sentenças de seleção (if, switch) e de iteração (loops)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Desvio incondicional (o polêmico </a:t>
            </a:r>
            <a:r>
              <a:rPr b="1" lang="pt-BR"/>
              <a:t>goto</a:t>
            </a:r>
            <a:r>
              <a:rPr lang="pt-BR"/>
              <a:t>) e comandos protegidos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Subprogramas 🧩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Fundamentos, questões de projeto e passagem de parâmetros (por valor, por referência…)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são implementados: semântica de chamadas/retornos e a pilha de execução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Sobrecarregados, genéricos, funções, operadores e corrotinas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abstratos e encapsulamento 📦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conceito de abstração e a abstração de dados; questões de projeto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Tipos de dados parametrizados e exemplos em várias linguagens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Construções de encapsulamento e como nomear encapsulamentos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Orientação a objetos 🧱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Programação OO e suas questões de projeto (herança, polimorfismo…)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suporte a OO em Smalltalk, C++, Java, C#, Ada 95 e Ruby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 como a OO é implementada por baixo dos panos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Concorrência ⚡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Concorrência no nível de subprograma: semáforos, monitores e passagem de mensagens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Suporte em Ada, Java e 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Concorrência no nível de sentença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Exceções e eventos 🚨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Tratamento de exceções: introdução e o modelo de 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Exceções em C++ e 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Tratamento de eventos com Java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funcional λ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Funções matemáticas e os fundamentos do paradigma; a pioneira: LISP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Scheme, COMMON LISP, ML e Haskell; aplicações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comparação entre linguagens funcionais e imperativas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lógica 🧠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Introdução ao cálculo de predicados e à prova de teoremas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Prolog: origens, elementos básicos e deficiências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Aplicações da programação lógica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4 grandes paradigmas 🌍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1) Imperativo / Procedural ⚙️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// 'Faça isto, depois aquilo'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int soma = 0;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for (int i = 1; i &lt;= 10; i++)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soma += i;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printf("%d\n", soma);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3" name="Google Shape;213;p3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📜 Você diz o PASSO A PASSO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🔧 Estado que muda + comandos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C, Pascal, Fortran, Assembly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🍰 É a 'receita de bolo'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2) Orientado a Objetos 🧱</a:t>
            </a:r>
            <a:endParaRPr/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class Cachorro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String nome;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void latir()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System.out.println(nome + ": Au!");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new Cachorro().latir();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" name="Google Shape;220;p3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🧩 Modele o mundo em objetos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🗣️ Objetos trocam mensagens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Java, C#, Python, Kotlin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🏢 Reina no mundo corporativo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3) Funcional λ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 funções puras, sem efeitos colaterais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quadrados = map(lambda x: x*x,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            [1, 2, 3, 4])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print(list(quadrados))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 [1, 4, 9, 16]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3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🧼 Funções puras, dados imutáveis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➗ Tudo é expressão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Haskell, Lisp, Elixir, Scala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🤯 Difícil no início, vicia depois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4) Lógico 🧩</a:t>
            </a:r>
            <a:endParaRPr/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progenitor(ana, bia).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progenitor(bia, caio).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avo(X, Z) :- progenitor(X, Y),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        progenitor(Y, Z).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?- avo(ana, caio).   % true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4" name="Google Shape;234;p4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🧠 Você declara FATOS e REGRAS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🔎 A máquina deduz a resposta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💬 Prolog, Datalog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🕵️ 'Não digo como, digo o quê'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vida real: multiparadigma 🎭</a:t>
            </a:r>
            <a:endParaRPr/>
          </a:p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🎭 As linguagens modernas misturam tudo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🐍 Python: OO + funcional + imperativo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🟨 JavaScript: idem, com um toque de caos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🦀 Rust: imperativo + funcional + segurança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✅ Paradigma é um jeito de pensar, não uma prisão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Hello World Tour 🌎 — as 10 + populares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🐍 Python</a:t>
            </a:r>
            <a:endParaRPr/>
          </a:p>
        </p:txBody>
      </p:sp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print("Olá, mundo!")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2" name="Google Shape;252;p4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#1 do mundo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altíssimas (IA, dados, back)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R$ 8–14k/mês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~US$ 110k/ano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😄 'Pseudocódigo que roda'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🟨 JavaScript</a:t>
            </a:r>
            <a:endParaRPr/>
          </a:p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console.log("Olá,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9" name="Google Shape;259;p44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A mais usada (Stack Overflow: 66%)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em todo lugar (web)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R$ 7–13k/mês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~US$ 114k/ano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😅 'Roda até na geladeira'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☕ Java</a:t>
            </a:r>
            <a:endParaRPr/>
          </a:p>
        </p:txBody>
      </p:sp>
      <p:sp>
        <p:nvSpPr>
          <p:cNvPr id="265" name="Google Shape;265;p4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public class Main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public static void main(String[] a)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System.out.println("Olá,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" name="Google Shape;266;p4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corporativo e Android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R$ 8–15k/mês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~US$ 100–160k/ano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☕ 'Escreva uma vez, debugue em todo lugar'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🔷 TypeScript</a:t>
            </a:r>
            <a:endParaRPr/>
          </a:p>
        </p:txBody>
      </p:sp>
      <p:sp>
        <p:nvSpPr>
          <p:cNvPr id="272" name="Google Shape;272;p4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const msg: string = "Olá, mundo!";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console.log(msg);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3" name="Google Shape;273;p4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#1 no GitHub por contribuidores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web moderna (front e back)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R$ 9–16k/mês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~US$ 120k/ano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🧘 'JavaScript que fez terapia'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🎯 C#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Console.WriteLine("Olá,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0" name="Google Shape;280;p4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.NET, Unity e games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R$ 8–14k/mês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~US$ 95–150k/ano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🎮 'O Java da Microsoft (com boa intenção)'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⚙️ C++</a:t>
            </a:r>
            <a:endParaRPr/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#include &lt;iostream&gt;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int main()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std::cout &lt;&lt; "Olá, mundo!\n";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7" name="Google Shape;287;p4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games e alto desempenho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R$ 9–16k/mês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~US$ 110–170k/ano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🦸 'Poder absoluto, responsabilidade absoluta'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🔧 C</a:t>
            </a:r>
            <a:endParaRPr/>
          </a:p>
        </p:txBody>
      </p:sp>
      <p:sp>
        <p:nvSpPr>
          <p:cNvPr id="293" name="Google Shape;293;p4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#include &lt;stdio.h&gt;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int main(void)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printf("Olá, mundo!\n");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4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TIOBE #2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sistemas e embarcados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R$ 8–15k/mês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~US$ 100–150k/ano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💪 'O avô que ainda levanta peso'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🐹 Go</a:t>
            </a:r>
            <a:endParaRPr/>
          </a:p>
        </p:txBody>
      </p:sp>
      <p:sp>
        <p:nvSpPr>
          <p:cNvPr id="300" name="Google Shape;300;p5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package main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import "fmt"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func main()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fmt.Println("Olá, mundo!")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1" name="Google Shape;301;p5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Queridinha da nuvem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back, microserviços, cloud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R$ 12–20k/mês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~US$ 120–180k/ano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⚡ 'Simples de propósito, paga bem'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🦀 Rust</a:t>
            </a:r>
            <a:endParaRPr/>
          </a:p>
        </p:txBody>
      </p:sp>
      <p:sp>
        <p:nvSpPr>
          <p:cNvPr id="307" name="Google Shape;307;p5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fn main()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println!("Olá, mundo!");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8" name="Google Shape;308;p5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Entrou no TOP 10 do TIOBE (inédito!)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❤️ A mais AMADA (72% no Stack Overflow)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R$ 13–22k/mês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~US$ 130–235k/ano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🥶 'O compilador é rígido, mas é por amor'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🐘 PHP</a:t>
            </a:r>
            <a:endParaRPr/>
          </a:p>
        </p:txBody>
      </p:sp>
      <p:sp>
        <p:nvSpPr>
          <p:cNvPr id="314" name="Google Shape;314;p5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&lt;?php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echo "Olá, mundo!";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5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📈 Roda ~⅓ da web (WordPress, Laravel)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💼 Vagas: ainda MUITAS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💰 BR pleno: R$ 6–11k/mês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🌎 Global: ~US$ 90–120k/ano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🧟 'Declarado morto todo ano… e segue vivo'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🤖 O paradigma que está nascendo agora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Programação com IA &amp; Agentes</a:t>
            </a:r>
            <a:endParaRPr/>
          </a:p>
        </p:txBody>
      </p:sp>
      <p:sp>
        <p:nvSpPr>
          <p:cNvPr id="326" name="Google Shape;326;p5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🗣️ Sua nova 'linguagem': português bem escrito (o prompt)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🧑‍💻 Você descreve a INTENÇÃO; a IA escreve, edita e testa o código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🔁 De 'como fazer' para 'o que eu quero'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🤖 Agentes leem o projeto, planejam, usam ferramentas e executam sozinhos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💬 Copilot, Cursor, Claude Code, ChatGPT…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Antes × Agora 🪄</a:t>
            </a:r>
            <a:endParaRPr/>
          </a:p>
        </p:txBody>
      </p:sp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// Antes: você escrevia tudo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func soma(a, b int) int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    return a + b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5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🪄 Agora você pede: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'Crie uma função que soma dois números e escreva os testes'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→ a IA gera código + testes + docs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⚠️ Você vira o REVISOR e ARQUITETO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🧠 Entender paradigmas fica MAIS importante, não menos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🎮 Atividade: Hello World Roulette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funciona 🎲</a:t>
            </a:r>
            <a:endParaRPr/>
          </a:p>
        </p:txBody>
      </p: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👥 Em grupos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🎲 Sorteiem UMA das 10 linguagens (de preferência uma que nunca usaram)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💻 Rodem o 'Olá, mundo!' num compilador online (ex.: onecompiler.com)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😜 Alterem para receber um número e mostrar a tabuada do numero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🔎 Descubram: 1 vaga real + faixa salarial + paradigma(s) da linguagem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Colocar no github da disciplina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Começar</a:t>
            </a:r>
            <a:r>
              <a:rPr lang="pt-BR"/>
              <a:t>🚀</a:t>
            </a:r>
            <a:endParaRPr/>
          </a:p>
        </p:txBody>
      </p:sp>
      <p:sp>
        <p:nvSpPr>
          <p:cNvPr id="350" name="Google Shape;350;p58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Dúvidas, sugestões e piadas ruins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munifgebara@gmail.com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(44) 98403-4939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@munifgebara (github, instagram)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https://www.munif.com.br/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https://www.gebaralabs.dev/pt/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
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slfKgj9JRuA2MnpdERJw5LnV3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DA6FC1-16CE-4194-A0D4-3108A10C851B}">
  <a:tblStyle styleId="{B2DA6FC1-16CE-4194-A0D4-3108A10C85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(1 min).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 aula passada vimos a ABSTRAÇÃO DE PROCESSOS (subprogramas). Hoje: ABSTRAÇÃO DE DADOS (tipos abstratos de dados) e o passo seguinte, a orientação a objetos, que acrescenta herança e vinculação dinâmica.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turma já programa em Java orientado a objetos. O objetivo NÃO é ensinar OO, e sim olhar para ela como PROJETISTA DE LINGUAGEM: que escolhas cada linguagem fez (Java, C++, Python, Go, Rust, JavaScript, Ruby) e por quê.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Formato: exploratória comparativa, com o MESMO TAD (uma pilha) implementado em 7 linguagens. Todos os exemplos estão em Aula009/exemplos e foram testados no OneCompiler.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Problematização (até 5 min).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Leia o objetivo. A ideia central: OCULTAÇÃO DE INFORMAÇÃO permite mudar a representação sem mudar os clientes.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três casos: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Y2K: por décadas, datas foram guardadas com dois dígitos para o ano ("99") e manipuladas DIRETAMENTE em milhares de lugares de cada sistema (COBOL, principalmente). Como não havia um tipo "Data" encapsulado, mudar a representação exigiu revisar código em todo lugar. As estimativas de custo mundial ficaram na casa das centenas de bilhões de dólares. Com um TAD Data, a mudança ficaria restrita a um único módulo, que é exatamente a vantagem descrita pelo Sebesta na p. 449 (trocar a representação da pilha de lista para vetor sem mudar os clientes).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java.util.Stack: a classe Stack do Java 1.0 foi definida como subclasse de Vector. Uma pilha "é um" vetor? Não, mas a herança trouxe junto add(índice, x), remove(índice) e get(i). O exemplo StackVector.java mostra uma "pilha" com inserção no fundo. Por compatibilidade, nunca pôde ser corrigida, e a própria documentação recomenda ArrayDeque. O livro "Effective Java" usa esse caso para defender COMPOSIÇÃO em vez de herança.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Linux: o núcleo é escrito em C, que não tem classes, mas usa structs como file_operations, cheias de ponteiros para funções (read, write, open...). Cada sistema de arquivos preenche a sua tabela. É a vtable (slide 20) feita à mão, e mostra que OO é um conjunto de técnicas, não uma sintaxe.</a:t>
            </a:r>
            <a:endParaRPr/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(1 min).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Ficam para autopesquisa (último slide): Objective-C, TADs em Ruby, OO em Smalltalk, C# e Ruby em detalhes, e reflexão (Seção 12.6, com exemplos prontos em Java e Python).</a:t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Abstração (p. 446): uma visão de uma entidade que inclui só os atributos mais significativos, ou seja, esquecer os detalhes que não importam no contexto. É a arma contra a complexidade.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Abstração de processos (p. 447): existe desde o Plankalkül (anos 1940). O exemplo do livro é sortInt(list, listLen): quem chama só precisa conhecer o nome e o protocolo, e não o algoritmo de ordenação.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Abstração de dados (p. 447-448): começou com o COBOL (registros) em 1960, depois vieram SIMULA 67 (classes) e Ada 83 (pacotes). Hoje praticamente toda linguagem 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Ponto flutuante como TAD (p. 448): o float já é um tipo abstrato! A representação dos bits fica OCULTA, e o usuário só usa as operações da linguagem. Por isso os programas eram portáveis mesmo quando cada fabricante tinha um formato próprio, antes do IEEE 754.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lição: um TAD definido pelo usuário deve dar ao programador a mesma experiência que os tipos da linguagem.</a:t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Definição formal (p. 448): um tipo abstrato de dados satisfaz duas condições: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a REPRESENTAÇÃO dos objetos fica oculta das unidades que o usam (os CLIENTES), e as únicas operações diretas são as fornecidas na definição;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as declarações do tipo e os protocolos das operações (a INTERFACE) ficam em uma única unidade sintática. A interface não depende da representação, e outras unidades podem criar variáveis do tipo.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Vantagens da ocultação de informação (p. 448-449):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confiabilidade: os clientes não conseguem alterar a representação, nem por acidente, o que preserva a integridade (os invariantes) dos objetos;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menos código para entender: uma variável só muda em uma faixa restrita de código;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menos conflitos de nomes;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trocar a representação SEM alterar os clientes. O exemplo do livro é a pilha implementada com lista encadeada que passa a usar vetor.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Métodos de acesso (p. 449-450): getters e setters permitem acesso controlado. Leitura sem escrita, validação de valores, e a representação pode mudar sem mudar a interface.</a:t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exemplo do livro (p. 450): o TAD pilha com as operações create, destroy, empty, push, pop e top. Algumas linguagens não precisam de create/destroy explícitos: declarar a variável já cria, e o fim do escopo libera.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É ESTE o TAD que vamos implementar em 7 linguagens nos próximos slides.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Questões de projeto (p. 450-451):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 linguagem precisa de uma unidade sintática que envolva o tipo e os protótipos das operações, com o NOME do tipo visível e a REPRESENTAÇÃO oculta;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quais operações PREDEFINIDAS o tipo ganha automaticamente? Atribuição e igualdade: igualdade de ponteiros ou de conteúdo?;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operações frequentemente necessárias, fornecidas pelo projetista do tipo: iteradores, métodos de acesso, construtores e destrutores;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os TADs podem ser parametrizados (genéricos)?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quais controles de acesso existem e como são especificados?</a:t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DEMONSTRAÇÃO: Pilha.java e pilha.cpp. Descomente o acesso a indiceTopo para mostrar o erro.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C++ (p. 451-457): a classe é a unidade de encapsulamento. As seções private, public e protected controlam o acesso. Construtor e DESTRUTOR: como C++ não tem coleta de lixo, o destrutor ~Pilha() libera o vetor alocado com new. Com o objeto declarado na pilha de execução (Pilha p(10)), o destrutor é chamado AUTOMATICAMENTE no fim do escopo. É o idioma RAII, e a saída mostra a mensagem do destrutor. C++ também tem "friends" (funções ou classes amigas com acesso aos privados).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(p. 463-465): muito parecido com C++ na essência (o livro diz que as diferenças são "principalmente estéticas"). Diferenças: todo objeto é alocado no monte com new, não há destrutor (a coleta de lixo libera) e o controle de acesso é por membro (private, protected, public ou "de pacote"). O cliente do exemplo é o TstStack do livro (p. 464).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Observação didática: no arquivo Java, a classe Pilha está FORA da classe Main de propósito. Se fosse uma classe aninhada, o Main enxergaria os privados, porque Java permite o acesso a membros privados de classes aninhadas dentro da mesma classe externa.</a:t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~6 min. DEMONSTRAÇÃO: rode pelo menos pilha.py (mostre o _dados sendo alterado de fora) e pilha.rs (descomente o p.dados.push).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Quatro filosofias de ocultação: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Python: nada é realmente privado. O "_" é uma CONVENÇÃO ("somos todos adultos"). O "__" faz "name mangling" (o nome vira _Conta__saldo), o que dificulta o acesso, mas não impede. Confia-se em disciplina e documentação.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Go: a visibilidade é por PACOTE, e não por classe. Nome com inicial MAIÚSCULA é exportado, e minúscula é interno ao pacote. Não há construtores: o "valor zero" (var p Pilha) já precisa ser uma pilha válida, e para casos mais complexos usa-se uma função NovaPilha().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Rust: tudo é privado ao MÓDULO por padrão, e pub exporta. Os campos privados impedem até de CONSTRUIR o struct fora do módulo, e por isso existe a função associada nova().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JavaScript: desde o ES2022, campos com # são privados de verdade (erro de sintaxe fora da classe). Antes disso, usavam-se fechamentos (aula passada!) ou a convenção "_".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 (pilha_c.c): sem ocultação no mesmo arquivo, o cliente altera p.topo e quebra o invariante, e topo() devolve lixo. A ocultação em C exige separar .h e .c com um tipo opaco (11.6.2, p. 475).</a:t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 Monte a tabela com a turma: pergunte linha por linha antes de mostrar.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Pontos para destacar: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 UNIDADE de encapsulamento muda: classe (C++, Java, C#, Ruby), pacote (Go) ou módulo (Rust).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C++ tem "friend" para abrir exceções. Java resolve parte disso com o acesso de PACOTE (sem modificador), e por isso não tem friends (p. 480).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C# tem internal (visível em toda a montagem, o .dll) e PROPRIEDADES (próximo slide).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Ruby (p. 467): as variáveis de instância (@x) são SEMPRE privadas, e o acesso é só por métodos (attr_reader gera o leitor). Ver 09_autopesquisa/conta.rb.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Python é o extremo oposto: tudo acessível, com convenções.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Discussão: qual abordagem é melhor para um time de 50 pessoas? E para um script de 100 linhas? A resposta muda, e isso é um trade-off de projeto.</a:t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 DEMONSTRAÇÃO: propriedades.py (tente t.celsius = -300) e Propriedades.cs.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métodos de acesso em vez de campos públicos (p. 449-450)?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leitura sem escrita (acesso só de leitura);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RESTRIÇÕES no valor (validação no setter);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a representação pode mudar sem mudar os clientes (por exemplo, guardar em Kelvin).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incômodo dos getters e setters do Java é a verbosidade. Por isso várias linguagens criaram PROPRIEDADES: a sintaxe é de campo (c.Saldo), mas por trás são métodos.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C# (p. 465-466): get e set, inclusive com visibilidades diferentes (private set) e propriedades automáticas ({ get; set; }).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Python: @property e @x.setter.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Kotlin e Swift: propriedades por padrão.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 moderno: record gera os métodos de acesso automaticamente (visto na autopesquisa da aula 6).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JavaScript: get e set em classes (o get tamanho da pilha).</a:t>
            </a:r>
            <a:endParaRPr/>
          </a:p>
        </p:txBody>
      </p:sp>
      <p:sp>
        <p:nvSpPr>
          <p:cNvPr id="192" name="Google Shape;19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DEMONSTRAÇÃO: PilhaGenerica.java (a linha getClass() imprime true) e pilha_template.cpp.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Motivação (p. 470): uma pilha de int, outra de String, outra de Pessoa... O TAD parametrizado (genérico) escreve a estrutura UMA vez, com o tipo do elemento como parâmetro.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estratégias de implementação: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C++ (p. 470-472), templates: o compilador GERA uma cópia do código para cada tipo usado (Pilha&lt;int&gt;, Pilha&lt;string&gt;...). É rápido em execução, mas o executável cresce e os erros de compilação são famosos por serem longos. Rust faz o mesmo ("monomorfização").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 5.0 (p. 472-474), apagamento de tipo (type erasure): o compilador verifica os tipos e depois APAGA o parâmetro. Em execução, existe uma única classe Pilha (por isso getClass() dá true). Consequências: não existe Pilha&lt;int&gt;, só Pilha&lt;Integer&gt; com autoboxing; não dá para fazer new T(); e List&lt;String&gt; e List&lt;Integer&gt; são indistinguíveis em execução. Restrições com extends (p. 474): &lt;T extends Comparable&lt;T&gt;&gt; exige compareTo.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C# 2005 (p. 474): genéricos "reificados", ou seja, a informação do tipo EXISTE em execução, e List&lt;int&gt; funciona sem boxing.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Go (1.18, 2022): a linguagem ficou 12 anos SEM genéricos, com longa discussão na comunidade. Restrições por interfaces de tipos (~int | ~float64).</a:t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encapsulamentos maiores que a classe (p. 475)? Programas de milhares de linhas têm dois problemas: 1) ORGANIZAÇÃO intelectual; 2) RECOMPILAÇÃO. É preciso recompilar só o que mudou. Um encapsulamento é uma coleção de código e dados logicamente relacionados que pode ser compilada separadamente e reutilizada em bibliotecas.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 (p. 475-476): arquivos .h (interface) e .c (implementação) + #include. O problema é que o #include copia texto, e nada garante que o .h e o .c estejam consistentes.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C++ (p. 476): o mesmo, mais as classes e os espaços de nomes (namespace, p. 479).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C# (p. 477-478): montagens (assemblies, os arquivos .dll e .exe), com o modificador internal.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 (p. 480-481): pacotes (package), com acesso de pacote e arquivos JAR. Desde o Java 9, também módulos (module-info.java).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Ruby (p. 481): módulos, que também servem de mixins (reúso sem herança).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Encapsulamentos de NOMEAÇÃO (p. 478): times grandes e independentes precisam evitar colisões de nomes. Por isso existem namespaces, pacotes com o nome de domínio invertido (br.com.empresa...) e módulos.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Linguagens recentes: Go tem pacotes e módulos (go.mod), Rust tem crates e módulos, JavaScript tem ES modules (import/export) e Python tem módulos e pacotes (pastas com __init__.py).</a:t>
            </a:r>
            <a:endParaRPr/>
          </a:p>
        </p:txBody>
      </p:sp>
      <p:sp>
        <p:nvSpPr>
          <p:cNvPr id="215" name="Google Shape;21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489): as raízes da OO estão em SIMULA 67, mas ela só foi completamente desenvolvida com Smalltalk 80. Uma linguagem orientada a objetos precisa de TRÊS recursos: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tipos abstratos de dados (Cap. 11, já vistos);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herança;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vinculação dinâmica de chamadas a métodos.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(Observe que o livro não coloca "encapsulamento" e "polimorfismo" como pilares separados: o encapsulamento vem com o TAD, e o polimorfismo vem da vinculação dinâmica.)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Vocabulário (p. 490): classe, objeto (instância), classe derivada, subclasse ou classe filha, classe base, superclasse ou classe pai, método e MENSAGEM (a chamada de um método). O protocolo de mensagens (interface) é o conjunto de métodos de uma classe.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Passar uma mensagem é diferente de chamar um subprograma: pelo menos parte dos dados sobre os quais o método opera está no PRÓPRIO objeto (p. 490).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Paradigmas: Smalltalk e Ruby são "puramente" OO. C++, Java, C# e Python são multiparadigma. Go e Rust têm OO sem herança de classes (slide 19).</a:t>
            </a:r>
            <a:endParaRPr/>
          </a:p>
        </p:txBody>
      </p:sp>
      <p:sp>
        <p:nvSpPr>
          <p:cNvPr id="226" name="Google Shape;22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DEMONSTRAÇÃO: Heranca.java e depois StackVector.java (o caso do slide 2).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Motivação (p. 489): produtividade via REÚSO. O problema é que um TAD existente quase nunca serve exatamente. A herança resolve: a nova classe herda o que serve e modifica o resto, sem tocar no código original.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Uma subclasse pode (p. 490-491): ADICIONAR variáveis e métodos, MODIFICAR (sobrescrever) métodos herdados e ter menos acesso aos membros privados do pai. O exemplo do livro: Bird tem draw, e Waterfowl sobrescreve draw para desenhar uma ave aquática (em Heranca.java, Ave/AveAquatica).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Níveis de acesso (p. 491-492): private (só a própria classe), protected (a classe e as subclasses) e public (todos).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Variáveis e métodos de INSTÂNCIA × de CLASSE (p. 491): um contador de instâncias precisa ser variável de classe (static em Java). Exercício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Herança de interface × de implementação: herdar só o protocolo é mais seguro. Herdar a implementação cria acoplamento: a mudança no pai quebra os filhos ("classe base frágil").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java.util.Stack: um exemplo real de herança usada onde caberia COMPOSIÇÃO. Uma pilha TEM UM vetor (composição), e não É UM vetor (herança). Regra prática da Engenharia de Software: "prefira composição a herança".</a:t>
            </a:r>
            <a:endParaRPr/>
          </a:p>
        </p:txBody>
      </p:sp>
      <p:sp>
        <p:nvSpPr>
          <p:cNvPr id="238" name="Google Shape;238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Polimorfismo.java.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492): o terceiro recurso essencial é o polimorfismo obtido pela vinculação dinâmica de mensagens a métodos (o "despacho dinâmico"). Uma variável do tipo A pode referenciar um objeto de uma subclasse B, e então é uma REFERÊNCIA POLIMÓRFICA. Qual draw executa, o de A ou o de B? Só se sabe em EXECUÇÃO, olhando o tipo do OBJETO.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que isso importa (p. 492-493): o exemplo do livro é o catálogo de carros usados. O sistema manipula uma lista de Car, e as subclasses mudam o tempo todo sem que o resto do sistema precise mudar. É o princípio aberto/fechado: aberto para extensão e fechado para modificação.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Métodos e classes abstratas (p. 493): Building não sabe se desenhar, mas todas as subclasses precisam de draw. O método fica só com o protocolo (método abstrato, ou "puramente virtual" em C++), e a classe com pelo menos um método abstrato é uma CLASSE ABSTRATA, que não pode ser instanciada.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Sebesta observa (p. 492) que a vinculação dinâmica deixa uma linguagem de tipos estáticos "um pouco" dinâmica: o tipo estático garante que o método EXISTE, e a execução escolhe QUAL versão roda.</a:t>
            </a:r>
            <a:endParaRPr/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DEMONSTRAÇÃO: tudo_objeto.rb, quadrado.py e diamante.py.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Exclusividade dos objetos (12.3.1, p. 493-494): tudo é objeto? Em Smalltalk e Ruby, sim: 5.+(3) é uma mensagem enviada ao objeto 5. É elegante e uniforme, mas mais lento. Java e C# têm tipos primitivos + objetos (int e Integer), que é rápido mas não uniforme. C++ mantém todo o C e acrescenta objetos (a linguagem fica maior).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subclasses são subtipos? (12.3.2, p. 494-495): princípio da SUBSTITUIÇÃO. Se B deriva de A e um B pode ser usado em QUALQUER lugar onde se espera um A sem mudar o comportamento, B é um subtipo de A (é o princípio de Liskov, o "L" do SOLID). O clássico Quadrado × Retângulo: dobrar a largura dobra a área de qualquer retângulo, mas não a de um quadrado. Ou seja, a subclasse compila mas NÃO é subtipo comportamental. Na Tabela 12.1, Ruby é o caso em que nenhuma subclasse é subtipo.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Herança simples × múltipla (12.3.3, p. 495-496): a múltipla é útil, mas traz complexidade: nomes iguais em pais diferentes e o problema do DIAMANTE (dois pais com um avô comum). C++ e Python permitem. Python resolve com a MRO (ordem de resolução de métodos): D(B, C) usa B, e trocar a ordem dos pais muda o resultado. Java, C# e Ruby permitem só herança simples, mas usam interfaces (Java 8+ com métodos default) e mixins/módulos (Ruby) como alternativa (p. 496).</a:t>
            </a:r>
            <a:endParaRPr/>
          </a:p>
        </p:txBody>
      </p:sp>
      <p:sp>
        <p:nvSpPr>
          <p:cNvPr id="262" name="Google Shape;26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vinculacao.cpp. Pergunte o que cada linha imprime antes de rodar.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Alocação e liberação (12.3.4, p. 496-497): de onde vêm os objetos? Em Java, C#, Python, Ruby e Smalltalk, sempre do MONTE, com liberação implícita (GC). Em C++, podem estar na pilha, no monte ou ser estáticos, com liberação explícita (delete ou destrutor).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Fatiamento de objetos (p. 497, Figura 12.4): em C++, copiar um objeto B para uma variável A por VALOR corta os campos de B. A cópia vira um A de verdade, e a.dinamico() chama a versão de A. É uma consequência de permitir objetos na pilha (em Java isso não existe, porque as variáveis são referências).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Vinculação estática × dinâmica (12.3.5, p. 497): todas as chamadas devem ser dinâmicas? A dinâmica é mais flexível, e a estática é mais rápida. C++ deixa o programador escolher: só os métodos virtual são despachados dinamicamente. Por isso p-&gt;estatico() chama A::estatico (decidido pelo tipo do PONTEIRO). Em Java, tudo é dinâmico, exceto static, private e final. Smalltalk e Ruby: tudo dinâmico.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Classes aninhadas (12.3.6, p. 497-498): ocultação de informação para classes auxiliares.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Inicialização (12.3.7, p. 498): os construtores são chamados implicitamente? E os construtores do pai?</a:t>
            </a:r>
            <a:endParaRPr/>
          </a:p>
        </p:txBody>
      </p:sp>
      <p:sp>
        <p:nvSpPr>
          <p:cNvPr id="277" name="Google Shape;277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ATIVIDADE: monte a tabela com a turma, linha por linha, antes de revelar. As linhas de Smalltalk, C++, Java, C# e Ruby vêm da Tabela 12.1 do livro (p. 525). Python, Go e Rust foram acrescentados.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Observações: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"Tudo é objeto": em Python, até int, funções e classes são objetos (type(5), type(len)), como em Smalltalk e Ruby.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Herança: C++ e Python têm múltipla. Java e C# têm simples + interfaces. Ruby tem simples + módulos (mixins). Go e Rust NÃO têm herança de implementação.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Vinculação: C++ e C# exigem virtual para a vinculação dinâmica (em C#, virtual/override). Java é dinâmica por padrão. Em Go e Rust, a vinculação dinâmica só acontece via interface ou dyn Trait, e o resto é estático.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Alocação: só C++ e Rust permitem objetos na pilha com liberação determinística (destrutor, Drop).</a:t>
            </a:r>
            <a:endParaRPr/>
          </a:p>
        </p:txBody>
      </p:sp>
      <p:sp>
        <p:nvSpPr>
          <p:cNvPr id="289" name="Google Shape;28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DEMONSTRAÇÃO: interfaces.go e traits.rs; prototipos.js se houver tempo.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linguagens mais recentes questionaram a herança de implementação, depois de décadas de "classe base frágil" e hierarquias profundas.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structs + métodos + INTERFACES IMPLÍCITAS. Não existe "implements": quem tem os métodos certos satisfaz a interface ("duck typing" estático);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reúso por COMPOSIÇÃO com "embedding": os métodos do struct embutido são promovidos;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atenção (exercício 6): o embedding NÃO é herança. Não há despacho dinâmico entre o struct embutido e o que o contém.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Rust: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traits = interfaces com métodos padrão. Polimorfismo estático (genéricos, monomorfização) ou dinâmico (Box&lt;dyn Trait&gt;, por vtable);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não há herança de structs.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(prototipos.js): OO baseada em PROTÓTIPOS, herdada da linguagem Self. Objetos herdam de outros objetos (Object.create), e a cadeia de protótipos é percorrida em execução. Alterar o protótipo afeta objetos que já existem. A palavra "class" (ES2015) é só uma sintaxe mais amigável sobre protótipos.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Ligação com Engenharia de Software: "prefira composição a herança" (Gang of Four, 1994) virou o PROJETO dessas linguagens.</a:t>
            </a:r>
            <a:endParaRPr/>
          </a:p>
        </p:txBody>
      </p:sp>
      <p:sp>
        <p:nvSpPr>
          <p:cNvPr id="297" name="Google Shape;29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DEMONSTRAÇÃO: vtable.c, a mesma estrutura feita à mão em 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Armazenamento (12.5.1, p. 526): em C++, as classes são extensões dos structs de C, e cada objeto é um REGISTRO DE INSTÂNCIA DE CLASSE (RIC). A estrutura do RIC é estática (definida na compilação), então os campos são acessados por deslocamento constante, tão rápido quanto num struct. Na subclasse, o RIC é uma cópia do RIC do pai com os campos novos no fim.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Vinculação dinâmica (12.5.2, p. 526-529): cada classe tem uma VTABLE (tabela de métodos virtuais), com ponteiros para o código de cada método dinamicamente vinculado. Cada objeto guarda um ponteiro para a vtable da SUA classe.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exemplo do livro (Figura 12.7, p. 527), no diagrama: A tem os campos a e b e os métodos draw e area. B estende A com os campos c e d, sobrescreve draw e acrescenta sift. A vtable de B aponta draw para o código de B, area para o código de A (herdado, não sobrescrito) e sift para 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Uma chamada f.draw() vira: siga o ponteiro do objeto até a vtable, pegue a entrada de draw (deslocamento conhecido na compilação) e chame. O custo é uma ou duas indireções a mais.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Herança múltipla (p. 528-529) complica: vários ponteiros de vtable por objeto.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vtable.c mostra que é "só" uma struct com um ponteiro para uma tabela de ponteiros para funções. É o que o Linux faz com file_operations.</a:t>
            </a:r>
            <a:endParaRPr/>
          </a:p>
        </p:txBody>
      </p:sp>
      <p:sp>
        <p:nvSpPr>
          <p:cNvPr id="309" name="Google Shape;30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10 min para os três slides (7 para as duplas, 3 para a correção). Pode valer como atividade avaliativa em sala.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cada trecho: (a) qual é a saída? (b) a decisão foi tomada na compilação ou na execução?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GABARITO: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Java: "au". Vinculação dinâmica: o método é escolhido pelo tipo do OBJETO (Cachorro), em execução.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C++: "A". f não é virtual, então a vinculação é ESTÁTICA, decidida pelo tipo do ponteiro (A*) na compilação. Com "virtual void f()" em A, imprimiria "B".</a:t>
            </a:r>
            <a:endParaRPr/>
          </a:p>
        </p:txBody>
      </p:sp>
      <p:sp>
        <p:nvSpPr>
          <p:cNvPr id="336" name="Google Shape;33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GABARITO: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Java: "A B". CAMPOS não são polimórficos: x.nome usa o tipo declarado (A), e o campo nome de B apenas ESCONDE o de A. Já o MÉTODO getNome() é despachado dinamicamente e devolve o nome de B. É um motivo para manter campos privados.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4) Python: "1 2 2". total é uma variável de CLASSE (uma cópia só, compartilhada), e id é de INSTÂNCIA (uma por objeto). a.total encontra o total da classe (p. 491).</a:t>
            </a:r>
            <a:endParaRPr/>
          </a:p>
        </p:txBody>
      </p:sp>
      <p:sp>
        <p:nvSpPr>
          <p:cNvPr id="348" name="Google Shape;348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GABARITO: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5) Java: "A". Métodos static não são sobrescritos, e sim ESCONDIDOS. A chamada é resolvida na compilação pelo tipo declarado (A). O próprio compilador (ou a IDE) avisa para chamar como A.quem().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6) Go: "faz ... au". Embedding NÃO é herança: dentro de Animal.Falar, a.Som() chama o Som de Animal, porque não há despacho dinâmico entre o struct embutido e o que o contém. Cao{}.Som() chama o Som de Cao. Para ter polimorfismo em Go, é preciso usar uma interface.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Fechamento: das 6 questões, quais foram decididas na COMPILAÇÃO? A 2 (C++ sem virtual), o campo da 3, a 5 (static) e a 6 (Go sem interface). Só a 1 e o getNome() da 3 usam despacho dinâmico.</a:t>
            </a:r>
            <a:endParaRPr/>
          </a:p>
        </p:txBody>
      </p:sp>
      <p:sp>
        <p:nvSpPr>
          <p:cNvPr id="360" name="Google Shape;360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~2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Mensagem final: "orientação a objetos" não é uma coisa só. É um conjunto de decisões de projeto (o que esconder, como reutilizar, quando despachar dinamicamente, onde alocar), e cada linguagem escolheu um ponto diferente. Saber essas escolhas permite aprender qualquer linguagem OO nova rapidamente, que é justamente o objetivo da disciplina.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Tendência recente: menos herança de implementação e mais interfaces, traits e composição (Go, Rust, Swift e o próprio Java moderno com records e interfaces seladas).</a:t>
            </a:r>
            <a:endParaRPr/>
          </a:p>
        </p:txBody>
      </p:sp>
      <p:sp>
        <p:nvSpPr>
          <p:cNvPr id="372" name="Google Shape;37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~1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Sugestão de entrega (pode compor a Atividade de Estudo Programada): o TAD fila em duas linguagens, com um parágrafo comparando as escolhas de projeto.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Destaques: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Reflexão (12.6): um programa que examina e manipula a própria estrutura em execução (classes, métodos, campos). Reflexao.java obtém a classe pelo NOME, chama um método descoberto em execução e fura o private com setAccessible(true). É a base de frameworks como Spring, JUnit e Hibernate (injeção de dependências, testes, ORM). O custo: perde-se a verificação de tipos em compilação e o desempenho cai.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Smalltalk é o modelo de OO "pura": tudo é objeto e tudo é mensagem, inclusive o if (ifTrue:). Vale a leitura.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Próxima aula: Concorrência (Cap. 13).</a:t>
            </a:r>
            <a:endParaRPr/>
          </a:p>
        </p:txBody>
      </p:sp>
      <p:sp>
        <p:nvSpPr>
          <p:cNvPr id="380" name="Google Shape;380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914377" y="2130425"/>
            <a:ext cx="1036294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1828754" y="3886200"/>
            <a:ext cx="853418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" type="body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type="title"/>
          </p:nvPr>
        </p:nvSpPr>
        <p:spPr>
          <a:xfrm>
            <a:off x="963059" y="4406900"/>
            <a:ext cx="1036294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/>
          <p:nvPr>
            <p:ph idx="1" type="body"/>
          </p:nvPr>
        </p:nvSpPr>
        <p:spPr>
          <a:xfrm>
            <a:off x="963059" y="2906713"/>
            <a:ext cx="1036294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30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" type="body"/>
          </p:nvPr>
        </p:nvSpPr>
        <p:spPr>
          <a:xfrm>
            <a:off x="609584" y="1600200"/>
            <a:ext cx="538466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2" type="body"/>
          </p:nvPr>
        </p:nvSpPr>
        <p:spPr>
          <a:xfrm>
            <a:off x="6197444" y="1600200"/>
            <a:ext cx="538466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31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" type="body"/>
          </p:nvPr>
        </p:nvSpPr>
        <p:spPr>
          <a:xfrm>
            <a:off x="609584" y="1535113"/>
            <a:ext cx="538678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2"/>
          <p:cNvSpPr txBox="1"/>
          <p:nvPr>
            <p:ph idx="2" type="body"/>
          </p:nvPr>
        </p:nvSpPr>
        <p:spPr>
          <a:xfrm>
            <a:off x="609584" y="2174875"/>
            <a:ext cx="5386782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32"/>
          <p:cNvSpPr txBox="1"/>
          <p:nvPr>
            <p:ph idx="3" type="body"/>
          </p:nvPr>
        </p:nvSpPr>
        <p:spPr>
          <a:xfrm>
            <a:off x="6193211" y="1535113"/>
            <a:ext cx="538889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2"/>
          <p:cNvSpPr txBox="1"/>
          <p:nvPr>
            <p:ph idx="4" type="body"/>
          </p:nvPr>
        </p:nvSpPr>
        <p:spPr>
          <a:xfrm>
            <a:off x="6193211" y="2174875"/>
            <a:ext cx="538889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32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609584" y="273050"/>
            <a:ext cx="401098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4766614" y="273050"/>
            <a:ext cx="6815496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609584" y="1435100"/>
            <a:ext cx="401098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2389657" y="4800600"/>
            <a:ext cx="73150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2389657" y="612775"/>
            <a:ext cx="7315016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2389657" y="5367338"/>
            <a:ext cx="7315016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3832865" y="-1623081"/>
            <a:ext cx="4525963" cy="1097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7284781" y="1828835"/>
            <a:ext cx="5851525" cy="2743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1696921" y="-812699"/>
            <a:ext cx="5851525" cy="802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  <a:defRPr b="1" i="0" sz="3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822959" y="1828800"/>
            <a:ext cx="10545775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1F2937"/>
                </a:solidFill>
              </a:rPr>
              <a:t>Tipos Abstratos de Dados e Orientação a Objetos</a:t>
            </a:r>
            <a:endParaRPr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822959" y="3246120"/>
            <a:ext cx="1054577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00"/>
              <a:buNone/>
            </a:pPr>
            <a:r>
              <a:rPr lang="en-US" sz="2400">
                <a:solidFill>
                  <a:srgbClr val="1F2937"/>
                </a:solidFill>
              </a:rPr>
              <a:t>Aula 09 · Paradigmas de Linguagens de Programação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667085"/>
              </a:buClr>
              <a:buSzPts val="2000"/>
              <a:buNone/>
            </a:pPr>
            <a:r>
              <a:rPr lang="en-US" sz="2000">
                <a:solidFill>
                  <a:srgbClr val="667085"/>
                </a:solidFill>
              </a:rPr>
              <a:t>Engenharia de Software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Clr>
                <a:srgbClr val="667085"/>
              </a:buClr>
              <a:buSzPts val="1600"/>
              <a:buNone/>
            </a:pPr>
            <a:r>
              <a:rPr lang="en-US" sz="1600">
                <a:solidFill>
                  <a:srgbClr val="667085"/>
                </a:solidFill>
              </a:rPr>
              <a:t>Referência: Sebesta, Conceitos de Linguagens de Programação, 11ª ed., Caps. 11 e 12 (p. 445-540)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Objetivo e ligação com o mundo real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Caps. 11 e 12 · p. 445-540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548640" y="1325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48640" y="1783080"/>
            <a:ext cx="52120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objetivo desta aula é entender como as linguagens permitem </a:t>
            </a: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criar seus próprios tipos</a:t>
            </a: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escondendo a representação atrás de operações, e como a </a:t>
            </a: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orientação a objetos</a:t>
            </a: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acrescenta </a:t>
            </a: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herança</a:t>
            </a: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vinculação dinâmica</a:t>
            </a: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a base da manutenção de sistemas grandes.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3794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o engenheiro de software, isso significa: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48640" y="4206240"/>
            <a:ext cx="52120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decidir o que expor e o que esconder em uma classe ou módulo</a:t>
            </a:r>
            <a:endParaRPr/>
          </a:p>
          <a:p>
            <a:pPr indent="-219456" lvl="0" marL="256032" marR="0" rtl="0" algn="l">
              <a:spcBef>
                <a:spcPts val="6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escolher entre herança e composição</a:t>
            </a:r>
            <a:endParaRPr/>
          </a:p>
          <a:p>
            <a:pPr indent="-219456" lvl="0" marL="256032" marR="0" rtl="0" algn="l">
              <a:spcBef>
                <a:spcPts val="6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entender como o polimorfismo funciona "por baixo" (vtable)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172200" y="1325880"/>
            <a:ext cx="5468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Quando a abstração falha (ou salva)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172200" y="1828800"/>
            <a:ext cx="546811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Bug do ano 2000 (Y2K)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Anos com 2 dígitos espalhados pelo código, sem encapsulamento: corrigir custou centenas de bilhões de dólares.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6172200" y="3291839"/>
            <a:ext cx="546811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java.util.Stack (1996)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pilha do Java HERDA de Vector: aceita inserir no meio. O erro de projeto nunca pôde ser corrigido.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172200" y="4754879"/>
            <a:ext cx="546811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Núcleo do Linux (em C)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Sem classes, usa structs com ponteiros para funções: a vinculação dinâmica feita à mão.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Roteiro da aula (80 min)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Planejamento do Encontro 4 · Sebesta Caps. 11 e 12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1012926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48640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0-10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Abstração, TAD e questões de projeto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89247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2428189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10-30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mesmo TAD pilha em 7 linguagens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477202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307738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30-40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Genéricos, encapsulamento e nomes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651574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187287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40-60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OO: herança, vinculação e questões de projeto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8531123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8066836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60-70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OO sem classes e implementação (vtable)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0410672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9946386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70-80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Exercício: qual método é chamado?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Tipo de aula: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exploratória comparativa: o mesmo TAD em várias linguagens e uma tabela de escolhas de projeto montada com a turma.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Exemplos: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pasta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exemplos/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na ordem dos slides. Todos rodam no navegador em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onecompiler.com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Abstração de processos e abstração de dados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§11.1-11.2.1 · p. 446-448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48640" y="1325880"/>
            <a:ext cx="5394960" cy="20116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Abstração de processos (p. 447)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sortInt(lista, n)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quem chama conhece o protocolo, não o algoritmo. Existe desde o Plankalkül.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Abstração de dados (p. 447)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 tipo + operações, com a representação escondida. De COBOL (1960) a SIMULA 67 e Ada.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6263640" y="1325880"/>
            <a:ext cx="5376672" cy="425196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74300" spcFirstLastPara="1" rIns="2743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O float já é um TAD (p. 448)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Você usa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sem saber como os bits estão organizados.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Antes do IEEE 754, cada fabricante tinha um formato, e os programas continuavam portáveis: a representação estava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oculta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 TAD definido pelo usuário deve oferecer a mesma experiência.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Tipo abstrato de dados: definição e vantagens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§11.2.2 · p. 448-450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48640" y="1325880"/>
            <a:ext cx="11094415" cy="141732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 TAD satisfaz (p. 448):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 representação dos objetos é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oculta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dos clientes: só as operações da definição valem;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tipo e protocolos das operações (a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 ficam em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uma única unidade sintática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48640" y="3017520"/>
            <a:ext cx="2602153" cy="19202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Confiabilidade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os clientes não quebram a representação, nem por acidente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379393" y="3017520"/>
            <a:ext cx="2602153" cy="19202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Menos para entender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uma variável só muda em um trecho pequeno de código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210147" y="3017520"/>
            <a:ext cx="2602153" cy="19202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Menos conflitos de nomes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os escopos ficam menores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9040901" y="3017520"/>
            <a:ext cx="2602153" cy="19202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Trocar a representação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 lista encadeada para vetor, sem mudar os clientes (p. 449)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548640" y="5166360"/>
            <a:ext cx="1109441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Métodos de acesso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(p. 449): leitura sem escrita, validação no "setter" e liberdade para mudar a representação sem mudar a interface.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Exemplo: o TAD pilha e as questões de projeto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§11.2.3 e §11.3 · p. 450-451</a:t>
            </a:r>
            <a:endParaRPr/>
          </a:p>
        </p:txBody>
      </p:sp>
      <p:graphicFrame>
        <p:nvGraphicFramePr>
          <p:cNvPr id="152" name="Google Shape;152;p6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{B2DA6FC1-16CE-4194-A0D4-3108A10C851B}</a:tableStyleId>
              </a:tblPr>
              <a:tblGrid>
                <a:gridCol w="2286000"/>
                <a:gridCol w="32918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F2937"/>
                          </a:solidFill>
                        </a:rPr>
                        <a:t>Operação (p. 450)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Significado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create(pilha)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cria e inicializa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destroy(pilha)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libera a memória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empty(pilha)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está vazia?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push(pilha, x)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insere no topo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pop(pilha)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remove o topo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top(pilha)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devolve uma cópia do topo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6"/>
          <p:cNvSpPr txBox="1"/>
          <p:nvPr/>
        </p:nvSpPr>
        <p:spPr>
          <a:xfrm>
            <a:off x="6355080" y="1325880"/>
            <a:ext cx="52852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Questões de projeto (p. 450-451)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6355080" y="1783080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Uma unidade sintática com o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nome visível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 a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representação oculta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Quais operações vêm prontas? (atribuição, igualdade de ponteiro ou de conteúdo?)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Construtores, destrutores, iteradores e métodos de acesso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TAD pode ser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parametrizado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(genérico)?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Quais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controles de acesso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existem?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mesma pilha em Java e C++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§11.4.1 e §11.4.3 · p. 451-465 · exemplos/01_pilha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548640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(p. 463-464)</a:t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48640" y="1673352"/>
            <a:ext cx="544068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Pilha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private int[] dados;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oculto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private int indiceTopo = -1;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Pilha(int capacidade) {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construtor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dados = new int[capacidade];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public void empilhar(int x)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dados[++indiceTopo] = 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public boolean vazia()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return indiceTopo == -1;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p.indiceTopo = 5;   // erro: privado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sem destrutor: coleta de lixo (p. 464)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6199632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C++ (p. 451-457)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199632" y="1673352"/>
            <a:ext cx="544068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Pilha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private:            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oculto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int *dados;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int capacidade, indiceTopo;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Pilha(int cap)  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construtor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: dados(new int[cap]),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capacidade(cap), indiceTopo(-1) {}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~Pilha() { delete[] dados; }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destrutor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void empilhar(int x)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dados[++indiceTopo] = 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bool vazia() const { return indiceTopo == -1;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Pilha p(10); ... no fim do bloco,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o destrutor ~Pilha() é chamado sozinho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mesma pilha em Python, Go, Rust e JavaScript</a:t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exemplos/01_pilha · pilha.py, pilha.go, pilha.rs, pilha.js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548640" y="132588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 · privado por convenção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548640" y="1673352"/>
            <a:ext cx="5410047" cy="1984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Pilha: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def __init__(self):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self._dados = []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só convenção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def empilhar(self, x):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self._dados.append(x)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p._dados.insert(0, 999)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funciona!</a:t>
            </a: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6233007" y="132588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Go · visibilidade por pacote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233007" y="1673352"/>
            <a:ext cx="5410047" cy="1984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type Pilha struct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dados []int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minúsculo: interno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func (p *Pilha) Empilhar(x int)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p.dados = append(p.dados, 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Maiúsculo: exportado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var p Pilha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valor zero já vale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548640" y="384048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Rust · privado ao módulo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48640" y="4187952"/>
            <a:ext cx="5410047" cy="1984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mod pilha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pub struct Pilha { dados: Vec&lt;i32&gt;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impl Pilha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pub fn nova() -&gt; Pilha { ...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pub fn empilhar(&amp;mut self, x: i32)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p.dados.push(1);  // erro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6233007" y="384048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JavaScript · campos # (ES2022)</a:t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233007" y="4187952"/>
            <a:ext cx="5410047" cy="19842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Pilha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#dados = [];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privado de verdade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empilhar(x) { this.#dados.push(x);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get tamanho() { return this.#dados.length;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p.dados   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undefined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p.#dados        // erro de sintaxe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Ocultação de informação: quem esconde o quê?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§11.4 · p. 451-470</a:t>
            </a:r>
            <a:endParaRPr/>
          </a:p>
        </p:txBody>
      </p:sp>
      <p:graphicFrame>
        <p:nvGraphicFramePr>
          <p:cNvPr id="188" name="Google Shape;188;p9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{B2DA6FC1-16CE-4194-A0D4-3108A10C851B}</a:tableStyleId>
              </a:tblPr>
              <a:tblGrid>
                <a:gridCol w="1508750"/>
                <a:gridCol w="2148850"/>
                <a:gridCol w="3977650"/>
                <a:gridCol w="345642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Unidade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Como esconder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Observação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C++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classe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protected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friend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abre exceções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Java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classe e pacote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protected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, (pacote),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sem friends: acesso de pacote (p. 480)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C#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classe e montagem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protected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internal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propriedades (p. 465)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Ruby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classe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@variáveis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sempre privadas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acesso só por métodos (p. 467)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Python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classe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_nome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por convenção;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__nome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altera o nome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nada é realmente privado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JavaScript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classe / fechamento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campos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#privados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(ES2022)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antes: fechamentos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Go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pacote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inicial </a:t>
                      </a: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minúscula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sem classes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Rust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módulo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privado por padrão;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exporta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nem construir fora do módulo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Métodos de acesso e propriedades</a:t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§11.2.2 e §11.4.4.2 · p. 449-450 e 465-466 · exemplos/02_acesso</a:t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548640" y="1325880"/>
            <a:ext cx="5577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 · @property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48640" y="1673352"/>
            <a:ext cx="557784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Temperatura: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@property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def celsius(self):             </a:t>
            </a:r>
            <a:r>
              <a:rPr b="0" i="0" lang="en-US" sz="12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leitor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return self._celsius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@celsius.setter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def celsius(self, valor):      </a:t>
            </a:r>
            <a:r>
              <a:rPr b="0" i="0" lang="en-US" sz="12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escritor com validação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if valor &lt; -273.15: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    raise ValueError("abaixo do zero absoluto")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self._celsius = valor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 = Temperatura(25)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t.celsius = -300    </a:t>
            </a:r>
            <a:r>
              <a:rPr b="0" i="0" lang="en-US" sz="12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ValueError: parece campo, é método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6309360" y="1325880"/>
            <a:ext cx="5330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C# · propriedades (p. 465)</a:t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6309360" y="1673352"/>
            <a:ext cx="5330952" cy="27614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Conta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private decimal saldo;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public decimal Saldo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get { return saldo;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private set { saldo = value;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public string Titular { get; set;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c.Saldo = 1000;   // erro: o set é privado</a:t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6309360" y="4617720"/>
            <a:ext cx="5330952" cy="14630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Por que não um campo público? (p. 449)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Só leitura, validação e liberdade para mudar a representação.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TADs parametrizados: genéricos</a:t>
            </a:r>
            <a:endParaRPr/>
          </a:p>
        </p:txBody>
      </p:sp>
      <p:sp>
        <p:nvSpPr>
          <p:cNvPr id="207" name="Google Shape;207;p11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§11.5 · p. 470-474 · exemplos/03_genericos</a:t>
            </a:r>
            <a:endParaRPr/>
          </a:p>
        </p:txBody>
      </p:sp>
      <p:sp>
        <p:nvSpPr>
          <p:cNvPr id="208" name="Google Shape;208;p11"/>
          <p:cNvSpPr txBox="1"/>
          <p:nvPr/>
        </p:nvSpPr>
        <p:spPr>
          <a:xfrm>
            <a:off x="548640" y="1325880"/>
            <a:ext cx="5715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5.0 · genéricos com apagamento de tipo (p. 472)</a:t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548640" y="1673352"/>
            <a:ext cx="571500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Pilha&lt;T&gt;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private final List&lt;T&gt; dados = new ArrayList&lt;&gt;();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void empilhar(T x) { dados.add(x);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T desempilhar() { return dados.remove(dados.size() - 1);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Pilha&lt;String&gt; nomes = new Pilha&lt;&gt;();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nomes.empilhar(42);    // erro: não é String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Pilha&lt;Integer&gt; nums = new Pilha&lt;&gt;();   </a:t>
            </a:r>
            <a:r>
              <a:rPr b="0" i="0" lang="en-US" sz="12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Pilha&lt;int&gt;: não!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nomes.getClass() == nums.getClass()    </a:t>
            </a:r>
            <a:r>
              <a:rPr b="0" i="0" lang="en-US" sz="12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true: apagamento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static &lt;T extends Comparable&lt;T&gt;&gt; T maior(List&lt;T&gt; xs)</a:t>
            </a:r>
            <a:endParaRPr/>
          </a:p>
        </p:txBody>
      </p:sp>
      <p:graphicFrame>
        <p:nvGraphicFramePr>
          <p:cNvPr id="210" name="Google Shape;210;p11"/>
          <p:cNvGraphicFramePr/>
          <p:nvPr/>
        </p:nvGraphicFramePr>
        <p:xfrm>
          <a:off x="64922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{B2DA6FC1-16CE-4194-A0D4-3108A10C851B}</a:tableStyleId>
              </a:tblPr>
              <a:tblGrid>
                <a:gridCol w="1417325"/>
                <a:gridCol w="37307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Como os genéricos funcionam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C++ (p. 470)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templates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: uma cópia do código por tipo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Rust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monomorfização (como C++)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Java (p. 472)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apagamento de tipo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: uma só classe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C# (p. 474)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reificados: o tipo existe em execução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Go (1.18)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restrições por interfaces de tipos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11"/>
          <p:cNvSpPr/>
          <p:nvPr/>
        </p:nvSpPr>
        <p:spPr>
          <a:xfrm>
            <a:off x="6492240" y="4754880"/>
            <a:ext cx="514807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Custo × benefício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Cópia por tipo: mais rápido e executável maior. Apagamento: uma classe só, mas nada de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Pilha&lt;int&gt;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Encapsulamentos maiores: módulos, pacotes e espaços de nomes</a:t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§11.6-11.7 · p. 474-481</a:t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548640" y="1325880"/>
            <a:ext cx="4572000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Organização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manter o programa intelectualmente gerenciável (p. 475)</a:t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548640" y="2834639"/>
            <a:ext cx="4572000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Recompilação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compilar só o que mudou; reutilizar em bibliotecas</a:t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548640" y="4343400"/>
            <a:ext cx="4572000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Nomeação (p. 478)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evitar que times independentes criem nomes iguais</a:t>
            </a:r>
            <a:endParaRPr/>
          </a:p>
        </p:txBody>
      </p:sp>
      <p:graphicFrame>
        <p:nvGraphicFramePr>
          <p:cNvPr id="222" name="Google Shape;222;p12"/>
          <p:cNvGraphicFramePr/>
          <p:nvPr/>
        </p:nvGraphicFramePr>
        <p:xfrm>
          <a:off x="539496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{B2DA6FC1-16CE-4194-A0D4-3108A10C851B}</a:tableStyleId>
              </a:tblPr>
              <a:tblGrid>
                <a:gridCol w="1691650"/>
                <a:gridCol w="4553700"/>
              </a:tblGrid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1F2937"/>
                          </a:solidFill>
                        </a:rPr>
                        <a:t>Construção de encapsulamento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.h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+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e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#include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(p. 475)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C++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o mesmo +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namespace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(p. 479)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C#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montagens (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.dll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) +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internal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+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namespace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Java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package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+ JAR (p. 480); módulos (Java 9)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Ruby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module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(também mixins) (p. 481)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Python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módulos (arquivos) e pacotes (pastas)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Go / Rust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pacotes e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go.mod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/ crates e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mod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JavaScript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ES modules: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</a:t>
                      </a:r>
                      <a:r>
                        <a:rPr b="0" lang="en-US" sz="140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b="0" lang="en-US" sz="1288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Orientação a objetos: TAD + herança + vinculação dinâmica</a:t>
            </a:r>
            <a:endParaRPr/>
          </a:p>
        </p:txBody>
      </p:sp>
      <p:sp>
        <p:nvSpPr>
          <p:cNvPr id="229" name="Google Shape;229;p13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§12.1-12.2.1 · p. 488-490</a:t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548640" y="1371600"/>
            <a:ext cx="3515258" cy="155448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 · Tipos abstratos de dados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encapsulamento e ocultação (Cap. 11)</a:t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4338218" y="1371600"/>
            <a:ext cx="3515258" cy="155448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· Herança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reúso: a subclasse herda e sobrescreve</a:t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8127796" y="1371600"/>
            <a:ext cx="3515258" cy="155448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 · Vinculação dinâmica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mensagem escolhe o método em execução</a:t>
            </a:r>
            <a:endParaRPr/>
          </a:p>
        </p:txBody>
      </p:sp>
      <p:graphicFrame>
        <p:nvGraphicFramePr>
          <p:cNvPr id="233" name="Google Shape;233;p13"/>
          <p:cNvGraphicFramePr/>
          <p:nvPr/>
        </p:nvGraphicFramePr>
        <p:xfrm>
          <a:off x="548640" y="324612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{B2DA6FC1-16CE-4194-A0D4-3108A10C851B}</a:tableStyleId>
              </a:tblPr>
              <a:tblGrid>
                <a:gridCol w="2560325"/>
                <a:gridCol w="85313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Termo (p. 490)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Significado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Classe / objeto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o TAD / uma instância dele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Subclasse / superclasse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classe derivada (filha) / classe base (pai)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Mensagem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a chamada de um método; parte dos dados está no próprio objeto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Protocolo de mensagens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o conjunto de métodos de uma classe (a sua interface)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13"/>
          <p:cNvSpPr txBox="1"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SIMULA 67 (1967) → Smalltalk 80 (1980) → C++ (1985) → Java (1995) → C#, Ruby, Python...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Herança: reúso com personalização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§12.2.2 · p. 489-492 · exemplos/04_heranca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548640" y="1325880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· o exemplo Bird/Waterfowl do livro (p. 491)</a:t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548640" y="1673352"/>
            <a:ext cx="5852160" cy="35844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Ave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protected String nome;       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subclasses veem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private int batidas = 0;     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subclasses NÃO veem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String desenhar() { return nome + ": ave genérica";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AveAquatica extends Ave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String desenhar() { return nome + ": ave aquática";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String nadar() { return nome + " nada"; }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novo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6629400" y="1325880"/>
            <a:ext cx="50109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java.util.Stack herda de Vector</a:t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6629400" y="1673352"/>
            <a:ext cx="5010912" cy="35844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Stack&lt;Integer&gt; pilha = new Stack&lt;&gt;();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pilha.push(1);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pilha.push(2);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pilha.push(3);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pilha.add(0, 99);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no FUNDO?!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pilha.remove(2);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do meio?!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[99, 1, 3]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Uma pilha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tem um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vetor (composição); ela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é um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vetor (herança). Prefira composição quando a subclasse não puder honrar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todo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 contrato do pai.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Vinculação dinâmica e classes abstratas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§12.2.3 · p. 492-493 · exemplos/04_heranca/Polimorfismo.java</a:t>
            </a:r>
            <a:endParaRPr/>
          </a:p>
        </p:txBody>
      </p:sp>
      <p:sp>
        <p:nvSpPr>
          <p:cNvPr id="254" name="Google Shape;254;p15"/>
          <p:cNvSpPr txBox="1"/>
          <p:nvPr/>
        </p:nvSpPr>
        <p:spPr>
          <a:xfrm>
            <a:off x="548640" y="1325880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· classe abstrata e despacho dinâmico (p. 493)</a:t>
            </a: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548640" y="1673352"/>
            <a:ext cx="640080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abstract class Forma {          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não pode ser instanciada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abstract double area();     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só o protocolo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String descrever()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return getClass().getSimpleName() + ": " + area();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Circulo extends Forma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double area() { return Math.PI * r * r;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Retangulo extends Forma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double area() { return l * a;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(Forma f : formas)          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f: referência POLIMÓRFICA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System.out.println(f.descrever());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qual area()?</a:t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7178040" y="1325880"/>
            <a:ext cx="4462272" cy="14630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Referência polimórfica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uma variável do tipo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Forma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aponta para um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Circulo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(p. 492)</a:t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7178040" y="2971800"/>
            <a:ext cx="4462272" cy="14630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Despacho dinâmico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método é escolhido pelo tipo do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objeto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em execução</a:t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7178040" y="4617720"/>
            <a:ext cx="4462272" cy="14630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Classe abstrata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tem ao menos um método só com protocolo; não pode ser instanciada (p. 493)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Questões de projeto da OO (1): objetos, subtipos, herança múltipla</a:t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§12.3.1-12.3.3 · p. 493-496 · exemplos/05_questoes_projeto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548640" y="132588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Ruby · tudo é objeto</a:t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548640" y="1673352"/>
            <a:ext cx="3657600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puts 5.class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puts 5.+(3)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8: mensagem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puts nil.class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NilClass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5.times { |i| print i }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4480560" y="1325880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 · diamante e MRO</a:t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4480560" y="1673352"/>
            <a:ext cx="3657600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D(B, C): pass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D().quem()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"B"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D.__mro__ 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D, B, C,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E(C, B): pass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E().quem()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"C" !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8412480" y="1325880"/>
            <a:ext cx="32278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Substituição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8412480" y="1673352"/>
            <a:ext cx="3227832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q = Quadrado(2)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q.definir_largura(4)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área: 16, e não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Quadrado não é um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subtipo de Retangulo</a:t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548640" y="4572000"/>
            <a:ext cx="11094415" cy="658368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Exclusividade (p. 493)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tudo é objeto (Smalltalk, Ruby) ou primitivos + objetos (Java, C#, C++)?</a:t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548640" y="5340096"/>
            <a:ext cx="11094415" cy="658368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Subtipo (p. 494)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subclasse pode substituir o pai sem mudar o comportamento? (princípio da substituição)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Questões de projeto da OO (2): alocação e vinculação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§12.3.4-12.3.7 · p. 496-498 · exemplos/05_questoes_projeto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548640" y="1325880"/>
            <a:ext cx="6492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C++ · virtual, estático e fatiamento</a:t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548640" y="1673352"/>
            <a:ext cx="649224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void estatico()         { cout &lt;&lt; "A::estatico\n";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virtual void dinamico() { cout &lt;&lt; "A::dinamico\n";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B : public 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void estatico()          { cout &lt;&lt; "B::estatico\n";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void dinamico() override { cout &lt;&lt; "B::dinamico\n";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B b;  A *p = &amp;b;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p-&gt;estatico();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A::estatico  (tipo do ponteiro)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p-&gt;dinamico();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B::dinamico  (tipo do objeto)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 a = b;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fatiamento de objetos (p. 497)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a.dinamico();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A::dinamico</a:t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7269480" y="1325880"/>
            <a:ext cx="4370832" cy="1490472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Alocação (p. 496)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Java, C#, Python, Ruby: sempre no monte, com GC. C++: pilha, monte ou estático</a:t>
            </a: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7269480" y="2953511"/>
            <a:ext cx="4370832" cy="1490472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Estática × dinâmica (p. 497)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C++: só </a:t>
            </a:r>
            <a:r>
              <a:rPr b="0" i="0" lang="en-US" sz="1288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virtual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é dinâmico. Java: tudo, exceto </a:t>
            </a:r>
            <a:r>
              <a:rPr b="0" i="0" lang="en-US" sz="1288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288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en-US" sz="1288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final</a:t>
            </a:r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7269480" y="4581144"/>
            <a:ext cx="4370832" cy="1490472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Fatiamento (p. 497)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copiar um B para um A por valor corta a parte de B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Escolhas de projeto: a tabela montada com a turma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Tabela 12.1 · p. 525 (Python, Go e Rust acrescentados)</a:t>
            </a:r>
            <a:endParaRPr/>
          </a:p>
        </p:txBody>
      </p:sp>
      <p:graphicFrame>
        <p:nvGraphicFramePr>
          <p:cNvPr id="293" name="Google Shape;293;p18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{B2DA6FC1-16CE-4194-A0D4-3108A10C851B}</a:tableStyleId>
              </a:tblPr>
              <a:tblGrid>
                <a:gridCol w="1417325"/>
                <a:gridCol w="2286000"/>
                <a:gridCol w="2926075"/>
                <a:gridCol w="2286000"/>
                <a:gridCol w="21762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2937"/>
                          </a:solidFill>
                        </a:rPr>
                        <a:t>Tudo é objeto?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2937"/>
                          </a:solidFill>
                        </a:rPr>
                        <a:t>Herança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2937"/>
                          </a:solidFill>
                        </a:rPr>
                        <a:t>Vinculação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2937"/>
                          </a:solidFill>
                        </a:rPr>
                        <a:t>Alocação e liberação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Smalltalk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sim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simples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sempre dinâmica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monte, implícita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C++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não (primitivos)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2937"/>
                          </a:solidFill>
                        </a:rPr>
                        <a:t>múltipla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96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pilha ou monte, explícita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Java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não (primitivos)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simples + interfaces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dinâmica (exceto </a:t>
                      </a:r>
                      <a:r>
                        <a:rPr b="0" lang="en-US" sz="1196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final</a:t>
                      </a: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monte, implícita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C#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não (primitivos)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simples + interfaces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96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</a:t>
                      </a: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b="0" lang="en-US" sz="1196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override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monte, implícita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Ruby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sim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simples + módulos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sempre dinâmica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monte, implícita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Python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sim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2937"/>
                          </a:solidFill>
                        </a:rPr>
                        <a:t>múltipla</a:t>
                      </a: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 (MRO)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sempre dinâmica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monte, implícita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Go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não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2937"/>
                          </a:solidFill>
                        </a:rPr>
                        <a:t>sem herança</a:t>
                      </a: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: composição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via interfaces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monte ou pilha, implícita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Rust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não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F2937"/>
                          </a:solidFill>
                        </a:rPr>
                        <a:t>sem herança</a:t>
                      </a: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: traits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via </a:t>
                      </a:r>
                      <a:r>
                        <a:rPr b="0" lang="en-US" sz="1196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dyn Trait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>
                          <a:solidFill>
                            <a:srgbClr val="1F2937"/>
                          </a:solidFill>
                        </a:rPr>
                        <a:t>pilha ou monte, </a:t>
                      </a:r>
                      <a:r>
                        <a:rPr b="0" lang="en-US" sz="1196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Drop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OO sem herança de classes: Go, Rust e protótipos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exemplos/06_sem_heranca · interfaces.go, traits.rs, prototipos.js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548640" y="1325880"/>
            <a:ext cx="5577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Go · interfaces implícitas e composição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548640" y="1673352"/>
            <a:ext cx="5577840" cy="44074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type Forma interface { Area() float64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type Circulo struct{ R float64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sem "implements": ter Area() já basta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func (c Circulo) Area() float64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return math.Pi * c.R * c.R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type Nomeado struct{ Nome string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func (n Nomeado) Saudacao() string { ...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type Funcionario struct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Nomeado 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composição (embedding)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Cargo string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f.Saudacao()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método promovido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6309360" y="1325880"/>
            <a:ext cx="5330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Rust · traits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6309360" y="1673352"/>
            <a:ext cx="5330952" cy="285292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trait Forma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fn area(&amp;self) -&gt; f64;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fn descrever(&amp;self) -&gt; String {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padrão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format!("área {:.2}", self.area())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impl Forma for Circulo { ...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v: Vec&lt;Box&lt;dyn Forma&gt;&gt; = ...;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dinâmico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6309360" y="4709160"/>
            <a:ext cx="5330952" cy="137160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JavaScript: protótipos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Objetos herdam de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objetos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Object.create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é só sintaxe sobre protótipos.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Como a vinculação dinâmica é implementada: a vtable</a:t>
            </a: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§12.5 · p. 526-529 · Figura 12.7 · exemplos/07_implementacao</a:t>
            </a:r>
            <a:endParaRPr/>
          </a:p>
        </p:txBody>
      </p:sp>
      <p:sp>
        <p:nvSpPr>
          <p:cNvPr id="313" name="Google Shape;313;p20"/>
          <p:cNvSpPr txBox="1"/>
          <p:nvPr/>
        </p:nvSpPr>
        <p:spPr>
          <a:xfrm>
            <a:off x="548640" y="132588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Objeto de B (RIC)</a:t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868680" y="1783080"/>
            <a:ext cx="2286000" cy="530352"/>
          </a:xfrm>
          <a:prstGeom prst="rect">
            <a:avLst/>
          </a:prstGeom>
          <a:solidFill>
            <a:srgbClr val="E6F4F1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ponteiro p/ vtable</a:t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868680" y="2350008"/>
            <a:ext cx="2286000" cy="53035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868680" y="2916936"/>
            <a:ext cx="2286000" cy="53035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868680" y="3483863"/>
            <a:ext cx="2286000" cy="53035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868680" y="4050791"/>
            <a:ext cx="2286000" cy="53035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4160520" y="13258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vtable de B</a:t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4480560" y="1783080"/>
            <a:ext cx="2651760" cy="6217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draw</a:t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7909560" y="1783080"/>
            <a:ext cx="3730752" cy="621792"/>
          </a:xfrm>
          <a:prstGeom prst="rect">
            <a:avLst/>
          </a:prstGeom>
          <a:solidFill>
            <a:srgbClr val="E7F6E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código de draw de B</a:t>
            </a:r>
            <a:endParaRPr/>
          </a:p>
        </p:txBody>
      </p:sp>
      <p:cxnSp>
        <p:nvCxnSpPr>
          <p:cNvPr id="322" name="Google Shape;322;p20"/>
          <p:cNvCxnSpPr/>
          <p:nvPr/>
        </p:nvCxnSpPr>
        <p:spPr>
          <a:xfrm>
            <a:off x="7178040" y="2093976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3" name="Google Shape;323;p20"/>
          <p:cNvSpPr/>
          <p:nvPr/>
        </p:nvSpPr>
        <p:spPr>
          <a:xfrm>
            <a:off x="4480560" y="2468880"/>
            <a:ext cx="2651760" cy="6217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area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7909560" y="2468880"/>
            <a:ext cx="3730752" cy="621792"/>
          </a:xfrm>
          <a:prstGeom prst="rect">
            <a:avLst/>
          </a:prstGeom>
          <a:solidFill>
            <a:srgbClr val="FEF6E7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código de area de A</a:t>
            </a:r>
            <a:endParaRPr/>
          </a:p>
        </p:txBody>
      </p:sp>
      <p:cxnSp>
        <p:nvCxnSpPr>
          <p:cNvPr id="325" name="Google Shape;325;p20"/>
          <p:cNvCxnSpPr/>
          <p:nvPr/>
        </p:nvCxnSpPr>
        <p:spPr>
          <a:xfrm>
            <a:off x="7178040" y="2779776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6" name="Google Shape;326;p20"/>
          <p:cNvSpPr/>
          <p:nvPr/>
        </p:nvSpPr>
        <p:spPr>
          <a:xfrm>
            <a:off x="4480560" y="3154680"/>
            <a:ext cx="2651760" cy="62179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sift</a:t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7909560" y="3154680"/>
            <a:ext cx="3730752" cy="621792"/>
          </a:xfrm>
          <a:prstGeom prst="rect">
            <a:avLst/>
          </a:prstGeom>
          <a:solidFill>
            <a:srgbClr val="E7F6E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código de sift de B</a:t>
            </a:r>
            <a:endParaRPr/>
          </a:p>
        </p:txBody>
      </p:sp>
      <p:cxnSp>
        <p:nvCxnSpPr>
          <p:cNvPr id="328" name="Google Shape;328;p20"/>
          <p:cNvCxnSpPr/>
          <p:nvPr/>
        </p:nvCxnSpPr>
        <p:spPr>
          <a:xfrm>
            <a:off x="7178040" y="3465576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9" name="Google Shape;329;p20"/>
          <p:cNvCxnSpPr/>
          <p:nvPr/>
        </p:nvCxnSpPr>
        <p:spPr>
          <a:xfrm>
            <a:off x="3200400" y="2048256"/>
            <a:ext cx="1234440" cy="0"/>
          </a:xfrm>
          <a:prstGeom prst="straightConnector1">
            <a:avLst/>
          </a:prstGeom>
          <a:noFill/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0" name="Google Shape;330;p20"/>
          <p:cNvSpPr txBox="1"/>
          <p:nvPr/>
        </p:nvSpPr>
        <p:spPr>
          <a:xfrm>
            <a:off x="4160520" y="3977639"/>
            <a:ext cx="74797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area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aponta para o código de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B não o sobrescreveu (Fig. 12.7, p. 527).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548640" y="4846320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Uma chamada dinâmica, por dentro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548640" y="5193792"/>
            <a:ext cx="11094415" cy="8869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f.draw()   ==&gt;   (*(f-&gt;vtable-&gt;draw))(f)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segue o ponteiro, pega a entrada, chama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 em duplas (10 min): qual método é chamado? (1/3)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Arquivos: exemplos/08_exercicio · execute em onecompiler.com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cada trecho: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é a saída?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 decisão foi tomada na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compilação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ou na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 · Java</a:t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Animal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String som() { return "...";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Cachorro extends Animal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String som() { return "au";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Animal x = new Cachorro();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System.out.println(x.som());</a:t>
            </a:r>
            <a:endParaRPr/>
          </a:p>
        </p:txBody>
      </p:sp>
      <p:sp>
        <p:nvSpPr>
          <p:cNvPr id="343" name="Google Shape;343;p21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· C++</a:t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struct 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void f() { cout &lt;&lt; "A";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struct B : 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void f() { cout &lt;&lt; "B";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B b; A *p = &amp;b;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p-&gt;f();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Exercício: qual método é chamado? (2/3)</a:t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Arquivos: exemplos/08_exercicio · execute em onecompiler.com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cada trecho: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é a saída?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 decisão foi tomada na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compilação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ou na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 · Java</a:t>
            </a: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A { String nome = "A";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String getNome() { return nome; }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B extends A { String nome = "B";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String getNome() { return nome; }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 x = new B();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System.out.println(x.nome + " " + x.getNome());</a:t>
            </a:r>
            <a:endParaRPr/>
          </a:p>
        </p:txBody>
      </p:sp>
      <p:sp>
        <p:nvSpPr>
          <p:cNvPr id="355" name="Google Shape;355;p22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 · Python</a:t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Contador: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total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def __init__(self):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Contador.total +=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self.id = Contador.total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 = Contador(); b = Contador()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print(a.id, b.id, a.total)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Exercício: qual método é chamado? (3/3)</a:t>
            </a:r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Arquivos: exemplos/08_exercicio · execute em onecompiler.com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cada trecho: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é a saída?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 decisão foi tomada na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compilação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ou na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548640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 · Java</a:t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548640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static String quem() { return "A";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class B extends A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static String quem() { return "B";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 x = new B();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System.out.println(x.quem());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6233007" y="1920240"/>
            <a:ext cx="5410047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6 · Go</a:t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6233007" y="2267712"/>
            <a:ext cx="5410047" cy="36758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type Animal struct{}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func (Animal) Som() string { return "..."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func (a Animal) Falar() string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return "faz " + a.Som()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type Cao struct{ Animal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func (Cao) Som() string { return "au"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fmt.Println(Cao{}.Falar(), Cao{}.Som())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Síntese: abstração de dados em cinco perguntas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Caps. 11 e 12 · p. 445-540</a:t>
            </a:r>
            <a:endParaRPr/>
          </a:p>
        </p:txBody>
      </p:sp>
      <p:graphicFrame>
        <p:nvGraphicFramePr>
          <p:cNvPr id="376" name="Google Shape;376;p24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{B2DA6FC1-16CE-4194-A0D4-3108A10C851B}</a:tableStyleId>
              </a:tblPr>
              <a:tblGrid>
                <a:gridCol w="3291850"/>
                <a:gridCol w="7799825"/>
              </a:tblGrid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Pergunta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Respostas das linguagens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O que esconder?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/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protected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(C++, Java, C#), convenção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(Python), maiúscula (Go),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(Rust),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(JS)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Como reutilizar?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herança simples, múltipla (C++, Python), interfaces, mixins (Ruby), composição (Go), traits (Rust)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Quando despachar dinamicamente?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sempre (Smalltalk, Ruby, Python), por padrão (Java), com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(C++, C#), via interface ou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dyn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Onde vivem os objetos?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no monte com GC (Java, C#, Python, Go) ou onde o programador quiser (C++, Rust)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Como generalizar tipos?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templates (C++), monomorfização (Rust), apagamento de tipo (Java), reificação (C#)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5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Atividades complementares (autopesquisa)</a:t>
            </a:r>
            <a:endParaRPr/>
          </a:p>
        </p:txBody>
      </p:sp>
      <p:sp>
        <p:nvSpPr>
          <p:cNvPr id="383" name="Google Shape;383;p25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§11.4, §12.4-12.6 · exemplos/09_autopesquisa</a:t>
            </a:r>
            <a:endParaRPr/>
          </a:p>
        </p:txBody>
      </p:sp>
      <p:sp>
        <p:nvSpPr>
          <p:cNvPr id="384" name="Google Shape;384;p25"/>
          <p:cNvSpPr txBox="1"/>
          <p:nvPr/>
        </p:nvSpPr>
        <p:spPr>
          <a:xfrm>
            <a:off x="548640" y="1325880"/>
            <a:ext cx="67665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TADs em Objective-C e em Ruby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(§11.4.2 e §11.4.5, p. 457-463 e 466-470):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conta.rb</a:t>
            </a:r>
            <a:endParaRPr/>
          </a:p>
          <a:p>
            <a:pPr indent="-219456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OO em Smalltalk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(§12.4.1, p. 498-500) e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Objective-C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(§12.4.3, p. 513-516)</a:t>
            </a:r>
            <a:endParaRPr/>
          </a:p>
          <a:p>
            <a:pPr indent="-219456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OO em C# e em Ruby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(§12.4.5-12.4.6, p. 520-525)</a:t>
            </a:r>
            <a:endParaRPr/>
          </a:p>
          <a:p>
            <a:pPr indent="-219456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Herança múltipla na implementação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várias vtables (§12.5.2, p. 528-529)</a:t>
            </a:r>
            <a:endParaRPr/>
          </a:p>
          <a:p>
            <a:pPr indent="-219456" lvl="0" marL="256032" marR="0" rtl="0" algn="l">
              <a:spcBef>
                <a:spcPts val="11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Reflexão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(§12.6, p. 529-540):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Reflexao.java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reflexao.py</a:t>
            </a:r>
            <a:endParaRPr/>
          </a:p>
        </p:txBody>
      </p:sp>
      <p:sp>
        <p:nvSpPr>
          <p:cNvPr id="385" name="Google Shape;385;p25"/>
          <p:cNvSpPr/>
          <p:nvPr/>
        </p:nvSpPr>
        <p:spPr>
          <a:xfrm>
            <a:off x="7680960" y="1325880"/>
            <a:ext cx="3959352" cy="283464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Entrega sugerida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Implemente o TAD fila (enfileirar, desenfileirar, vazia) em duas linguagens de paradigmas de OO diferentes (ex.: Java e Go) e compare ocultação, construtores e genéricos.</a:t>
            </a:r>
            <a:endParaRPr/>
          </a:p>
        </p:txBody>
      </p:sp>
      <p:sp>
        <p:nvSpPr>
          <p:cNvPr id="386" name="Google Shape;386;p25"/>
          <p:cNvSpPr/>
          <p:nvPr/>
        </p:nvSpPr>
        <p:spPr>
          <a:xfrm>
            <a:off x="7680960" y="4343400"/>
            <a:ext cx="3959352" cy="16916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Próxima aula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Concorrência (Cap. 13)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
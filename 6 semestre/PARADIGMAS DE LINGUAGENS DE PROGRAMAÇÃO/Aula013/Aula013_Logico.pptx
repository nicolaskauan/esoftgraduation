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(1 min).</a:t>
            </a:r>
          </a:p>
          <a:p>
            <a:r>
              <a:t>Último encontro do bimestre. Depois do imperativo, do orientado a objetos e do funcional, o quarto grande paradigma: o LÓGICO, ou declarativo. Em vez de dizer COMO calcular, o programa diz O QUE é verdade (fatos e regras), e o sistema procura a resposta sozinho.</a:t>
            </a:r>
          </a:p>
          <a:p>
            <a:r>
              <a:t>Formato: exploratória, em laboratório. Os alunos usam o SWISH (swish.swi-prolog.org, interativo) ou o OneCompiler (GNU Prolog). Todos os exemplos de Aula013/exemplos funcionam nos dois e foram testados.</a:t>
            </a:r>
          </a:p>
          <a:p>
            <a:r>
              <a:t>Nos últimos 15 minutos, fechamos o bimestre com um mapa dos paradigmas.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Problematização (até 5 min).</a:t>
            </a:r>
          </a:p>
          <a:p>
            <a:r>
              <a:t>Leia o objetivo.</a:t>
            </a:r>
          </a:p>
          <a:p/>
          <a:p>
            <a:r>
              <a:t>Os três casos:</a:t>
            </a:r>
          </a:p>
          <a:p>
            <a:r>
              <a:t>- Lei de nacionalidade britânica (British Nationality Act, de 1981): Sergot, Kowalski e outros, no Imperial College, escreveram a lei como um programa Prolog (artigo de 1986). Consultando o programa, era possível saber se uma pessoa tinha cidadania, e o sistema explicava a cadeia de regras usada. O livro cita o sistema APES usado para isso (p. 717-718). Também foi uma forma de achar AMBIGUIDADES no texto da lei.</a:t>
            </a:r>
          </a:p>
          <a:p>
            <a:r>
              <a:t>- IBM Watson (2011): venceu dois campeões do programa de TV Jeopardy!. Parte da análise das perguntas em linguagem natural usava regras em Prolog (Lally e Fodor, 2011). Lembre que o Prolog nasceu justamente para processar linguagem natural (p. 696).</a:t>
            </a:r>
          </a:p>
          <a:p>
            <a:r>
              <a:t>- CodeQL: ferramenta do GitHub para achar vulnerabilidades. O código-fonte vira um banco de fatos ("esta função chama aquela", "este valor vem da entrada do usuário"), e as falhas são descritas como CONSULTAS em QL, uma linguagem lógica baseada no Datalog, um subconjunto do Prolog sem estruturas. Ferramentas como o Soufflé fazem o mesmo em análise de programas.</a:t>
            </a:r>
          </a:p>
          <a:p>
            <a:r>
              <a:t>Pergunta para a turma: quem já escreveu um SELECT? Então já programou de forma declarativa: descreveu o resultado, e o banco decidiu COMO buscar.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(1 min).</a:t>
            </a:r>
          </a:p>
          <a:p>
            <a:r>
              <a:t>Antes da aula: confira se o SWISH abre na rede do laboratório. Se não abrir, use o OneCompiler: cada arquivo tem um main que já executa as consultas e mostra todas as respostas.</a:t>
            </a:r>
          </a:p>
          <a:p>
            <a:r>
              <a:t>Ficam para autopesquisa (último slide): forma clausal e prova formal (16.2 e 16.3), as origens do Prolog (16.5), o quebra-cabeça e o sistema especialista, e os exercícios de programação do livro (p. 721).</a:t>
            </a:r>
          </a:p>
          <a:p>
            <a:r>
              <a:t>O slide "O código do livro roda?" é opcional em sala.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</a:t>
            </a:r>
          </a:p>
          <a:p>
            <a:r>
              <a:t>Sebesta (p. 688): programas lógicos são DECLARATIVOS, e não procedurais: expressam só a especificação dos resultados desejados, e não os procedimentos detalhados para produzi-los. Um programa é uma coleção de FATOS e REGRAS, e é usado fazendo PERGUNTAS a ele.</a:t>
            </a:r>
          </a:p>
          <a:p>
            <a:r>
              <a:t>Procedural (p. 695): nas linguagens imperativas E nas funcionais, o programador diz ao computador exatamente COMO calcular. O computador é "um dispositivo que obedece ordens".</a:t>
            </a:r>
          </a:p>
          <a:p>
            <a:r>
              <a:t>Não procedural: o programa descreve a FORMA do resultado, e o sistema determina como obtê-lo. O cálculo de predicados dá a forma de comunicação, e a RESOLUÇÃO dá a técnica de inferência.</a:t>
            </a:r>
          </a:p>
          <a:p>
            <a:r>
              <a:t>O exemplo do livro (p. 695-696): ordenar. Em Java, escreve-se o algoritmo. Em lógica, basta dizer: "a lista nova é uma permutação da antiga, e cada elemento é menor ou igual ao seguinte". Parece mágica, e o livro já avisa o problema (p. 696): o sistema só consegue gerar e testar permutações, o que é muito lento. Voltaremos a isso nas deficiências, com a medição.</a:t>
            </a:r>
          </a:p>
          <a:p>
            <a:r>
              <a:t>Semântica declarativa (p. 694-695): o significado de uma sentença não depende do contexto de execução. Numa atribuição imperativa, é preciso saber tipos, escopo e os valores anteriores das variáveis.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Sem formalismo pesado: o objetivo é reconhecer a notação.</a:t>
            </a:r>
          </a:p>
          <a:p>
            <a:r>
              <a:t>Proposição (p. 689): uma sentença lógica que pode ou não ser verdadeira. Os objetos são CONSTANTES (representam um objeto) ou VARIÁVEIS (podem representar objetos diferentes).</a:t>
            </a:r>
          </a:p>
          <a:p>
            <a:r>
              <a:t>Proposição atômica: um TERMO COMPOSTO, com um FUNCTOR (o nome da relação) e uma lista de parâmetros: man(jake), like(bob, steak). Ela é um elemento de uma relação, como uma linha de tabela. Atenção (p. 690): não há semântica intrínseca. like(bob, steak) pode significar que bob gosta de bife ou que o bife gosta de bob; quem decide é o programador.</a:t>
            </a:r>
          </a:p>
          <a:p>
            <a:r>
              <a:t>Proposições podem ser FATOS (declaradas verdadeiras) ou CONSULTAS (a verdade deve ser determinada).</a:t>
            </a:r>
          </a:p>
          <a:p>
            <a:r>
              <a:t>Conectores (p. 690): negação ¬, conjunção ∧, disjunção ∨, equivalência ≡ e implicação ⊃ e ⊂. A negação tem a maior precedência.</a:t>
            </a:r>
          </a:p>
          <a:p>
            <a:r>
              <a:t>Quantificadores (p. 690-691): universal ∀X.P ("para todo X, P é verdade") e existencial ∃X.P ("existe um X tal que P").</a:t>
            </a:r>
          </a:p>
          <a:p>
            <a:r>
              <a:t>Os exemplos do livro: ∀X.(mulher(X) ⊃ humano(X)), toda mulher é humana; ∃X.(mãe(mary, X) ∧ homem(X)), mary tem um filho.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</a:t>
            </a:r>
          </a:p>
          <a:p>
            <a:r>
              <a:t>Problema (p. 691): no cálculo de predicados, há muitas formas de escrever a mesma coisa. Para um sistema automático, é preciso uma forma padrão: a FORMA CLAUSAL, "B1 ∨ ... ∨ Bn ⊂ A1 ∧ ... ∧ Am": se todos os As são verdadeiros, pelo menos um B é verdadeiro. O lado direito é o ANTECEDENTE, e o esquerdo, o CONSEQUENTE. Toda proposição pode ser convertida para a forma clausal (Nilsson, 1971).</a:t>
            </a:r>
          </a:p>
          <a:p>
            <a:r>
              <a:t>Cláusulas de Horn (p. 694, homenagem a Alfred Horn, 1951): uma restrição que torna a resolução VIÁVEL na prática. Só há duas formas:</a:t>
            </a:r>
          </a:p>
          <a:p>
            <a:r>
              <a:t>- COM CABEÇA: uma única proposição no lado esquerdo. Define relacionamentos: likes(bob, trout) ⊂ likes(bob, fish) ∧ fish(trout). Em Prolog, é uma REGRA;</a:t>
            </a:r>
          </a:p>
          <a:p>
            <a:r>
              <a:t>- SEM CABEÇA: lado esquerdo vazio. Define fatos: father(bob, jake). Em Prolog, é um FATO.</a:t>
            </a:r>
          </a:p>
          <a:p>
            <a:r>
              <a:t>A tradução para Prolog é direta: o ⊂ vira ":-", o ∧ vira a vírgula, e cada sentença termina com ponto.</a:t>
            </a:r>
          </a:p>
          <a:p>
            <a:r>
              <a:t>Nem toda proposição pode ser escrita como cláusula de Horn (p. 694), por exemplo, as que concluem uma disjunção ("louis é pai de al OU de violet", o exemplo da p. 692). É uma das limitações do Prolog.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</a:t>
            </a:r>
          </a:p>
          <a:p>
            <a:r>
              <a:t>Resolução (Alan Robinson, 1965, p. 692): uma regra de inferência que calcula novas proposições a partir das dadas. A ideia: se P2 implica T e T implica Q1, então P2 implica Q1. O termo que aparece dos dois lados (T) é cancelado.</a:t>
            </a:r>
          </a:p>
          <a:p>
            <a:r>
              <a:t>O exemplo do livro (p. 692-693): "joanne ser mãe de jake implica ser mais velha" e "ser mais velha implica ser mais sábia". A resolução conclui: "ser mãe implica ser mais sábia". O older(joanne, jake) é cancelado.</a:t>
            </a:r>
          </a:p>
          <a:p>
            <a:r>
              <a:t>Com variáveis, a resolução precisa achar valores que façam os termos casarem: é a UNIFICAÇÃO (p. 693). A atribuição temporária de valores é a INSTANCIAÇÃO. Se a instanciação escolhida não leva à prova, o sistema volta e tenta outra: é o RETROCESSO (backtracking).</a:t>
            </a:r>
          </a:p>
          <a:p>
            <a:r>
              <a:t>Prova por contradição (p. 693-694): as proposições dadas são as HIPÓTESES. O teorema é NEGADO e acrescentado como OBJETIVO. Se a resolução encontrar uma inconsistência, o teorema está provado. A resolução é "refutação completa": sempre encontra a inconsistência, se houver.</a:t>
            </a:r>
          </a:p>
          <a:p>
            <a:r>
              <a:t>O problema: o tempo pode ser imenso numa base grande (p. 694). Daí a restrição às cláusulas de Horn.</a:t>
            </a:r>
          </a:p>
          <a:p>
            <a:r>
              <a:t>Em Prolog, a unificação aparece o tempo todo: f(X, b) = f(a, Y) dá X = a e Y = b (exercício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</a:t>
            </a:r>
          </a:p>
          <a:p>
            <a:r>
              <a:t>Origem (p. 696): Alain Colmerauer e Philippe Roussel (Universidade de Aix-Marseille), interessados em processamento de linguagem natural, com a ajuda de Robert Kowalski (Edimburgo), interessado em prova automática de teoremas. Início dos anos 1970. Surgiram dois dialetos; o livro usa a sintaxe de EDIMBURGO, que é a do padrão ISO.</a:t>
            </a:r>
          </a:p>
          <a:p>
            <a:r>
              <a:t>Em 1981, o Japão lançou o projeto da Quinta Geração de Computadores (FGCS), com Prolog como base para "máquinas inteligentes". Houve uma corrida mundial à IA e à programação lógica. Dez anos depois, o projeto foi abandonado discretamente, e o interesse pelo Prolog caiu (p. 696). É uma boa discussão sobre o ciclo de expectativas da IA, parecido com o de hoje.</a:t>
            </a:r>
          </a:p>
          <a:p>
            <a:r>
              <a:t>Termos (p. 697): tudo em Prolog é feito de termos.</a:t>
            </a:r>
          </a:p>
          <a:p>
            <a:r>
              <a:t>- CONSTANTE: um ÁTOMO (começa com minúscula, como jake, ou fica entre apóstrofos, como 'Maria') ou um número;</a:t>
            </a:r>
          </a:p>
          <a:p>
            <a:r>
              <a:t>- VARIÁVEL: começa com MAIÚSCULA ou sublinhado (X, Pessoa, _). Não tem tipo declarado. Vincular um valor é a INSTANCIAÇÃO, que só acontece durante a resolução e dura só até o objetivo ser provado ou falhar. "Parentes distantes" das variáveis imperativas: não há atribuição;</a:t>
            </a:r>
          </a:p>
          <a:p>
            <a:r>
              <a:t>- ESTRUTURA: functor(parâmetros), a proposição atômica do cálculo de predicados.</a:t>
            </a:r>
          </a:p>
          <a:p>
            <a:r>
              <a:t>Pegadinha frequente: escrever variável em minúscula. Ela vira um átomo! É um dos erros do código da p. 716 (slide da caça ao erro).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~5 min. DEMONSTRAÇÃO ao vivo no SWISH: cole familia.pl e faça as consultas da direita. Mostre o botão Next para as outras respostas.</a:t>
            </a:r>
          </a:p>
          <a:p>
            <a:r>
              <a:t>FATOS (p. 697-698): cláusulas de Horn sem cabeça, cada uma terminada por ponto. father(bill, jake) não tem significado intrínseco: o mais natural é "bill é pai de jake".</a:t>
            </a:r>
          </a:p>
          <a:p>
            <a:r>
              <a:t>REGRAS (p. 698-699): cláusulas de Horn com cabeça, "consequente :- antecedente". Lê-se "o consequente é verdadeiro SE o antecedente for verdadeiro, ou puder se tornar verdadeiro por alguma instanciação das variáveis". A vírgula é o E. Duas regras com a mesma cabeça funcionam como OU (parent a partir de mother OU father). As variáveis são implicitamente universais.</a:t>
            </a:r>
          </a:p>
          <a:p>
            <a:r>
              <a:t>CONSULTAS ou OBJETIVOS (p. 699-700): mesma forma de um fato, mas no modo de consulta. A resposta yes significa "provei"; no significa "não consegui provar", que é diferente de "é falso" (mundo fechado, mais adiante).</a:t>
            </a:r>
          </a:p>
          <a:p>
            <a:r>
              <a:t>Com variáveis, o sistema também diz QUAIS valores tornam o objetivo verdadeiro: father(X, jake) dá X = bill.</a:t>
            </a:r>
          </a:p>
          <a:p>
            <a:r>
              <a:t>Acrescentei ao arquivo quatro fatos (marcados com +) para existirem netos. ancestor é recursivo: X é ancestral de Y se é pai/mãe de Y, ou pai/mãe de algum ancestral de Y.</a:t>
            </a:r>
          </a:p>
          <a:p>
            <a:r>
              <a:t>ATENÇÃO para o GNU Prolog (OneCompiler): as cláusulas de um predicado precisam ficar JUNTAS. O livro alterna female e male, e o GNU Prolog descarta as que ficam separadas sem avisar (veja familia_livro.pl).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~10 min. ATIVIDADE em duplas, no SWISH (interativo). No OneCompiler, os alunos acrescentam as consultas ao main, no modelo das que já existem.</a:t>
            </a:r>
          </a:p>
          <a:p>
            <a:r>
              <a:t>Respostas esperadas:</a:t>
            </a:r>
          </a:p>
          <a:p>
            <a:r>
              <a:t>1) mother(M, ana): M = shelley. female(X): shelley, mary, ana.</a:t>
            </a:r>
          </a:p>
          <a:p>
            <a:r>
              <a:t>2) male(X), parent(X, shelley): X = bill. É o exemplo de retrocesso da p. 702: o Prolog tenta bill (que é pai de shelley). Se pedir mais, tenta jake e tom, e falha.</a:t>
            </a:r>
          </a:p>
          <a:p>
            <a:r>
              <a:t>3) sibling(jake, S) dá S = shelley DUAS vezes: uma pelo pai e outra pela mãe. Não é erro: são duas provas diferentes. Pergunte por que.</a:t>
            </a:r>
          </a:p>
          <a:p>
            <a:r>
              <a:t>4) uncle(X, Y) :- parent(P, Y), sibling(X, P), male(X). Com os fatos do arquivo, uncle(jake, ana) é yes (jake é irmão de shelley, a mãe de ana).</a:t>
            </a:r>
          </a:p>
          <a:p>
            <a:r>
              <a:t>5) Desafio: cousin(X, Y) :- parent(PX, X), parent(PY, Y), sibling(PX, PY). Com os fatos atuais, tom e ana são primos (jake e shelley são irmãos): cousin(tom, ana) dá yes (duas vezes, pelo mesmo motivo do item 3).</a:t>
            </a:r>
          </a:p>
          <a:p>
            <a:r>
              <a:t>Observação: repare que a MESMA regra responde perguntas em direções diferentes: ancestor(A, tom) (quem são os ancestrais de tom?) e ancestor(bill, D) (quem são os descendentes de bill?). Não há "parâmetro de entrada" e "de saída".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</a:t>
            </a:r>
          </a:p>
          <a:p>
            <a:r>
              <a:t>Três decisões de projeto do mecanismo de inferência do Prolog:</a:t>
            </a:r>
          </a:p>
          <a:p>
            <a:r>
              <a:t>1) ENCADEAMENTO PARA TRÁS (p. 701): começa pelo OBJETIVO e procura fatos e regras que o provem (descendente, "top-down"). A alternativa, o encadeamento PARA FRENTE (ascendente), começa pelos fatos e deduz até chegar ao objetivo. Para trás é melhor quando há poucas respostas candidatas; para frente, quando há muitas. Motores de regras de negócio (como o Drools) e o Datalog costumam usar o encadeamento para frente.</a:t>
            </a:r>
          </a:p>
          <a:p>
            <a:r>
              <a:t>2) BUSCA EM PROFUNDIDADE (p. 702): prova o primeiro subobjetivo por completo antes de passar ao seguinte. A busca em largura trabalharia em todos em paralelo, mas exigiria muita memória.</a:t>
            </a:r>
          </a:p>
          <a:p>
            <a:r>
              <a:t>3) RETROCESSO (p. 702): quando um subobjetivo falha, volta ao anterior e procura uma solução alternativa, continuando de onde a busca anterior parou.</a:t>
            </a:r>
          </a:p>
          <a:p>
            <a:r>
              <a:t>A busca na base é sempre da PRIMEIRA para a ÚLTIMA cláusula (p. 703), e os subobjetivos são tratados da esquerda para a direita.</a:t>
            </a:r>
          </a:p>
          <a:p>
            <a:r>
              <a:t>O exemplo do livro (p. 702): male(X), parent(X, shelley). O Prolog pega cada homem da base e testa se é pai de shelley. Seria mais eficiente inverter a ordem: parent(X, shelley), male(X), porque shelley tem menos pais do que existem homens na base. Ou seja, o resultado lógico é o mesmo, mas a EFICIÊNCIA depende da ordem, e o programador precisa pensar em como o Prolog executa.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rastreio.pl. (No SWISH, também dá para usar o trace de verdade, como no livro.)</a:t>
            </a:r>
          </a:p>
          <a:p>
            <a:r>
              <a:t>Modelo de rastreamento (p. 704): cada objetivo é uma CAIXA com quatro portas (Figura 16.1):</a:t>
            </a:r>
          </a:p>
          <a:p>
            <a:r>
              <a:t>- CHAMA (call): a tentativa de provar o objetivo começa;</a:t>
            </a:r>
          </a:p>
          <a:p>
            <a:r>
              <a:t>- SAI (exit): o objetivo foi provado;</a:t>
            </a:r>
          </a:p>
          <a:p>
            <a:r>
              <a:t>- REFAZ (redo): o retrocesso volta a este objetivo para buscar outra solução;</a:t>
            </a:r>
          </a:p>
          <a:p>
            <a:r>
              <a:t>- FALHA (fail): não há (mais) solução.</a:t>
            </a:r>
          </a:p>
          <a:p>
            <a:r>
              <a:t>Chamar e sair são como a chamada e o retorno de um subprograma. Refazer e falhar são exclusivos da programação lógica.</a:t>
            </a:r>
          </a:p>
          <a:p>
            <a:r>
              <a:t>O exemplo do livro (p. 705): likes(jake, X), likes(darcie, X). O primeiro gosto de jake é chocolate, e darcie não gosta de chocolate: FALHA. O Prolog REFAZ o primeiro objetivo e obtém apricots, que darcie gosta: X = apricots. A saída de rastreio.pl é exatamente a do livro.</a:t>
            </a:r>
          </a:p>
          <a:p>
            <a:r>
              <a:t>O segundo exemplo (acrescentado, com bob) mostra a falha COMPLETA: depois de esgotar as opções de jake, o primeiro objetivo também falha, e a resposta é no.</a:t>
            </a:r>
          </a:p>
          <a:p>
            <a:r>
              <a:t>O rastreador do arquivo tem 8 linhas e usa só disjunção (;) e fail. É um bom exercício de leitura para quem quiser entender o retrocesso a fundo.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aritmetica.pl.</a:t>
            </a:r>
          </a:p>
          <a:p>
            <a:r>
              <a:t>O ponto mais confuso para quem vem do imperativo:</a:t>
            </a:r>
          </a:p>
          <a:p>
            <a:r>
              <a:t>- "=" é UNIFICAÇÃO, e não atribuição nem comparação numérica. X = 2 + 3 dá X = 2+3: o termo +(2, 3), sem calcular! E 5 = 2 + 3 dá no, porque o número 5 e a estrutura +(2, 3) não casam;</a:t>
            </a:r>
          </a:p>
          <a:p>
            <a:r>
              <a:t>- "is" AVALIA a expressão da direita e unifica com a esquerda (p. 703): X is 2 + 3 dá X = 5. Todas as variáveis da direita precisam estar instanciadas;</a:t>
            </a:r>
          </a:p>
          <a:p>
            <a:r>
              <a:t>- "=:=" compara valores numéricos: 5 =:= 2 + 3 dá yes.</a:t>
            </a:r>
          </a:p>
          <a:p>
            <a:r>
              <a:t>O exemplo do livro (p. 704): distance(X, Y) :- speed(X, Speed), time(X, Time), Y is Speed * Time. distance(chevy, D) dá 2205.</a:t>
            </a:r>
          </a:p>
          <a:p>
            <a:r>
              <a:t>K is K + 1 (questão de revisão 17, p. 719): nunca é útil. Se K não está instanciada, dá erro de instanciação; se está (por exemplo, 5), o is compara 5 com 6 e FALHA. Não há atribuição em Prolog: o valor novo precisa de um NOVO nome (K1 is K + 1), como no fatorial.</a:t>
            </a:r>
          </a:p>
          <a:p>
            <a:r>
              <a:t>Imprecisão do livro (p. 703): ele diz que, se o lado esquerdo já estiver instanciado, a cláusula não será satisfeita. Na verdade, o is COMPARA: X = 3, X is 1 + 2 dá yes, no GNU Prolog e no SWI-Prolog.</a:t>
            </a:r>
          </a:p>
          <a:p>
            <a:r>
              <a:t>Achado ao executar: o GNU Prolog (OneCompiler) usa inteiros de 60 bits e não avisa o estouro. fatorial(20, F) dá 127058998962946048, errado. O SWI-Prolog (SWISH) tem inteiros sem limite e dá 2432902008176640000. Lembre da aula 6: o estouro silencioso também existe fora do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~5 min. DEMONSTRAÇÃO: listas.pl.</a:t>
            </a:r>
          </a:p>
          <a:p>
            <a:r>
              <a:t>Listas (p. 706): a sintaxe de ML e Haskell, [apple, prune, grape]. [] é a lista vazia. [X | Y] separa a CABEÇA (X) da CAUDA (Y), como o CAR e o CDR do Lisp e o (h:t) do Haskell. A mesma notação serve para SEPARAR e para CONSTRUIR listas (p. 707).</a:t>
            </a:r>
          </a:p>
          <a:p>
            <a:r>
              <a:t>append (p. 708): duas cláusulas. Anexar a lista vazia a List dá List. Anexar [Head | List_1] a List_2 dá [Head | List_3], SE List_3 for List_1 anexada a List_2. Parece o append de ML e Scheme, mas é um PREDICADO: não devolve uma lista, responde yes ou no, e o resultado aparece no terceiro parâmetro (p. 708).</a:t>
            </a:r>
          </a:p>
          <a:p>
            <a:r>
              <a:t>A grande diferença (p. 709): append é uma RELAÇÃO, e não uma função. append(X, Y, [a, b, c]) pergunta "quais listas, anexadas, dão [a, b, c]?", e o Prolog enumera as 4 divisões. Não há parâmetro de entrada nem de saída.</a:t>
            </a:r>
          </a:p>
          <a:p>
            <a:r>
              <a:t>list_op_2 (p. 709-710): o livro pergunta o que ela faz. Resposta: INVERTE a lista (é o reverse ingênuo).</a:t>
            </a:r>
          </a:p>
          <a:p>
            <a:r>
              <a:t>member (p. 710): o elemento é a cabeça, ou está na cauda. O "_" é a variável anônima: não nos importa o valor.</a:t>
            </a:r>
          </a:p>
          <a:p>
            <a:r>
              <a:t>No GNU Prolog, append, member e reverse já existem e NÃO podem ser redefinidos ("redefining built-in predicate"). Por isso o arquivo usa anexar e membro. No SWISH, os nomes do livro funcionam.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~10 min. ATIVIDADE em duplas.</a:t>
            </a:r>
          </a:p>
          <a:p>
            <a:r>
              <a:t>pratica.pl roda desde o começo e mostra, para cada relação, o valor obtido e o esperado. Os alunos trocam as linhas marcadas com "complete aqui" (cada relação vai precisar de DUAS cláusulas: a lista vazia e [H | T]) até as três linhas mostrarem ok.</a:t>
            </a:r>
          </a:p>
          <a:p>
            <a:r>
              <a:t>RESOLUÇÃO (também em pratica_resolvida.pl):</a:t>
            </a:r>
          </a:p>
          <a:p>
            <a:r>
              <a:t>tamanho([], 0).</a:t>
            </a:r>
          </a:p>
          <a:p>
            <a:r>
              <a:t>tamanho([_ | T], N) :- tamanho(T, N1), N is N1 + 1.</a:t>
            </a:r>
          </a:p>
          <a:p>
            <a:r>
              <a:t>soma([], 0).</a:t>
            </a:r>
          </a:p>
          <a:p>
            <a:r>
              <a:t>soma([H | T], S) :- soma(T, S1), S is S1 + H.</a:t>
            </a:r>
          </a:p>
          <a:p>
            <a:r>
              <a:t>ultimo([X], X).</a:t>
            </a:r>
          </a:p>
          <a:p>
            <a:r>
              <a:t>ultimo([_ | T], X) :- ultimo(T, X).</a:t>
            </a:r>
          </a:p>
          <a:p>
            <a:r>
              <a:t>Erros comuns: escrever N is N + 1 (não há atribuição, use N1), esquecer o ponto final, e escrever variáveis em minúscula (viram átomos).</a:t>
            </a:r>
          </a:p>
          <a:p>
            <a:r>
              <a:t>Compare com a prática de Scheme da aula 12: a estrutura (caso vazio, depois cabeça e cauda) é a mesma. A diferença é que aqui se descrevem RELAÇÕES. Veja no final de pratica_resolvida.pl: tamanho(L, 2) funciona "ao contrário" e gera uma lista com duas variáveis, [_A, _B].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ordem_e_corte.pl e laco_infinito.pl (que termina com erro de propósito).</a:t>
            </a:r>
          </a:p>
          <a:p>
            <a:r>
              <a:t>Controle da ordem de resolução (p. 711): numa lógica pura, a ordem das tentativas seria não determinística, e tudo poderia ser tentado em paralelo. O Prolog, por eficiência, sempre tenta na mesma ordem. O programador pode (e precisa) usar isso.</a:t>
            </a:r>
          </a:p>
          <a:p>
            <a:r>
              <a:t>A consequência mais grave: a MESMA lógica em outra ordem pode NUNCA TERMINAR. Em laco_infinito.pl, ancestral chama ancestral antes de consultar um fato (recursão à esquerda), e o GNU Prolog termina com "local stack overflow". É o exercício 6.</a:t>
            </a:r>
          </a:p>
          <a:p>
            <a:r>
              <a:t>O CORTE, "!" (p. 711-712): um objetivo que sempre é satisfeito, mas não pode ser refeito no retrocesso. Ele "corta" as alternativas à sua esquerda. Usos:</a:t>
            </a:r>
          </a:p>
          <a:p>
            <a:r>
              <a:t>- eficiência: member com corte para de procurar depois de achar (p. 712). No exemplo, member(X, [a, b, a]) dá a, b, a; membro_corte dá só a;</a:t>
            </a:r>
          </a:p>
          <a:p>
            <a:r>
              <a:t>- GERAR E TESTAR (p. 712-713): divide gera 0, 1, 2, ... com is_integer e testa cada um. O corte no fim impede que se procurem outras respostas, que não existem. Sem ele, pedir todas as respostas NUNCA termina, porque o gerador é infinito. (is_integer não é predefinido; o arquivo o define.)</a:t>
            </a:r>
          </a:p>
          <a:p>
            <a:r>
              <a:t>Crítica (p. 713): o corte já foi comparado ao goto (van Emden, 1980). Ele destrói a principal vantagem da programação lógica, a de não especificar COMO a solução é encontrada.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negacao.pl.</a:t>
            </a:r>
          </a:p>
          <a:p>
            <a:r>
              <a:t>Mundo fechado (p. 713-714): o Prolog só conhece a sua base. O que ele não consegue provar, considera FALSO. Ele é um sistema "verdadeiro/falha", e não "verdadeiro/falso". O livro compara com a justiça: sem prova de culpa, a pessoa é considerada inocente. aluno(carla) dá no, o que não quer dizer que carla não seja aluna: quer dizer que a base não sabe.</a:t>
            </a:r>
          </a:p>
          <a:p>
            <a:r>
              <a:t>Negação (p. 714-715):</a:t>
            </a:r>
          </a:p>
          <a:p>
            <a:r>
              <a:t>- sibling sem negação dá jake irmão de jake. É preciso dizer que X e Y são diferentes: not(X = Y). No padrão ISO, e no GNU Prolog, a negação é \+ (o GNU Prolog não tem not/1; o arquivo o define para seguir o livro);</a:t>
            </a:r>
          </a:p>
          <a:p>
            <a:r>
              <a:t>- a NEGAÇÃO POR FALHA: not(G) é verdadeiro se G NÃO PODE SER PROVADO. Não é o NÃO da lógica;</a:t>
            </a:r>
          </a:p>
          <a:p>
            <a:r>
              <a:t>- consequência (p. 715): not(not(member(X, [mary, fred, barb]))) não é o mesmo que member(...). O X perde a instanciação e aparece como _176;</a:t>
            </a:r>
          </a:p>
          <a:p>
            <a:r>
              <a:t>- mais um efeito: com negação, a ORDEM muda a resposta. X = b, not(X = a) dá X = b; not(X = a), X = b dá no, porque, com X livre, X = a é provável, e o not falha.</a:t>
            </a:r>
          </a:p>
          <a:p>
            <a:r>
              <a:t>Razão de fundo (p. 715): uma cláusula de Horn só permite concluir que A é VERDADEIRO. Nunca se conclui que algo é falso.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 DEMONSTRAÇÃO: ordena_permutando.pl.</a:t>
            </a:r>
          </a:p>
          <a:p>
            <a:r>
              <a:t>Voltamos à ordenação declarativa (p. 695 e 716): "a lista ordenada é uma permutação da original em que cada elemento é menor ou igual ao seguinte". Em Prolog, são 4 linhas, e funcionam: ordena_lento([3, 1, 2], S) dá [1, 2, 3].</a:t>
            </a:r>
          </a:p>
          <a:p>
            <a:r>
              <a:t>O problema (p. 716): o sistema não sabe COMO ordenar. Ele gera permutações, uma de cada vez, até achar uma ordenada. Com a lista em ordem decrescente, a resposta é a ÚLTIMA permutação: n! tentativas.</a:t>
            </a:r>
          </a:p>
          <a:p>
            <a:r>
              <a:t>Medições no OneCompiler (GNU Prolog, 23/09/2026): n = 8, 5 ms; n = 9, 50 ms; n = 10, 511 ms. Cada elemento a mais multiplica o tempo por n. Com n = 15, seriam muitas horas. No SWISH, n = 10 levou 1,6 s. O msort predefinido ordena 10.000 elementos em menos de 1 ms.</a:t>
            </a:r>
          </a:p>
          <a:p>
            <a:r>
              <a:t>Conclusão do livro (p. 716): ninguém descobriu como transformar a DESCRIÇÃO de uma lista ordenada num algoritmo eficiente. Um programa Prolog que ordena precisa descrever o algoritmo, como nas outras linguagens. Mesmo assim, a programação lógica "de forma alguma" deve ser abandonada: ela resolve bem muitos problemas.</a:t>
            </a:r>
          </a:p>
          <a:p>
            <a:r>
              <a:t>Ligação com a prática: um otimizador de SQL faz justamente esse papel, escolher o COMO a partir do O QUÊ, num domínio restrito (junções, índices), e mesmo ele às vezes 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sql_e_datalog.pl e especialista.pl.</a:t>
            </a:r>
          </a:p>
          <a:p>
            <a:r>
              <a:t>Bancos de dados relacionais (p. 716-717): o SQL é não procedural no mesmo sentido do Prolog. Uma tabela vira um conjunto de fatos, e uma consulta com junção vira uma regra (aprovado junta aluno e nota). Vantagem: uma só linguagem, e a DEDUÇÃO já embutida. O SGBD convencional só sabe o que está armazenado; o lógico deduz com regras. Desvantagem: é mais lento.</a:t>
            </a:r>
          </a:p>
          <a:p>
            <a:r>
              <a:t>Datalog: um subconjunto do Prolog (sem estruturas e com execução garantida de terminar), usado em análise de programas (CodeQL, Soufflé) e em bancos de dados. Brilha no FECHO TRANSITIVO: depende_de(app, X) acha todas as dependências, diretas e indiretas. Em SQL, isso exige WITH RECURSIVE. Pergunta útil em engenharia: "se o socket mudar, quem é afetado?", depende_de(Quem, socket).</a:t>
            </a:r>
          </a:p>
          <a:p>
            <a:r>
              <a:t>Sistemas especialistas (p. 717-718): uma base de conhecimento (fatos e regras de um especialista), inferência e explicação. especialista.pl diagnostica um site fora do ar e EXPLICA a conclusão, como o APES citado pelo livro, usado na lei de nacionalidade britânica. Troque os sintomas e execute de novo.</a:t>
            </a:r>
          </a:p>
          <a:p>
            <a:r>
              <a:t>Processamento de linguagem natural (p. 718): gramáticas livres de contexto viram programas lógicos (as DCGs do Prolog), e o encadeamento para trás funciona como analisador sintático. Foi a motivação original do Prolog e o uso no Watson.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 em sala, ou como tarefa. Continua a atividade da aula 12.</a:t>
            </a:r>
          </a:p>
          <a:p>
            <a:r>
              <a:t>Os arquivos de 07_codigo_do_livro reproduzem o texto do livro e falham de propósito. Foram executados no GNU Prolog (OneCompiler) e no SWI-Prolog (SWISH).</a:t>
            </a:r>
          </a:p>
          <a:p>
            <a:r>
              <a:t>Respostas:</a:t>
            </a:r>
          </a:p>
          <a:p>
            <a:r>
              <a:t>- p. 698, a família: o livro ALTERNA female e male. O GNU Prolog descarta sem aviso as cláusulas que não estão juntas: female(X) só dá shelley, e male(X) só dá bill. O SWI-Prolog avisa ("Clauses of female/1 are not together in the source-file") e mantém tudo. É o achado mais perigoso: não há erro, só respostas faltando.</a:t>
            </a:r>
          </a:p>
          <a:p>
            <a:r>
              <a:t>- p. 708, append: no GNU Prolog, "redefining built-in predicate append/3". Solução: outro nome. No SWISH, funciona.</a:t>
            </a:r>
          </a:p>
          <a:p>
            <a:r>
              <a:t>- p. 714, primeiro sibling: sobra um "(" antes de parent. Erro de sintaxe nos dois.</a:t>
            </a:r>
          </a:p>
          <a:p>
            <a:r>
              <a:t>- p. 714, not(X = Y): o GNU Prolog não tem not/1 (erro de ligação, "undefined reference"). A negação ISO é \+. No SWISH, funciona.</a:t>
            </a:r>
          </a:p>
          <a:p>
            <a:r>
              <a:t>- p. 716, sorted: três problemas. O espaço entre o nome e o parêntese, "sorted ([])", é erro de sintaxe; x, y e list em minúsculas são ÁTOMOS, e não variáveis; e "&lt;=" não é operador do Prolog (o certo é "=&lt;").</a:t>
            </a:r>
          </a:p>
          <a:p>
            <a:r>
              <a:t>- p. 703: o livro diz que "is" com o lado esquerdo instanciado não é satisfeito, mas ele compara: X = 3, X is 1 + 2 dá yes.</a:t>
            </a:r>
          </a:p>
          <a:p>
            <a:r>
              <a:t>Lição (a mesma da aula 12): teste o código de qualquer fonte. E as implementações de uma mesma linguagem DIFEREM.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5 a 10 min. Em duplas. Pode valer como atividade avaliativa em sala. Os arquivos q1.pl a q6.pl (08_exercicio) executam cada item no OneCompiler ou no SWISH.</a:t>
            </a:r>
          </a:p>
          <a:p>
            <a:r>
              <a:t>Para cada item: (a) o que o Prolog responde? (b) qual regra explica?</a:t>
            </a:r>
          </a:p>
          <a:p/>
          <a:p>
            <a:r>
              <a:t>GABARITO:</a:t>
            </a:r>
          </a:p>
          <a:p>
            <a:r>
              <a:t>1) X = a, Y = b. A unificação casa os dois termos posição por posição: X com a, b com Y. No segundo, no: X teria de ser a e b ao mesmo tempo.</a:t>
            </a:r>
          </a:p>
          <a:p>
            <a:r>
              <a:t>2) X = 2+3 (o termo, sem calcular: = é unificação); X = 5 (is avalia); no (o número 5 não casa com a estrutura +(2, 3); para comparar valores, use =:=).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GABARITO:</a:t>
            </a:r>
          </a:p>
          <a:p>
            <a:r>
              <a:t>3) F = maca; F = morango. Nessa ordem: a busca é sempre da primeira para a última cláusula (p. 703). banana não casa com vermelha.</a:t>
            </a:r>
          </a:p>
          <a:p>
            <a:r>
              <a:t>4) H = a, T = [b, c]. A cauda é sempre uma LISTA. No segundo: A = 1, B = 2, R = []. A cauda pode ser a lista vazia.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GABARITO:</a:t>
            </a:r>
          </a:p>
          <a:p>
            <a:r>
              <a:t>5) yes: não se prova que bruno gosta de prolog, então o \+ é satisfeito (MUNDO FECHADO: não quer dizer que bruno não goste). No segundo: no. Existe alguém (ana) que gosta, então gosta(X, prolog) é provado e o \+ falha. Não é "quem não gosta de prolog?": a negação por falha não gera valores para X.</a:t>
            </a:r>
          </a:p>
          <a:p>
            <a:r>
              <a:t>6) Nunca responde: laço infinito até estourar a pilha ("local stack overflow" no GNU Prolog). A primeira cláusula chama ancestral de novo ANTES de consultar qualquer fato. É a mesma lógica de ordem_e_corte.pl em outra ordem (p. 711).</a:t>
            </a:r>
          </a:p>
          <a:p>
            <a:r>
              <a:t>Fechamento: quais respostas surpreenderam quem vem do Java (2, 5 e 6)? Todas vêm de o Prolog ser uma BUSCA com regras fixas, e não uma avaliação de expressões.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~7 min. FECHAMENTO DO BIMESTRE.</a:t>
            </a:r>
          </a:p>
          <a:p>
            <a:r>
              <a:t>Os quatro grandes paradigmas, pelo que o programador DESCREVE:</a:t>
            </a:r>
          </a:p>
          <a:p>
            <a:r>
              <a:t>- IMPERATIVO: a sequência de passos que altera o estado (variáveis, atribuição, laços). Nasceu da arquitetura de von Neumann (Cap. 1). Fortran, C, Go;</a:t>
            </a:r>
          </a:p>
          <a:p>
            <a:r>
              <a:t>- ORIENTADO A OBJETOS: objetos que guardam estado e trocam mensagens, com encapsulamento, herança e despacho dinâmico (aula 9, Cap. 12). É uma forma de ORGANIZAR programas imperativos. Smalltalk, Java, C#;</a:t>
            </a:r>
          </a:p>
          <a:p>
            <a:r>
              <a:t>- FUNCIONAL: funções que transformam valores, sem efeitos colaterais (aula 12). Lisp, Scheme, ML, Haskell, F#, Elixir;</a:t>
            </a:r>
          </a:p>
          <a:p>
            <a:r>
              <a:t>- LÓGICO: fatos e regras, e o sistema busca as respostas (esta aula). Prolog, Datalog; e o SQL como parente declarativo.</a:t>
            </a:r>
          </a:p>
          <a:p>
            <a:r>
              <a:t>No centro, a realidade de hoje: as linguagens mais usadas são MULTIPARADIGMA. Python, JavaScript, Kotlin, Scala, C#, Rust e o próprio Java moderno misturam imperativo, OO e funcional. Rust, por exemplo, tem structs e traits (OO sem herança), closures e iteradores (funcional) e controle de memória de baixo nível (imperativo).</a:t>
            </a:r>
          </a:p>
          <a:p>
            <a:r>
              <a:t>Pergunta para a turma: em que paradigma estava o último código que você escreveu? Provavelmente em três ao mesmo tempo.</a:t>
            </a:r>
          </a:p>
          <a:p>
            <a:r>
              <a:t>Mensagem final: saber os paradigmas não é decorar linguagens. É ter mais FORMAS DE PENSAR um problema, e escolher a melhor para cada parte do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~5 min. Revisão rápida, que pode servir de roteiro de estudo para a prova.</a:t>
            </a:r>
          </a:p>
          <a:p>
            <a:r>
              <a:t>Para cada aula, a pergunta de projeto central (a coluna do meio) é o que vale a pena lembrar. As linguagens mudam; as perguntas ficam.</a:t>
            </a:r>
          </a:p>
          <a:p>
            <a:r>
              <a:t>Sugestão: peça para cada dupla escolher uma linha e dar um exemplo, em uma linguagem que usa no trabalho ou em projetos, de onde aquela decisão de projeto aparece.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~1 min.</a:t>
            </a:r>
          </a:p>
          <a:p>
            <a:r>
              <a:t>Sugestão de entrega (pode compor a Atividade de Estudo Programada): o sistema especialista, com as regras comentadas e as consultas de teste. Um bom tema é "pré-requisitos de disciplinas": pode_cursar(Aluno, Disciplina) a partir de cursou/2 e requisito/2, com recursão para os pré-requisitos indiretos, que é o fecho transitivo do Datalog.</a:t>
            </a:r>
          </a:p>
          <a:p>
            <a:r>
              <a:t>Destaques:</a:t>
            </a:r>
          </a:p>
          <a:p>
            <a:r>
              <a:t>- forma clausal: todo o cálculo de predicados pode ser convertido (Nilsson, 1971), e a forma normal de Skolem, pedida nos exercícios da p. 721, elimina os quantificadores existenciais;</a:t>
            </a:r>
          </a:p>
          <a:p>
            <a:r>
              <a:t>- quebra_cabeca.pl usa gerar e testar com permutation; com mais pessoas e pistas, dá para comparar o tempo com e sem uma boa ordem dos testes;</a:t>
            </a:r>
          </a:p>
          <a:p>
            <a:r>
              <a:t>- CodeQL: vale abrir a documentação e ver uma consulta real (por exemplo, "dados da entrada que chegam a uma consulta SQL sem tratamento", ou seja, injeção de SQL).</a:t>
            </a:r>
          </a:p>
          <a:p>
            <a:r>
              <a:t>Encerramento do bimestre: agradeça e reforce que os exemplos de todas as aulas (Aula006 a Aula013) rodam no navegador para estudo.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1">
          <a:solidFill>
            <a:srgbClr val="1F2937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59" y="1828800"/>
            <a:ext cx="10545775" cy="1280160"/>
          </a:xfrm>
        </p:spPr>
        <p:txBody>
          <a:bodyPr/>
          <a:lstStyle/>
          <a:p>
            <a:pPr algn="l"/>
            <a:r>
              <a:rPr sz="4800" b="1">
                <a:solidFill>
                  <a:srgbClr val="1F2937"/>
                </a:solidFill>
              </a:rPr>
              <a:t>Paradigma Lógico e Fechamento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59" y="3246120"/>
            <a:ext cx="10545775" cy="2011680"/>
          </a:xfrm>
        </p:spPr>
        <p:txBody>
          <a:bodyPr/>
          <a:lstStyle/>
          <a:p>
            <a:pPr algn="l">
              <a:spcAft>
                <a:spcPts val="600"/>
              </a:spcAft>
            </a:pPr>
            <a:r>
              <a:rPr sz="2400">
                <a:solidFill>
                  <a:srgbClr val="1F2937"/>
                </a:solidFill>
              </a:rPr>
              <a:t>Aula 13 · Paradigmas de Linguagens de Programação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667085"/>
                </a:solidFill>
              </a:rPr>
              <a:t>Engenharia de Software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667085"/>
                </a:solidFill>
              </a:rPr>
              <a:t>Referência: Sebesta, Conceitos de Linguagens de Programação, 11ª ed., Cap. 16 (p. 687-721)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e ligação com o mundo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Cap. 16 · p. 687-721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766E"/>
                </a:solidFill>
              </a:rPr>
              <a:t>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21208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937"/>
                </a:solidFill>
              </a:rPr>
              <a:t>O objetivo desta aula é conhecer a programação </a:t>
            </a:r>
            <a:r>
              <a:rPr sz="2000" b="1">
                <a:solidFill>
                  <a:srgbClr val="1F2937"/>
                </a:solidFill>
              </a:rPr>
              <a:t>declarativa</a:t>
            </a:r>
            <a:r>
              <a:rPr sz="2000" b="0">
                <a:solidFill>
                  <a:srgbClr val="1F2937"/>
                </a:solidFill>
              </a:rPr>
              <a:t>: descrever </a:t>
            </a:r>
            <a:r>
              <a:rPr sz="2000" b="1">
                <a:solidFill>
                  <a:srgbClr val="1F2937"/>
                </a:solidFill>
              </a:rPr>
              <a:t>o que é verdade</a:t>
            </a:r>
            <a:r>
              <a:rPr sz="2000" b="0">
                <a:solidFill>
                  <a:srgbClr val="1F2937"/>
                </a:solidFill>
              </a:rPr>
              <a:t>, com fatos e regras, e deixar o sistema </a:t>
            </a:r>
            <a:r>
              <a:rPr sz="2000" b="1">
                <a:solidFill>
                  <a:srgbClr val="1F2937"/>
                </a:solidFill>
              </a:rPr>
              <a:t>descobrir como</a:t>
            </a:r>
            <a:r>
              <a:rPr sz="2000" b="0">
                <a:solidFill>
                  <a:srgbClr val="1F2937"/>
                </a:solidFill>
              </a:rPr>
              <a:t> chegar à resposta. É a mesma ideia do SQL, dos motores de regras e das ferramentas de análise de código.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Para o engenheiro de software, isso significa: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521208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reconhecer problemas que são mais bem descritos por regras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entender por que um SELECT não diz como buscar os dados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fechar o bimestre com um mapa dos paradigmas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546811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B42318"/>
                </a:solidFill>
              </a:rPr>
              <a:t>Lógica em produção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468112" cy="1325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1986 · Lei de nacionalidade britânica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A lei foi escrita como um programa lógico, que dizia quem era cidadão e explicava por quê (p. 718).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291839"/>
            <a:ext cx="5468112" cy="1325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2011 · IBM Watson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O sistema que venceu o programa de perguntas Jeopardy! usou Prolog para analisar as perguntas.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54879"/>
            <a:ext cx="5468112" cy="1325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Hoje · CodeQL (GitHub)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Falhas de segurança são procuradas no código com consultas em uma linguagem derivada do Datalog.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Roteiro da aula (80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Planejamento do Encontro 8 · Sebesta Cap. 16</a:t>
            </a:r>
          </a:p>
        </p:txBody>
      </p:sp>
      <p:sp>
        <p:nvSpPr>
          <p:cNvPr id="4" name="Oval 3"/>
          <p:cNvSpPr/>
          <p:nvPr/>
        </p:nvSpPr>
        <p:spPr>
          <a:xfrm>
            <a:off x="1200881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207257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0-15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Lógica e cláusulas de Horn</a:t>
            </a:r>
          </a:p>
        </p:txBody>
      </p:sp>
      <p:sp>
        <p:nvSpPr>
          <p:cNvPr id="6" name="Oval 5"/>
          <p:cNvSpPr/>
          <p:nvPr/>
        </p:nvSpPr>
        <p:spPr>
          <a:xfrm>
            <a:off x="3456340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4099" y="2834640"/>
            <a:ext cx="207257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15-35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Prolog: fatos, regras e consultas</a:t>
            </a:r>
          </a:p>
        </p:txBody>
      </p:sp>
      <p:sp>
        <p:nvSpPr>
          <p:cNvPr id="8" name="Oval 7"/>
          <p:cNvSpPr/>
          <p:nvPr/>
        </p:nvSpPr>
        <p:spPr>
          <a:xfrm>
            <a:off x="5711799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59558" y="2834640"/>
            <a:ext cx="207257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35-55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Laboratório: inferência e listas</a:t>
            </a:r>
          </a:p>
        </p:txBody>
      </p:sp>
      <p:sp>
        <p:nvSpPr>
          <p:cNvPr id="10" name="Oval 9"/>
          <p:cNvSpPr/>
          <p:nvPr/>
        </p:nvSpPr>
        <p:spPr>
          <a:xfrm>
            <a:off x="7967258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017" y="2834640"/>
            <a:ext cx="207257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55-65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Deficiências e aplicações</a:t>
            </a:r>
          </a:p>
        </p:txBody>
      </p:sp>
      <p:sp>
        <p:nvSpPr>
          <p:cNvPr id="12" name="Oval 11"/>
          <p:cNvSpPr/>
          <p:nvPr/>
        </p:nvSpPr>
        <p:spPr>
          <a:xfrm>
            <a:off x="10222717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70476" y="2834640"/>
            <a:ext cx="207257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65-80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Fechamento: mapa dos paradigmas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Tipo de aula:</a:t>
            </a:r>
            <a:r>
              <a:rPr sz="1700" b="0">
                <a:solidFill>
                  <a:srgbClr val="1F2937"/>
                </a:solidFill>
              </a:rPr>
              <a:t> exploratória, em laboratório: SWISH (interativo) ou OneCompiler (GNU Prolog).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Exemplos:</a:t>
            </a:r>
            <a:r>
              <a:rPr sz="1700" b="0">
                <a:solidFill>
                  <a:srgbClr val="1F2937"/>
                </a:solidFill>
              </a:rPr>
              <a:t> pasta </a:t>
            </a:r>
            <a:r>
              <a:rPr sz="1564" b="0">
                <a:solidFill>
                  <a:srgbClr val="1F2937"/>
                </a:solidFill>
                <a:latin typeface="Consolas"/>
              </a:rPr>
              <a:t>exemplos/</a:t>
            </a:r>
            <a:r>
              <a:rPr sz="1700" b="0">
                <a:solidFill>
                  <a:srgbClr val="1F2937"/>
                </a:solidFill>
              </a:rPr>
              <a:t>, na ordem dos slides. Todos rodam no navegador em </a:t>
            </a:r>
            <a:r>
              <a:rPr sz="1700" b="1">
                <a:solidFill>
                  <a:srgbClr val="1F2937"/>
                </a:solidFill>
              </a:rPr>
              <a:t>onecompiler.com</a:t>
            </a:r>
            <a:r>
              <a:rPr sz="1700" b="0">
                <a:solidFill>
                  <a:srgbClr val="1F2937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Declarativo × procedural: dizer o que, e não como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§16.1 e §16.4 · p. 688 e 694-696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394960" cy="246888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2318"/>
                </a:solidFill>
              </a:rPr>
              <a:t>Procedural (imperativo e funcional)</a:t>
            </a:r>
          </a:p>
          <a:p>
            <a:pPr algn="l" marL="256032" indent="-219456"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Diz </a:t>
            </a:r>
            <a:r>
              <a:rPr sz="1700" b="1">
                <a:solidFill>
                  <a:srgbClr val="1F2937"/>
                </a:solidFill>
              </a:rPr>
              <a:t>como</a:t>
            </a:r>
            <a:r>
              <a:rPr sz="1700" b="0">
                <a:solidFill>
                  <a:srgbClr val="1F2937"/>
                </a:solidFill>
              </a:rPr>
              <a:t> calcular, passo a passo.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Ordenar = escrever um algoritmo de ordenação.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325880"/>
            <a:ext cx="5394960" cy="2468880"/>
          </a:xfrm>
          <a:prstGeom prst="roundRect">
            <a:avLst>
              <a:gd name="adj" fmla="val 7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67647"/>
                </a:solidFill>
              </a:rPr>
              <a:t>Declarativo (lógico)</a:t>
            </a:r>
          </a:p>
          <a:p>
            <a:pPr algn="l" marL="256032" indent="-219456"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Diz </a:t>
            </a:r>
            <a:r>
              <a:rPr sz="1700" b="1">
                <a:solidFill>
                  <a:srgbClr val="1F2937"/>
                </a:solidFill>
              </a:rPr>
              <a:t>o que</a:t>
            </a:r>
            <a:r>
              <a:rPr sz="1700" b="0">
                <a:solidFill>
                  <a:srgbClr val="1F2937"/>
                </a:solidFill>
              </a:rPr>
              <a:t> é verdade: fatos e regras.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O sistema </a:t>
            </a:r>
            <a:r>
              <a:rPr sz="1700" b="1">
                <a:solidFill>
                  <a:srgbClr val="1F2937"/>
                </a:solidFill>
              </a:rPr>
              <a:t>procura</a:t>
            </a:r>
            <a:r>
              <a:rPr sz="1700" b="0">
                <a:solidFill>
                  <a:srgbClr val="1F2937"/>
                </a:solidFill>
              </a:rPr>
              <a:t> a resposta (resolução).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Ordenar, na forma declarativa (p. 695):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34840"/>
            <a:ext cx="11094415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F2937"/>
                </a:solidFill>
                <a:latin typeface="Cambria Math"/>
              </a:rPr>
              <a:t>sort(old, new) ⊂ permute(old, new) ∧ sorted(new)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67085"/>
                </a:solidFill>
              </a:rPr>
              <a:t>"new é uma permutação de old, e cada elemento de new é ≤ o seguinte"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Cálculo de predicados: proposições, conectores e quantificadores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§16.2.1 · p. 689-691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5577840" cy="358444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03120"/>
                <a:gridCol w="1097280"/>
                <a:gridCol w="237744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</a:rPr>
                        <a:t>Conector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</a:rPr>
                        <a:t>Símbolo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</a:rPr>
                        <a:t>Significado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negação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Cambria Math"/>
                        </a:rPr>
                        <a:t>¬ 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não 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conjunção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Cambria Math"/>
                        </a:rPr>
                        <a:t>a ∧ b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a e b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disjunção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Cambria Math"/>
                        </a:rPr>
                        <a:t>a ∨ b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a ou b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equivalência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Cambria Math"/>
                        </a:rPr>
                        <a:t>a ≡ b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a equivale a b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implicação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Cambria Math"/>
                        </a:rPr>
                        <a:t>a ⊃ b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a implica b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/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  <a:latin typeface="Cambria Math"/>
                        </a:rPr>
                        <a:t>a ⊂ b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b implica 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629400" y="1325880"/>
            <a:ext cx="5010912" cy="21031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</a:rPr>
              <a:t>Proposição atômica (p. 689)</a:t>
            </a:r>
          </a:p>
          <a:p>
            <a:pPr algn="l">
              <a:spcAft>
                <a:spcPts val="300"/>
              </a:spcAft>
            </a:pPr>
            <a:r>
              <a:rPr sz="2000" b="0">
                <a:solidFill>
                  <a:srgbClr val="1F2937"/>
                </a:solidFill>
                <a:latin typeface="Consolas"/>
              </a:rPr>
              <a:t>man(jake)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onsolas"/>
              </a:rPr>
              <a:t>like(bob, steak)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67085"/>
                </a:solidFill>
              </a:rPr>
              <a:t>functor + parâmetros: uma "linha" da relação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3611880"/>
            <a:ext cx="5010912" cy="246888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</a:rPr>
              <a:t>Quantificadores (p. 690-691)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1F2937"/>
                </a:solidFill>
                <a:latin typeface="Cambria Math"/>
              </a:rPr>
              <a:t>∀X.(mulher(X) ⊃ humano(X))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67085"/>
                </a:solidFill>
              </a:rPr>
              <a:t>toda mulher é humana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1F2937"/>
                </a:solidFill>
                <a:latin typeface="Cambria Math"/>
              </a:rPr>
              <a:t>∃X.(mãe(mary, X) ∧ homem(X))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67085"/>
                </a:solidFill>
              </a:rPr>
              <a:t>mary tem um filho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 clausal e cláusulas de Horn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§16.2.2 e §16.3 · p. 691-694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11887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766E"/>
                </a:solidFill>
              </a:rPr>
              <a:t>Forma clausal (p. 691)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1F2937"/>
                </a:solidFill>
                <a:latin typeface="Cambria Math"/>
              </a:rPr>
              <a:t>B₁ ∨ B₂ ∨ … ∨ Bₙ  ⊂  A₁ ∧ A₂ ∧ … ∧ Aₘ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67085"/>
                </a:solidFill>
              </a:rPr>
              <a:t>consequente à esquerda, antecedente à direita: se todos os A são verdadeiros, pelo menos um B é verdadeiro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5394960" cy="132588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F766E"/>
                </a:solidFill>
              </a:rPr>
              <a:t>Horn com cabeça = regra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mbria Math"/>
              </a:rPr>
              <a:t>likes(bob, trout) ⊂ likes(bob, fish) ∧ fish(trout)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2743200"/>
            <a:ext cx="5394960" cy="132588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F766E"/>
                </a:solidFill>
              </a:rPr>
              <a:t>Horn sem cabeça = fato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mbria Math"/>
              </a:rPr>
              <a:t>father(bob, jake)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46120" y="4114800"/>
            <a:ext cx="0" cy="32004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942832" y="4114800"/>
            <a:ext cx="0" cy="32004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4480560"/>
            <a:ext cx="5394960" cy="777240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likes(bob, trout) :- likes(bob, fish), fish(trout).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4480560"/>
            <a:ext cx="5394960" cy="777240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father(bob, jake).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440680"/>
            <a:ext cx="11094415" cy="6400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Em Prolog: a implicação vira </a:t>
            </a:r>
            <a:r>
              <a:rPr sz="1472" b="0">
                <a:solidFill>
                  <a:srgbClr val="1F2937"/>
                </a:solidFill>
                <a:latin typeface="Consolas"/>
              </a:rPr>
              <a:t>:-</a:t>
            </a:r>
            <a:r>
              <a:rPr sz="1600" b="0">
                <a:solidFill>
                  <a:srgbClr val="1F2937"/>
                </a:solidFill>
              </a:rPr>
              <a:t>, a conjunção vira a vírgula, e cada sentença termina com ponto.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Prova de teoremas: resolução e unificação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§16.3 · p. 692-694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6751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Resolução: o termo comum é cancelado (p. 692-693)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6675120" cy="6400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mbria Math"/>
              </a:rPr>
              <a:t>older(joanne, jake) ⊂ mother(joanne, jake)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7480"/>
            <a:ext cx="6675120" cy="6400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mbria Math"/>
              </a:rPr>
              <a:t>wiser(joanne, jake) ⊂ older(joanne, jake)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66160"/>
            <a:ext cx="6675120" cy="640080"/>
          </a:xfrm>
          <a:prstGeom prst="roundRect">
            <a:avLst>
              <a:gd name="adj" fmla="val 7000"/>
            </a:avLst>
          </a:prstGeom>
          <a:solidFill>
            <a:srgbClr val="E7F6E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mbria Math"/>
              </a:rPr>
              <a:t>wiser(joanne, jake) ⊂ mother(joanne, jake)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86200" y="3355848"/>
            <a:ext cx="0" cy="192024"/>
          </a:xfrm>
          <a:prstGeom prst="line">
            <a:avLst/>
          </a:prstGeom>
          <a:ln w="38100">
            <a:solidFill>
              <a:srgbClr val="06764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4434840"/>
            <a:ext cx="6675120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F2937"/>
                </a:solidFill>
              </a:rPr>
              <a:t>Prova por contradição (p. 693-694)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Nega-se o teorema e procura-se uma </a:t>
            </a:r>
            <a:r>
              <a:rPr sz="1600" b="1">
                <a:solidFill>
                  <a:srgbClr val="1F2937"/>
                </a:solidFill>
              </a:rPr>
              <a:t>inconsistência</a:t>
            </a:r>
            <a:r>
              <a:rPr sz="1600" b="0">
                <a:solidFill>
                  <a:srgbClr val="1F2937"/>
                </a:solidFill>
              </a:rPr>
              <a:t> com as hipóteses. Se ela existir, a resolução encontra.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325880"/>
            <a:ext cx="41422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Unificação (p. 693)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achar valores que façam os termos casarem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487168"/>
            <a:ext cx="41422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Instanciação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a atribuição temporária de um valor a uma variável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48456"/>
            <a:ext cx="41422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Retrocesso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se não deu certo, volta e tenta outro valor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4809744"/>
            <a:ext cx="41422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Custo (p. 694)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pode ser imenso: daí as cláusulas de Horn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Prolog: origem e termos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§16.5 e §16.6.1 · p. 696-697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283464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03120"/>
                <a:gridCol w="3108960"/>
                <a:gridCol w="3291840"/>
                <a:gridCol w="258775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</a:rPr>
                        <a:t>Termo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</a:rPr>
                        <a:t>Regra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</a:rPr>
                        <a:t>Exemplos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</a:rPr>
                        <a:t>Observação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Átomo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começa com minúscula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jake</a:t>
                      </a:r>
                      <a:r>
                        <a:rPr sz="1600" b="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shelley</a:t>
                      </a:r>
                      <a:r>
                        <a:rPr sz="1600" b="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'Maria'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constante simbólica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Número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inteiro ou real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42</a:t>
                      </a:r>
                      <a:r>
                        <a:rPr sz="1600" b="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3.14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constante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Variável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começa com </a:t>
                      </a:r>
                      <a:r>
                        <a:rPr sz="1600" b="1">
                          <a:solidFill>
                            <a:srgbClr val="1F2937"/>
                          </a:solidFill>
                        </a:rPr>
                        <a:t>maiúscula</a:t>
                      </a:r>
                      <a:r>
                        <a:rPr sz="1600" b="0">
                          <a:solidFill>
                            <a:srgbClr val="1F2937"/>
                          </a:solidFill>
                        </a:rPr>
                        <a:t> ou </a:t>
                      </a:r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_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X</a:t>
                      </a:r>
                      <a:r>
                        <a:rPr sz="1600" b="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Pessoa</a:t>
                      </a:r>
                      <a:r>
                        <a:rPr sz="1600" b="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_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sem tipo e sem atribuição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Estrutura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functor(parâmetros)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father(bill, jake)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proposição atômica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343400"/>
            <a:ext cx="5394960" cy="17373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Origem (p. 696)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Colmerauer e Roussel (Marselha) com Kowalski (Edimburgo), início dos anos 1970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4343400"/>
            <a:ext cx="5394960" cy="17373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1981: Quinta Geração (p. 696)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o Japão apostou no Prolog para a IA; o projeto foi abandonado dez anos depois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Fatos, regras e consultas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§16.6.2-16.6.4 · p. 697-700 · exemplos/01_familia/familia.pl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94360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Prolog · familia.pl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594360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father(bill, jake).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% fatos (p. 698)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father(bill, shelley).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father(jake, tom).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% + (acrescentado)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mother(mary, jake).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mother(mary, shelley).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mother(shelley, ana).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% + (acrescentado)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parent(X, Y) :- mother(X, Y).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% regras (p. 699)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parent(X, Y) :- father(X, Y).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grandparent(X, Z) :- parent(X, Y), parent(Y, Z).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ancestor(X, Y) :- parent(X, Y).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% recursão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ancestor(X, Y) :- parent(X, Z), ancestor(Z, 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325880"/>
            <a:ext cx="487375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67647"/>
                </a:solidFill>
              </a:rPr>
              <a:t>Consultas e respostas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673352"/>
            <a:ext cx="4873752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?- father(bill, jake).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yes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?- father(X, jake).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X = bill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?- parent(X, shelley).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X = mary 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X = bill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?- grandparent(G, ana).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G = mary 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G = bill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?- ancestor(A, tom).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A = jake 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A = mary 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A = bill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Laboratório 1: a família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exemplos/01_familia/familia.pl · SWISH ou OneCompiler · 10 min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35607"/>
            <a:ext cx="640080" cy="64008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6583680" cy="8686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</a:rPr>
              <a:t>Consulte</a:t>
            </a:r>
          </a:p>
          <a:p>
            <a:pPr algn="l">
              <a:spcAft>
                <a:spcPts val="400"/>
              </a:spcAft>
            </a:pPr>
            <a:r>
              <a:rPr sz="1472" b="0">
                <a:solidFill>
                  <a:srgbClr val="1F2937"/>
                </a:solidFill>
                <a:latin typeface="Consolas"/>
              </a:rPr>
              <a:t>mother(M, ana).</a:t>
            </a:r>
            <a:r>
              <a:rPr sz="1600" b="0">
                <a:solidFill>
                  <a:srgbClr val="1F2937"/>
                </a:solidFill>
              </a:rPr>
              <a:t> e </a:t>
            </a:r>
            <a:r>
              <a:rPr sz="1472" b="0">
                <a:solidFill>
                  <a:srgbClr val="1F2937"/>
                </a:solidFill>
                <a:latin typeface="Consolas"/>
              </a:rPr>
              <a:t>female(X).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77440"/>
            <a:ext cx="640080" cy="64008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67712"/>
            <a:ext cx="6583680" cy="8686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</a:rPr>
              <a:t>Retrocesso</a:t>
            </a:r>
          </a:p>
          <a:p>
            <a:pPr algn="l">
              <a:spcAft>
                <a:spcPts val="400"/>
              </a:spcAft>
            </a:pPr>
            <a:r>
              <a:rPr sz="1472" b="0">
                <a:solidFill>
                  <a:srgbClr val="1F2937"/>
                </a:solidFill>
                <a:latin typeface="Consolas"/>
              </a:rPr>
              <a:t>male(X), parent(X, shelley).</a:t>
            </a:r>
            <a:r>
              <a:rPr sz="1600" b="0">
                <a:solidFill>
                  <a:srgbClr val="1F2937"/>
                </a:solidFill>
              </a:rPr>
              <a:t>: quantas tentativas? (p. 702)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319272"/>
            <a:ext cx="640080" cy="64008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9544"/>
            <a:ext cx="6583680" cy="8686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</a:rPr>
              <a:t>Surpresa</a:t>
            </a:r>
          </a:p>
          <a:p>
            <a:pPr algn="l">
              <a:spcAft>
                <a:spcPts val="400"/>
              </a:spcAft>
            </a:pPr>
            <a:r>
              <a:rPr sz="1472" b="0">
                <a:solidFill>
                  <a:srgbClr val="1F2937"/>
                </a:solidFill>
                <a:latin typeface="Consolas"/>
              </a:rPr>
              <a:t>sibling(jake, S).</a:t>
            </a:r>
            <a:r>
              <a:rPr sz="1600" b="0">
                <a:solidFill>
                  <a:srgbClr val="1F2937"/>
                </a:solidFill>
              </a:rPr>
              <a:t>: por que </a:t>
            </a:r>
            <a:r>
              <a:rPr sz="1472" b="0">
                <a:solidFill>
                  <a:srgbClr val="1F2937"/>
                </a:solidFill>
                <a:latin typeface="Consolas"/>
              </a:rPr>
              <a:t>shelley</a:t>
            </a:r>
            <a:r>
              <a:rPr sz="1600" b="0">
                <a:solidFill>
                  <a:srgbClr val="1F2937"/>
                </a:solidFill>
              </a:rPr>
              <a:t> aparece duas vezes?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261104"/>
            <a:ext cx="640080" cy="64008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151376"/>
            <a:ext cx="6583680" cy="8686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</a:rPr>
              <a:t>Escreva uma regra</a:t>
            </a:r>
          </a:p>
          <a:p>
            <a:pPr algn="l">
              <a:spcAft>
                <a:spcPts val="400"/>
              </a:spcAft>
            </a:pPr>
            <a:r>
              <a:rPr sz="1472" b="0">
                <a:solidFill>
                  <a:srgbClr val="1F2937"/>
                </a:solidFill>
                <a:latin typeface="Consolas"/>
              </a:rPr>
              <a:t>uncle(X, Y)</a:t>
            </a:r>
            <a:r>
              <a:rPr sz="1600" b="0">
                <a:solidFill>
                  <a:srgbClr val="1F2937"/>
                </a:solidFill>
              </a:rPr>
              <a:t>: X é tio de Y. Teste </a:t>
            </a:r>
            <a:r>
              <a:rPr sz="1472" b="0">
                <a:solidFill>
                  <a:srgbClr val="1F2937"/>
                </a:solidFill>
                <a:latin typeface="Consolas"/>
              </a:rPr>
              <a:t>uncle(jake, ana).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2936"/>
            <a:ext cx="640080" cy="64008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93208"/>
            <a:ext cx="6583680" cy="8686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</a:rPr>
              <a:t>Desafio</a:t>
            </a:r>
          </a:p>
          <a:p>
            <a:pPr algn="l">
              <a:spcAft>
                <a:spcPts val="400"/>
              </a:spcAft>
            </a:pPr>
            <a:r>
              <a:rPr sz="1472" b="0">
                <a:solidFill>
                  <a:srgbClr val="1F2937"/>
                </a:solidFill>
                <a:latin typeface="Consolas"/>
              </a:rPr>
              <a:t>cousin(X, Y)</a:t>
            </a:r>
            <a:r>
              <a:rPr sz="1600" b="0">
                <a:solidFill>
                  <a:srgbClr val="1F2937"/>
                </a:solidFill>
              </a:rPr>
              <a:t> (primos). </a:t>
            </a:r>
            <a:r>
              <a:rPr sz="1472" b="0">
                <a:solidFill>
                  <a:srgbClr val="1F2937"/>
                </a:solidFill>
                <a:latin typeface="Consolas"/>
              </a:rPr>
              <a:t>tom</a:t>
            </a:r>
            <a:r>
              <a:rPr sz="1600" b="0">
                <a:solidFill>
                  <a:srgbClr val="1F2937"/>
                </a:solidFill>
              </a:rPr>
              <a:t> e </a:t>
            </a:r>
            <a:r>
              <a:rPr sz="1472" b="0">
                <a:solidFill>
                  <a:srgbClr val="1F2937"/>
                </a:solidFill>
                <a:latin typeface="Consolas"/>
              </a:rPr>
              <a:t>ana</a:t>
            </a:r>
            <a:r>
              <a:rPr sz="1600" b="0">
                <a:solidFill>
                  <a:srgbClr val="1F2937"/>
                </a:solidFill>
              </a:rPr>
              <a:t> são primos?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502152" cy="475488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F766E"/>
                </a:solidFill>
              </a:rPr>
              <a:t>Onde executar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2937"/>
                </a:solidFill>
              </a:rPr>
              <a:t>SWISH</a:t>
            </a:r>
            <a:r>
              <a:rPr sz="1500" b="0">
                <a:solidFill>
                  <a:srgbClr val="1F2937"/>
                </a:solidFill>
              </a:rPr>
              <a:t> (swish.swi-prolog.org): </a:t>
            </a:r>
            <a:r>
              <a:rPr sz="1500" b="1">
                <a:solidFill>
                  <a:srgbClr val="1F2937"/>
                </a:solidFill>
              </a:rPr>
              <a:t>+</a:t>
            </a:r>
            <a:r>
              <a:rPr sz="1500" b="0">
                <a:solidFill>
                  <a:srgbClr val="1F2937"/>
                </a:solidFill>
              </a:rPr>
              <a:t>, </a:t>
            </a:r>
            <a:r>
              <a:rPr sz="1500" b="1">
                <a:solidFill>
                  <a:srgbClr val="1F2937"/>
                </a:solidFill>
              </a:rPr>
              <a:t>Program</a:t>
            </a:r>
            <a:r>
              <a:rPr sz="1500" b="0">
                <a:solidFill>
                  <a:srgbClr val="1F2937"/>
                </a:solidFill>
              </a:rPr>
              <a:t>, cole o arquivo, digite a consulta e clique em </a:t>
            </a:r>
            <a:r>
              <a:rPr sz="1500" b="1">
                <a:solidFill>
                  <a:srgbClr val="1F2937"/>
                </a:solidFill>
              </a:rPr>
              <a:t>Run!</a:t>
            </a:r>
            <a:r>
              <a:rPr sz="1500" b="0">
                <a:solidFill>
                  <a:srgbClr val="1F2937"/>
                </a:solidFill>
              </a:rPr>
              <a:t>. </a:t>
            </a:r>
            <a:r>
              <a:rPr sz="1500" b="1">
                <a:solidFill>
                  <a:srgbClr val="1F2937"/>
                </a:solidFill>
              </a:rPr>
              <a:t>Next</a:t>
            </a:r>
            <a:r>
              <a:rPr sz="1500" b="0">
                <a:solidFill>
                  <a:srgbClr val="1F2937"/>
                </a:solidFill>
              </a:rPr>
              <a:t> mostra a próxima resposta.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2937"/>
                </a:solidFill>
              </a:rPr>
              <a:t>OneCompiler</a:t>
            </a:r>
            <a:r>
              <a:rPr sz="1500" b="0">
                <a:solidFill>
                  <a:srgbClr val="1F2937"/>
                </a:solidFill>
              </a:rPr>
              <a:t> (onecompiler.com/prolog): acrescente a consulta ao </a:t>
            </a:r>
            <a:r>
              <a:rPr sz="1380" b="0">
                <a:solidFill>
                  <a:srgbClr val="1F2937"/>
                </a:solidFill>
                <a:latin typeface="Consolas"/>
              </a:rPr>
              <a:t>main</a:t>
            </a:r>
            <a:r>
              <a:rPr sz="1500" b="0">
                <a:solidFill>
                  <a:srgbClr val="1F2937"/>
                </a:solidFill>
              </a:rPr>
              <a:t> e clique em </a:t>
            </a:r>
            <a:r>
              <a:rPr sz="1500" b="1">
                <a:solidFill>
                  <a:srgbClr val="1F2937"/>
                </a:solidFill>
              </a:rPr>
              <a:t>Run</a:t>
            </a:r>
            <a:r>
              <a:rPr sz="1500" b="0">
                <a:solidFill>
                  <a:srgbClr val="1F2937"/>
                </a:solidFill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B42318"/>
                </a:solidFill>
              </a:rPr>
              <a:t>No GNU Prolog, deixe as cláusulas de cada predicado </a:t>
            </a:r>
            <a:r>
              <a:rPr sz="1500" b="1">
                <a:solidFill>
                  <a:srgbClr val="B42318"/>
                </a:solidFill>
              </a:rPr>
              <a:t>juntas</a:t>
            </a:r>
            <a:r>
              <a:rPr sz="1500" b="0">
                <a:solidFill>
                  <a:srgbClr val="B42318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o Prolog procura: para trás, em profundidade e com retrocesso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§16.6.5 · p. 700-703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120640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Para trás (p. 701)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parte do objetivo e procura o que o prova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87168"/>
            <a:ext cx="5120640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Em profundidade (p. 702)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prova um subobjetivo inteiro antes do próximo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48456"/>
            <a:ext cx="5120640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Retrocesso (p. 702)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se falhar, volta e tenta outra instanciação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09744"/>
            <a:ext cx="5120640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Ordem fixa (p. 703)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cláusulas de cima para baixo, objetivos da esquerda para a direita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25880"/>
            <a:ext cx="569671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Consolas"/>
              </a:rPr>
              <a:t>?- male(X), parent(X, shelley).   (p. 702)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20240"/>
            <a:ext cx="5696712" cy="7772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Consolas"/>
              </a:rPr>
              <a:t>male(X)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67085"/>
                </a:solidFill>
              </a:rPr>
              <a:t>X = bill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926080"/>
            <a:ext cx="5696712" cy="777240"/>
          </a:xfrm>
          <a:prstGeom prst="roundRect">
            <a:avLst>
              <a:gd name="adj" fmla="val 7000"/>
            </a:avLst>
          </a:prstGeom>
          <a:solidFill>
            <a:srgbClr val="E7F6E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Consolas"/>
              </a:rPr>
              <a:t>parent(bill, shelley)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67085"/>
                </a:solidFill>
              </a:rPr>
              <a:t>yes: X = bill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931920"/>
            <a:ext cx="5696712" cy="777240"/>
          </a:xfrm>
          <a:prstGeom prst="roundRect">
            <a:avLst>
              <a:gd name="adj" fmla="val 7000"/>
            </a:avLst>
          </a:prstGeom>
          <a:solidFill>
            <a:srgbClr val="FEF6E7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Consolas"/>
              </a:rPr>
              <a:t>se falhasse: refaz male(X)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67085"/>
                </a:solidFill>
              </a:rPr>
              <a:t>X = jake, X = tom, ...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2715768"/>
            <a:ext cx="0" cy="192024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78240" y="3721608"/>
            <a:ext cx="0" cy="192024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0" y="4937760"/>
            <a:ext cx="5696712" cy="114300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Mais eficiente: </a:t>
            </a:r>
            <a:r>
              <a:rPr sz="1380" b="0">
                <a:solidFill>
                  <a:srgbClr val="1F2937"/>
                </a:solidFill>
                <a:latin typeface="Consolas"/>
              </a:rPr>
              <a:t>parent(X, shelley), male(X).</a:t>
            </a:r>
            <a:r>
              <a:rPr sz="1500" b="0">
                <a:solidFill>
                  <a:srgbClr val="1F2937"/>
                </a:solidFill>
              </a:rPr>
              <a:t> O resultado é o mesmo, mas a </a:t>
            </a:r>
            <a:r>
              <a:rPr sz="1500" b="1">
                <a:solidFill>
                  <a:srgbClr val="1F2937"/>
                </a:solidFill>
              </a:rPr>
              <a:t>ordem</a:t>
            </a:r>
            <a:r>
              <a:rPr sz="1500" b="0">
                <a:solidFill>
                  <a:srgbClr val="1F2937"/>
                </a:solidFill>
              </a:rPr>
              <a:t> decide o custo (p. 702).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modelo das quatro portas: rastreando o retrocesso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§16.6.5 · p. 704-705 · Figura 16.1 · exemplos/02_inferencia/rastreio.pl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19" y="2103120"/>
            <a:ext cx="2926080" cy="274320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Consolas"/>
              </a:rPr>
              <a:t>likes(jake, X)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560320"/>
            <a:ext cx="105156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19" y="214884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</a:rPr>
              <a:t>Chama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17720" y="2560320"/>
            <a:ext cx="1051559" cy="0"/>
          </a:xfrm>
          <a:prstGeom prst="line">
            <a:avLst/>
          </a:prstGeom>
          <a:ln w="25400">
            <a:solidFill>
              <a:srgbClr val="06764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79" y="214884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67647"/>
                </a:solidFill>
              </a:rPr>
              <a:t>Sai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4617720" y="4389120"/>
            <a:ext cx="1051559" cy="0"/>
          </a:xfrm>
          <a:prstGeom prst="line">
            <a:avLst/>
          </a:prstGeom>
          <a:ln w="2540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79" y="44805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667085"/>
                </a:solidFill>
              </a:rPr>
              <a:t>Refaz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548640" y="4389120"/>
            <a:ext cx="1051560" cy="0"/>
          </a:xfrm>
          <a:prstGeom prst="line">
            <a:avLst/>
          </a:prstGeom>
          <a:ln w="25400">
            <a:solidFill>
              <a:srgbClr val="B4231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19" y="44805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42318"/>
                </a:solidFill>
              </a:rPr>
              <a:t>Falha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57800"/>
            <a:ext cx="521208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67085"/>
                </a:solidFill>
              </a:rPr>
              <a:t>Figura 16.1 (p. 706), simplificada: cada objetivo é uma caixa com 4 portas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325880"/>
            <a:ext cx="546811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Saída de rastreio.pl (igual à da p. 705)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673352"/>
            <a:ext cx="5468112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?- likes(jake, X), likes(darcie, X).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Chama:  likes(jake,_2)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Sai:    likes(jake,chocolate)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Chama:  likes(darcie,chocolate)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Falha:  likes(darcie,chocolate)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Refaz:  likes(jake,chocolate)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Sai:    likes(jake,apricots)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Chama:  likes(darcie,apricots)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Sai:    likes(darcie,apricots)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X = apricots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Aritmética: is, = e =:=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§16.6.6 · p. 703-705 · exemplos/03_aritmetica/aritmetica.pl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76072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Prolog · aritmetica.pl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576072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?- X = 2 + 3.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% unifica: não calcula!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X = 2+3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?- X is 2 + 3.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% avalia a direita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X = 5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?- 5 = 2 + 3.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% 5 e +(2,3) não casam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no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?- 5 =:= 2 + 3.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% compara valores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yes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distance(X, Y) :- speed(X, Speed), time(X, Time),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          Y is Speed * Time.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% p. 704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?- distance(chevy, D).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D = 2205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325880"/>
            <a:ext cx="510235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K is K + 1</a:t>
            </a:r>
            <a:r>
              <a:rPr sz="1600" b="1">
                <a:solidFill>
                  <a:srgbClr val="1F2937"/>
                </a:solidFill>
              </a:rPr>
              <a:t> (questão 17, p. 719)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falha ou dá erro: não há atribuição; use um nome novo, </a:t>
            </a:r>
            <a:r>
              <a:rPr sz="1380" b="0">
                <a:solidFill>
                  <a:srgbClr val="1F2937"/>
                </a:solidFill>
                <a:latin typeface="Consolas"/>
              </a:rPr>
              <a:t>K1 is K + 1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2971800"/>
            <a:ext cx="510235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O livro é impreciso (p. 703)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com o lado esquerdo instanciado, </a:t>
            </a:r>
            <a:r>
              <a:rPr sz="1380" b="0">
                <a:solidFill>
                  <a:srgbClr val="1F2937"/>
                </a:solidFill>
                <a:latin typeface="Consolas"/>
              </a:rPr>
              <a:t>is</a:t>
            </a:r>
            <a:r>
              <a:rPr sz="1500" b="0">
                <a:solidFill>
                  <a:srgbClr val="1F2937"/>
                </a:solidFill>
              </a:rPr>
              <a:t> compara: </a:t>
            </a:r>
            <a:r>
              <a:rPr sz="1380" b="0">
                <a:solidFill>
                  <a:srgbClr val="1F2937"/>
                </a:solidFill>
                <a:latin typeface="Consolas"/>
              </a:rPr>
              <a:t>X = 3, X is 1 + 2</a:t>
            </a:r>
            <a:r>
              <a:rPr sz="1500" b="0">
                <a:solidFill>
                  <a:srgbClr val="1F2937"/>
                </a:solidFill>
              </a:rPr>
              <a:t> dá yes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4617720"/>
            <a:ext cx="510235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Estouro silencioso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no GNU Prolog, </a:t>
            </a:r>
            <a:r>
              <a:rPr sz="1380" b="0">
                <a:solidFill>
                  <a:srgbClr val="1F2937"/>
                </a:solidFill>
                <a:latin typeface="Consolas"/>
              </a:rPr>
              <a:t>fatorial(20, F)</a:t>
            </a:r>
            <a:r>
              <a:rPr sz="1500" b="0">
                <a:solidFill>
                  <a:srgbClr val="1F2937"/>
                </a:solidFill>
              </a:rPr>
              <a:t> sai errado (inteiros de 60 bits); no SWISH, certo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Listas e a relação append, que funciona ao contrário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§16.6.7 · p. 706-710 · exemplos/04_listas/listas.pl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21792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Prolog · listas.pl (append e member do livro)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217920" cy="23042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anexar([], List, List).                           </a:t>
            </a:r>
            <a:r>
              <a:rPr sz="1450" i="0">
                <a:solidFill>
                  <a:srgbClr val="0F766E"/>
                </a:solidFill>
                <a:latin typeface="Consolas"/>
              </a:rPr>
              <a:t>% p. 708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anexar([Head | List_1], List_2, [Head | List_3]) :-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    anexar(List_1, List_2, List_3).</a:t>
            </a:r>
          </a:p>
          <a:p>
            <a:pPr algn="l">
              <a:spcAft>
                <a:spcPts val="0"/>
              </a:spcAft>
            </a:pPr>
            <a:r>
              <a:rPr sz="145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membro(Element, [Element | _]).                   </a:t>
            </a:r>
            <a:r>
              <a:rPr sz="1450" i="0">
                <a:solidFill>
                  <a:srgbClr val="0F766E"/>
                </a:solidFill>
                <a:latin typeface="Consolas"/>
              </a:rPr>
              <a:t>% p. 710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membro(Element, [_ | List]) :- membro(Element, List).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60520"/>
            <a:ext cx="6217920" cy="1920240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?- [X | Y] = [a, b, c].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X = a, Y = [b, c]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?- anexar([bob, jo], [jake, darcie], F).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F = [bob, jo, jake, darcie]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1325880"/>
            <a:ext cx="464515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67647"/>
                </a:solidFill>
              </a:rPr>
              <a:t>Ao contrário (p. 709)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673352"/>
            <a:ext cx="4645152" cy="262432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?- anexar(X, Y, [a, b, c]).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X = [],        Y = [a, b, c] 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X = [a],       Y = [b, c] 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X = [a, b],    Y = [c] 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X = [a, b, c], Y = []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4480560"/>
            <a:ext cx="4645152" cy="160020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Relação, e não função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Não há parâmetro de entrada nem de saída: a mesma definição concatena </a:t>
            </a:r>
            <a:r>
              <a:rPr sz="1500" b="1">
                <a:solidFill>
                  <a:srgbClr val="1F2937"/>
                </a:solidFill>
              </a:rPr>
              <a:t>e</a:t>
            </a:r>
            <a:r>
              <a:rPr sz="1500" b="0">
                <a:solidFill>
                  <a:srgbClr val="1F2937"/>
                </a:solidFill>
              </a:rPr>
              <a:t> divide listas.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Laboratório 2: três relações sobre listas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exemplos/04_listas/pratica.pl (resolução: pratica_resolvida.pl) · 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49224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Prolog · pratica.pl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49224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600" i="0">
                <a:solidFill>
                  <a:srgbClr val="0F766E"/>
                </a:solidFill>
                <a:latin typeface="Consolas"/>
              </a:rPr>
              <a:t>% 1) tamanho([a, b, c], N) =&gt; N = 3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tamanho(_, 0).              </a:t>
            </a:r>
            <a:r>
              <a:rPr sz="1600" i="0">
                <a:solidFill>
                  <a:srgbClr val="0F766E"/>
                </a:solidFill>
                <a:latin typeface="Consolas"/>
              </a:rPr>
              <a:t>% complete aqui</a:t>
            </a:r>
          </a:p>
          <a:p>
            <a:pPr algn="l">
              <a:spcAft>
                <a:spcPts val="0"/>
              </a:spcAft>
            </a:pPr>
            <a:r>
              <a:rPr sz="16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0F766E"/>
                </a:solidFill>
                <a:latin typeface="Consolas"/>
              </a:rPr>
              <a:t>% 2) soma([1, 2, 3, 4], S) =&gt; S = 10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soma(_, 0).                 </a:t>
            </a:r>
            <a:r>
              <a:rPr sz="1600" i="0">
                <a:solidFill>
                  <a:srgbClr val="0F766E"/>
                </a:solidFill>
                <a:latin typeface="Consolas"/>
              </a:rPr>
              <a:t>% complete aqui</a:t>
            </a:r>
          </a:p>
          <a:p>
            <a:pPr algn="l">
              <a:spcAft>
                <a:spcPts val="0"/>
              </a:spcAft>
            </a:pPr>
            <a:r>
              <a:rPr sz="16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0F766E"/>
                </a:solidFill>
                <a:latin typeface="Consolas"/>
              </a:rPr>
              <a:t>% 3) ultimo([a, b, c], U) =&gt; U = c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ultimo(_, nada).            </a:t>
            </a:r>
            <a:r>
              <a:rPr sz="1600" i="0">
                <a:solidFill>
                  <a:srgbClr val="0F766E"/>
                </a:solidFill>
                <a:latin typeface="Consolas"/>
              </a:rPr>
              <a:t>% complete aqui</a:t>
            </a:r>
          </a:p>
          <a:p>
            <a:pPr algn="l">
              <a:spcAft>
                <a:spcPts val="0"/>
              </a:spcAft>
            </a:pPr>
            <a:r>
              <a:rPr sz="16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0F766E"/>
                </a:solidFill>
                <a:latin typeface="Consolas"/>
              </a:rPr>
              <a:t>% saída atual: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0F766E"/>
                </a:solidFill>
                <a:latin typeface="Consolas"/>
              </a:rPr>
              <a:t>%   tamanho: 0  (esperado 3)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0F766E"/>
                </a:solidFill>
                <a:latin typeface="Consolas"/>
              </a:rPr>
              <a:t>%   soma: 0  (esperado 10)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0F766E"/>
                </a:solidFill>
                <a:latin typeface="Consolas"/>
              </a:rPr>
              <a:t>%   ultimo: nada  (esperado 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325880"/>
            <a:ext cx="4370832" cy="274320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</a:rPr>
              <a:t>Como fazer</a:t>
            </a:r>
          </a:p>
          <a:p>
            <a:pPr algn="l" marL="256032" indent="-219456">
              <a:spcAft>
                <a:spcPts val="400"/>
              </a:spcAft>
              <a:buClr>
                <a:srgbClr val="0F766E"/>
              </a:buClr>
              <a:buFont typeface="Arial"/>
              <a:buChar char="•"/>
            </a:pPr>
            <a:r>
              <a:rPr sz="1500" b="0">
                <a:solidFill>
                  <a:srgbClr val="1F2937"/>
                </a:solidFill>
              </a:rPr>
              <a:t>Cada relação precisa de </a:t>
            </a:r>
            <a:r>
              <a:rPr sz="1500" b="1">
                <a:solidFill>
                  <a:srgbClr val="1F2937"/>
                </a:solidFill>
              </a:rPr>
              <a:t>duas</a:t>
            </a:r>
            <a:r>
              <a:rPr sz="1500" b="0">
                <a:solidFill>
                  <a:srgbClr val="1F2937"/>
                </a:solidFill>
              </a:rPr>
              <a:t> cláusulas: </a:t>
            </a:r>
            <a:r>
              <a:rPr sz="1380" b="0">
                <a:solidFill>
                  <a:srgbClr val="1F2937"/>
                </a:solidFill>
                <a:latin typeface="Consolas"/>
              </a:rPr>
              <a:t>[]</a:t>
            </a:r>
            <a:r>
              <a:rPr sz="1500" b="0">
                <a:solidFill>
                  <a:srgbClr val="1F2937"/>
                </a:solidFill>
              </a:rPr>
              <a:t> e </a:t>
            </a:r>
            <a:r>
              <a:rPr sz="1380" b="0">
                <a:solidFill>
                  <a:srgbClr val="1F2937"/>
                </a:solidFill>
                <a:latin typeface="Consolas"/>
              </a:rPr>
              <a:t>[H | T]</a:t>
            </a:r>
            <a:r>
              <a:rPr sz="1500" b="0">
                <a:solidFill>
                  <a:srgbClr val="1F2937"/>
                </a:solidFill>
              </a:rPr>
              <a:t>.</a:t>
            </a:r>
          </a:p>
          <a:p>
            <a:pPr algn="l" marL="256032" indent="-219456">
              <a:spcAft>
                <a:spcPts val="400"/>
              </a:spcAft>
              <a:buClr>
                <a:srgbClr val="0F766E"/>
              </a:buClr>
              <a:buFont typeface="Arial"/>
              <a:buChar char="•"/>
            </a:pPr>
            <a:r>
              <a:rPr sz="1500" b="0">
                <a:solidFill>
                  <a:srgbClr val="1F2937"/>
                </a:solidFill>
              </a:rPr>
              <a:t>Execute até as 3 linhas darem </a:t>
            </a:r>
            <a:r>
              <a:rPr sz="1500" b="1">
                <a:solidFill>
                  <a:srgbClr val="1F2937"/>
                </a:solidFill>
              </a:rPr>
              <a:t>ok</a:t>
            </a:r>
            <a:r>
              <a:rPr sz="1500" b="0">
                <a:solidFill>
                  <a:srgbClr val="1F2937"/>
                </a:solidFill>
              </a:rPr>
              <a:t>.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500" b="0">
                <a:solidFill>
                  <a:srgbClr val="1F2937"/>
                </a:solidFill>
              </a:rPr>
              <a:t>Modelo: </a:t>
            </a:r>
            <a:r>
              <a:rPr sz="1380" b="0">
                <a:solidFill>
                  <a:srgbClr val="1F2937"/>
                </a:solidFill>
                <a:latin typeface="Consolas"/>
              </a:rPr>
              <a:t>membro</a:t>
            </a:r>
            <a:r>
              <a:rPr sz="1500" b="0">
                <a:solidFill>
                  <a:srgbClr val="1F2937"/>
                </a:solidFill>
              </a:rPr>
              <a:t> e </a:t>
            </a:r>
            <a:r>
              <a:rPr sz="1380" b="0">
                <a:solidFill>
                  <a:srgbClr val="1F2937"/>
                </a:solidFill>
                <a:latin typeface="Consolas"/>
              </a:rPr>
              <a:t>anexar</a:t>
            </a:r>
            <a:r>
              <a:rPr sz="1500" b="0">
                <a:solidFill>
                  <a:srgbClr val="1F2937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4206240"/>
            <a:ext cx="4370832" cy="1874519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2318"/>
                </a:solidFill>
              </a:rPr>
              <a:t>Cuidado</a:t>
            </a:r>
          </a:p>
          <a:p>
            <a:pPr algn="l">
              <a:spcAft>
                <a:spcPts val="400"/>
              </a:spcAft>
            </a:pPr>
            <a:r>
              <a:rPr sz="1380" b="0">
                <a:solidFill>
                  <a:srgbClr val="1F2937"/>
                </a:solidFill>
                <a:latin typeface="Consolas"/>
              </a:rPr>
              <a:t>N is N + 1</a:t>
            </a:r>
            <a:r>
              <a:rPr sz="1500" b="0">
                <a:solidFill>
                  <a:srgbClr val="1F2937"/>
                </a:solidFill>
              </a:rPr>
              <a:t> nunca funciona: use um nome novo, </a:t>
            </a:r>
            <a:r>
              <a:rPr sz="1380" b="0">
                <a:solidFill>
                  <a:srgbClr val="1F2937"/>
                </a:solidFill>
                <a:latin typeface="Consolas"/>
              </a:rPr>
              <a:t>N is N1 + 1</a:t>
            </a:r>
            <a:r>
              <a:rPr sz="1500" b="0">
                <a:solidFill>
                  <a:srgbClr val="1F2937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Deficiências (1): a ordem importa, e o corte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§16.7.1 · p. 711-713 · exemplos/05_deficiencias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76072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67647"/>
                </a:solidFill>
              </a:rPr>
              <a:t>Base primeiro, recursão à direita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5760720" cy="180136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ancestral(X, Y) :- pai(X, Y).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% funciona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ancestral(X, Y) :- pai(X, Z), ancestral(Z, 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576072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42318"/>
                </a:solidFill>
              </a:rPr>
              <a:t>A mesma lógica, outra ordem: laco_infinito.pl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05072"/>
            <a:ext cx="5760720" cy="20756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ancestral(X, Y) :- ancestral(Z, Y), pai(X, Z).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ancestral(X, Y) :- pai(X, Y).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?- ancestral(ana, caio).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Fatal Error: local stack overflow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325880"/>
            <a:ext cx="510235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O corte (!)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673352"/>
            <a:ext cx="5102352" cy="23042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membro_corte(E, [E | _]) :- !.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% p. 712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membro_corte(E, [_ | L]) :- membro_corte(E, L).</a:t>
            </a:r>
          </a:p>
          <a:p>
            <a:pPr algn="l">
              <a:spcAft>
                <a:spcPts val="0"/>
              </a:spcAft>
            </a:pPr>
            <a:r>
              <a:rPr sz="14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?- member(X, [a, b, a]).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% a ; b ; a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?- membro_corte(X, [a, b, a]).  </a:t>
            </a:r>
            <a:r>
              <a:rPr sz="1400" i="0">
                <a:solidFill>
                  <a:srgbClr val="0F766E"/>
                </a:solidFill>
                <a:latin typeface="Consolas"/>
              </a:rPr>
              <a:t>% só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4160520"/>
            <a:ext cx="5102352" cy="1920240"/>
          </a:xfrm>
          <a:prstGeom prst="roundRect">
            <a:avLst>
              <a:gd name="adj" fmla="val 7000"/>
            </a:avLst>
          </a:prstGeom>
          <a:solidFill>
            <a:srgbClr val="FE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Corte = goto? (p. 713)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Útil para eficiência e no "gerar e testar", mas faz o programa dizer </a:t>
            </a:r>
            <a:r>
              <a:rPr sz="1500" b="1">
                <a:solidFill>
                  <a:srgbClr val="1F2937"/>
                </a:solidFill>
              </a:rPr>
              <a:t>como</a:t>
            </a:r>
            <a:r>
              <a:rPr sz="1500" b="0">
                <a:solidFill>
                  <a:srgbClr val="1F2937"/>
                </a:solidFill>
              </a:rPr>
              <a:t> buscar, o que a lógica queria evitar.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Deficiências (2): mundo fechado e o problema da negação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§16.7.2 e §16.7.3 · p. 713-715 · exemplos/05_deficiencias/negacao.pl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40080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Prolog · negacao.pl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40080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sibling(X, Y) :- parent(M, X), parent(M, Y).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?- sibling(X, Y).            </a:t>
            </a:r>
            <a:r>
              <a:rPr sz="1450" i="0">
                <a:solidFill>
                  <a:srgbClr val="0F766E"/>
                </a:solidFill>
                <a:latin typeface="Consolas"/>
              </a:rPr>
              <a:t>% X = jake, Y = jake (!)</a:t>
            </a:r>
          </a:p>
          <a:p>
            <a:pPr algn="l">
              <a:spcAft>
                <a:spcPts val="0"/>
              </a:spcAft>
            </a:pPr>
            <a:r>
              <a:rPr sz="145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sibling(X, Y) :- parent(M, X), parent(M, Y),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                 not(X = Y).                </a:t>
            </a:r>
            <a:r>
              <a:rPr sz="1450" i="0">
                <a:solidFill>
                  <a:srgbClr val="0F766E"/>
                </a:solidFill>
                <a:latin typeface="Consolas"/>
              </a:rPr>
              <a:t>% p. 714</a:t>
            </a:r>
          </a:p>
          <a:p>
            <a:pPr algn="l">
              <a:spcAft>
                <a:spcPts val="0"/>
              </a:spcAft>
            </a:pPr>
            <a:r>
              <a:rPr sz="145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?- aluno(carla).             </a:t>
            </a:r>
            <a:r>
              <a:rPr sz="1450" i="0">
                <a:solidFill>
                  <a:srgbClr val="0F766E"/>
                </a:solidFill>
                <a:latin typeface="Consolas"/>
              </a:rPr>
              <a:t>% no: a base não sabe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?- not(aluno(carla)).        </a:t>
            </a:r>
            <a:r>
              <a:rPr sz="1450" i="0">
                <a:solidFill>
                  <a:srgbClr val="0F766E"/>
                </a:solidFill>
                <a:latin typeface="Consolas"/>
              </a:rPr>
              <a:t>% yes (mundo fechado)</a:t>
            </a:r>
          </a:p>
          <a:p>
            <a:pPr algn="l">
              <a:spcAft>
                <a:spcPts val="0"/>
              </a:spcAft>
            </a:pPr>
            <a:r>
              <a:rPr sz="145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?- not(not(member(X, [mary, fred, barb])))  </a:t>
            </a:r>
            <a:r>
              <a:rPr sz="1450" i="0">
                <a:solidFill>
                  <a:srgbClr val="0F766E"/>
                </a:solidFill>
                <a:latin typeface="Consolas"/>
              </a:rPr>
              <a:t>% X livre: _176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?- X = b, not(X = a).        </a:t>
            </a:r>
            <a:r>
              <a:rPr sz="1450" i="0">
                <a:solidFill>
                  <a:srgbClr val="0F766E"/>
                </a:solidFill>
                <a:latin typeface="Consolas"/>
              </a:rPr>
              <a:t>% X = b</a:t>
            </a:r>
          </a:p>
          <a:p>
            <a:pPr algn="l">
              <a:spcAft>
                <a:spcPts val="0"/>
              </a:spcAft>
            </a:pPr>
            <a:r>
              <a:rPr sz="1450" i="0">
                <a:solidFill>
                  <a:srgbClr val="111827"/>
                </a:solidFill>
                <a:latin typeface="Consolas"/>
              </a:rPr>
              <a:t>?- not(X = a), X = b.        </a:t>
            </a:r>
            <a:r>
              <a:rPr sz="1450" i="0">
                <a:solidFill>
                  <a:srgbClr val="0F766E"/>
                </a:solidFill>
                <a:latin typeface="Consolas"/>
              </a:rPr>
              <a:t>% no: a ordem importa!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325880"/>
            <a:ext cx="446227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Mundo fechado (p. 713)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o que não se prova é falso: é "verdadeiro/falha"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2487168"/>
            <a:ext cx="446227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Negação por falha (p. 715)</a:t>
            </a:r>
          </a:p>
          <a:p>
            <a:pPr algn="l">
              <a:spcAft>
                <a:spcPts val="400"/>
              </a:spcAft>
            </a:pPr>
            <a:r>
              <a:rPr sz="1288" b="0">
                <a:solidFill>
                  <a:srgbClr val="1F2937"/>
                </a:solidFill>
                <a:latin typeface="Consolas"/>
              </a:rPr>
              <a:t>not(G)</a:t>
            </a:r>
            <a:r>
              <a:rPr sz="1400" b="0">
                <a:solidFill>
                  <a:srgbClr val="1F2937"/>
                </a:solidFill>
              </a:rPr>
              <a:t>: G não pôde ser provado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3648456"/>
            <a:ext cx="446227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No padrão ISO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a negação é </a:t>
            </a:r>
            <a:r>
              <a:rPr sz="1288" b="0">
                <a:solidFill>
                  <a:srgbClr val="1F2937"/>
                </a:solidFill>
                <a:latin typeface="Consolas"/>
              </a:rPr>
              <a:t>\+</a:t>
            </a:r>
            <a:r>
              <a:rPr sz="1400" b="0">
                <a:solidFill>
                  <a:srgbClr val="1F2937"/>
                </a:solidFill>
              </a:rPr>
              <a:t>; o GNU Prolog não tem </a:t>
            </a:r>
            <a:r>
              <a:rPr sz="1288" b="0">
                <a:solidFill>
                  <a:srgbClr val="1F2937"/>
                </a:solidFill>
                <a:latin typeface="Consolas"/>
              </a:rPr>
              <a:t>not/1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4809744"/>
            <a:ext cx="446227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Horn (p. 715)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só permite concluir que algo é verdadeiro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Deficiências (3): descrever não basta para ser eficiente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§16.4 e §16.7.4 · p. 695-696 e 716 · exemplos/05_deficiencias/ordena_permutando.pl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03504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Prolog · ordena_permutando.pl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035040" cy="216712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ordenada([]).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ordenada([_]).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ordenada([X, Y | Resto]) :- X =&lt; Y, ordenada([Y | Resto]).</a:t>
            </a:r>
          </a:p>
          <a:p>
            <a:pPr algn="l">
              <a:spcAft>
                <a:spcPts val="0"/>
              </a:spcAft>
            </a:pPr>
            <a:r>
              <a:rPr sz="14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ordena_lento(L, S) :- permutation(L, S), ordenada(S).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977639"/>
          <a:ext cx="6035040" cy="1901952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201168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</a:rPr>
                        <a:t>n (pior caso)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</a:rPr>
                        <a:t>permutações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</a:rPr>
                        <a:t>tempo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8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40.320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5 ms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9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362.880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50 ms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10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3.628.800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B42318"/>
                          </a:solidFill>
                        </a:rPr>
                        <a:t>511 ms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03720" y="1325880"/>
            <a:ext cx="4736592" cy="251460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</a:rPr>
              <a:t>O sistema não sabe </a:t>
            </a:r>
            <a:r>
              <a:rPr sz="1700" b="1">
                <a:solidFill>
                  <a:srgbClr val="1F2937"/>
                </a:solidFill>
              </a:rPr>
              <a:t>como</a:t>
            </a:r>
            <a:r>
              <a:rPr sz="1700" b="1">
                <a:solidFill>
                  <a:srgbClr val="1F2937"/>
                </a:solidFill>
              </a:rPr>
              <a:t> ordenar (p. 716)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Gera e testa permutações, uma a uma: </a:t>
            </a:r>
            <a:r>
              <a:rPr sz="1600" b="1">
                <a:solidFill>
                  <a:srgbClr val="1F2937"/>
                </a:solidFill>
              </a:rPr>
              <a:t>n!</a:t>
            </a:r>
            <a:r>
              <a:rPr sz="1600" b="0">
                <a:solidFill>
                  <a:srgbClr val="1F2937"/>
                </a:solidFill>
              </a:rPr>
              <a:t> tentativas no pior caso.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3977639"/>
            <a:ext cx="4736592" cy="21031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</a:rPr>
              <a:t>Comparação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O </a:t>
            </a:r>
            <a:r>
              <a:rPr sz="1472" b="0">
                <a:solidFill>
                  <a:srgbClr val="1F2937"/>
                </a:solidFill>
                <a:latin typeface="Consolas"/>
              </a:rPr>
              <a:t>msort</a:t>
            </a:r>
            <a:r>
              <a:rPr sz="1600" b="0">
                <a:solidFill>
                  <a:srgbClr val="1F2937"/>
                </a:solidFill>
              </a:rPr>
              <a:t> predefinido ordena </a:t>
            </a:r>
            <a:r>
              <a:rPr sz="1600" b="1">
                <a:solidFill>
                  <a:srgbClr val="1F2937"/>
                </a:solidFill>
              </a:rPr>
              <a:t>10.000</a:t>
            </a:r>
            <a:r>
              <a:rPr sz="1600" b="0">
                <a:solidFill>
                  <a:srgbClr val="1F2937"/>
                </a:solidFill>
              </a:rPr>
              <a:t> elementos em menos de 1 ms. Medições no OneCompiler (GNU Prolog).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Aplicações: bancos de dados, sistemas especialistas e Datalog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§16.8 · p. 716-718 · exemplos/06_aplicacoes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12648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Prolog e SQL (p. 716)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126480" cy="216712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0F766E"/>
                </a:solidFill>
                <a:latin typeface="Consolas"/>
              </a:rPr>
              <a:t>% SELECT a.nome FROM aluno a JOIN nota n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0F766E"/>
                </a:solidFill>
                <a:latin typeface="Consolas"/>
              </a:rPr>
              <a:t>%   ON a.mat = n.mat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0F766E"/>
                </a:solidFill>
                <a:latin typeface="Consolas"/>
              </a:rPr>
              <a:t>%   WHERE n.disc = 'paradigmas' AND n.nota &gt;= 6;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aprovado(Nome, Disc) :- aluno(M, Nome, _),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                nota(M, Disc, N), N &gt;= 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612648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Datalog: fecho transitivo (CodeQL, Soufflé)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325112"/>
            <a:ext cx="6126480" cy="175564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depende_de(A, B) :- depende(A, B).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depende_de(A, B) :- depende(A, C), depende_de(C, B).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?- depende_de(Quem, socket).   </a:t>
            </a:r>
            <a:r>
              <a:rPr sz="1500" i="0">
                <a:solidFill>
                  <a:srgbClr val="0F766E"/>
                </a:solidFill>
                <a:latin typeface="Consolas"/>
              </a:rPr>
              <a:t>% http ; app ;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325880"/>
            <a:ext cx="473659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Bancos de dados (p. 716)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fatos = tabelas; regras = consultas com dedução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2487168"/>
            <a:ext cx="473659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Sistemas especialistas (p. 717)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regras de um especialista, com explicação: </a:t>
            </a:r>
            <a:r>
              <a:rPr sz="1288" b="0">
                <a:solidFill>
                  <a:srgbClr val="1F2937"/>
                </a:solidFill>
                <a:latin typeface="Consolas"/>
              </a:rPr>
              <a:t>especialista.pl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648456"/>
            <a:ext cx="473659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Linguagem natural (p. 718)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gramáticas viram regras; o Prolog nasceu para isso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4809744"/>
            <a:ext cx="473659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Hoje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Datalog em análise de código, regras de negócio, verificação de tipos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código do livro roda? (caça ao erro)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exemplos/07_codigo_do_livro · atividade opcional ou para casa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384048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097280"/>
                <a:gridCol w="2834640"/>
                <a:gridCol w="3931920"/>
                <a:gridCol w="322783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Página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Trecho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GNU Prolog (OneCompiler)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SWI-Prolog (SWISH)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p. 698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fatos da família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B42318"/>
                          </a:solidFill>
                          <a:latin typeface="Consolas"/>
                        </a:rPr>
                        <a:t>female(mary)</a:t>
                      </a:r>
                      <a:r>
                        <a:rPr sz="1400" b="0">
                          <a:solidFill>
                            <a:srgbClr val="B42318"/>
                          </a:solidFill>
                        </a:rPr>
                        <a:t> </a:t>
                      </a:r>
                      <a:r>
                        <a:rPr sz="1400" b="1">
                          <a:solidFill>
                            <a:srgbClr val="B42318"/>
                          </a:solidFill>
                        </a:rPr>
                        <a:t>some</a:t>
                      </a:r>
                      <a:r>
                        <a:rPr sz="1400" b="0">
                          <a:solidFill>
                            <a:srgbClr val="B42318"/>
                          </a:solidFill>
                        </a:rPr>
                        <a:t>, sem aviso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funciona, com aviso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p. 708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append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 do livro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"redefining built-in predicate"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funciona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p. 714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sibling :- (parent(...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 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erro de sintaxe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erro de sintaxe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p. 714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not(X = Y)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not/1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 não existe (use </a:t>
                      </a:r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\+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funciona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p. 716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sorted([x, y | list]) :- x &lt;= y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erro de sintaxe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erro de sintaxe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p. 703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is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 com a esquerda instanciada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compara (o livro diz que falha)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compara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440680"/>
            <a:ext cx="11094415" cy="64008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O achado mais perigoso não dá erro: no GNU Prolog, fatos </a:t>
            </a:r>
            <a:r>
              <a:rPr sz="1600" b="1">
                <a:solidFill>
                  <a:srgbClr val="1F2937"/>
                </a:solidFill>
              </a:rPr>
              <a:t>somem</a:t>
            </a:r>
            <a:r>
              <a:rPr sz="1600" b="0">
                <a:solidFill>
                  <a:srgbClr val="1F2937"/>
                </a:solidFill>
              </a:rPr>
              <a:t> quando as cláusulas não estão juntas.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 em duplas: o que o Prolog responde?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Arquivos: exemplos/08_exercicio (q1.pl a q6.pl) · SWISH ou OneCompiler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Para cada item: </a:t>
            </a:r>
            <a:r>
              <a:rPr sz="1700" b="1">
                <a:solidFill>
                  <a:srgbClr val="1F2937"/>
                </a:solidFill>
              </a:rPr>
              <a:t>(a)</a:t>
            </a:r>
            <a:r>
              <a:rPr sz="1700" b="0">
                <a:solidFill>
                  <a:srgbClr val="1F2937"/>
                </a:solidFill>
              </a:rPr>
              <a:t> o que o Prolog responde?  </a:t>
            </a:r>
            <a:r>
              <a:rPr sz="1700" b="1">
                <a:solidFill>
                  <a:srgbClr val="1F2937"/>
                </a:solidFill>
              </a:rPr>
              <a:t>(b)</a:t>
            </a:r>
            <a:r>
              <a:rPr sz="1700" b="0">
                <a:solidFill>
                  <a:srgbClr val="1F2937"/>
                </a:solidFill>
              </a:rPr>
              <a:t> qual regra explica?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1 · Unificação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?- f(X, b) = f(a, Y).</a:t>
            </a:r>
          </a:p>
          <a:p>
            <a:pPr algn="l">
              <a:spcAft>
                <a:spcPts val="0"/>
              </a:spcAft>
            </a:pPr>
            <a:r>
              <a:rPr sz="20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?- f(X, X) = f(a, b).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2 · Aritmética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?- X = 2 + 3.</a:t>
            </a:r>
          </a:p>
          <a:p>
            <a:pPr algn="l">
              <a:spcAft>
                <a:spcPts val="0"/>
              </a:spcAft>
            </a:pPr>
            <a:r>
              <a:rPr sz="20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?- X is 2 + 3.</a:t>
            </a:r>
          </a:p>
          <a:p>
            <a:pPr algn="l">
              <a:spcAft>
                <a:spcPts val="0"/>
              </a:spcAft>
            </a:pPr>
            <a:r>
              <a:rPr sz="20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?- 5 = 2 + 3.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Exercício: o que o Prolog responde?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Arquivos: exemplos/08_exercicio (q1.pl a q6.pl) · SWISH ou OneCompiler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Para cada item: </a:t>
            </a:r>
            <a:r>
              <a:rPr sz="1700" b="1">
                <a:solidFill>
                  <a:srgbClr val="1F2937"/>
                </a:solidFill>
              </a:rPr>
              <a:t>(a)</a:t>
            </a:r>
            <a:r>
              <a:rPr sz="1700" b="0">
                <a:solidFill>
                  <a:srgbClr val="1F2937"/>
                </a:solidFill>
              </a:rPr>
              <a:t> o que o Prolog responde?  </a:t>
            </a:r>
            <a:r>
              <a:rPr sz="1700" b="1">
                <a:solidFill>
                  <a:srgbClr val="1F2937"/>
                </a:solidFill>
              </a:rPr>
              <a:t>(b)</a:t>
            </a:r>
            <a:r>
              <a:rPr sz="1700" b="0">
                <a:solidFill>
                  <a:srgbClr val="1F2937"/>
                </a:solidFill>
              </a:rPr>
              <a:t> qual regra explica?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3 · Ordem das respostas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cor(maca, vermelha).</a:t>
            </a:r>
          </a:p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cor(banana, amarela).</a:t>
            </a:r>
          </a:p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cor(morango, vermelha).</a:t>
            </a:r>
          </a:p>
          <a:p>
            <a:pPr algn="l">
              <a:spcAft>
                <a:spcPts val="0"/>
              </a:spcAft>
            </a:pPr>
            <a:r>
              <a:rPr sz="20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?- cor(F, vermelha).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4 · Listas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?- [H | T] = [a, b, c].</a:t>
            </a:r>
          </a:p>
          <a:p>
            <a:pPr algn="l">
              <a:spcAft>
                <a:spcPts val="0"/>
              </a:spcAft>
            </a:pPr>
            <a:r>
              <a:rPr sz="20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?- [A, B | R] = [1, 2].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Exercício: o que o Prolog responde?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Arquivos: exemplos/08_exercicio (q1.pl a q6.pl) · SWISH ou OneCompiler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Para cada item: </a:t>
            </a:r>
            <a:r>
              <a:rPr sz="1700" b="1">
                <a:solidFill>
                  <a:srgbClr val="1F2937"/>
                </a:solidFill>
              </a:rPr>
              <a:t>(a)</a:t>
            </a:r>
            <a:r>
              <a:rPr sz="1700" b="0">
                <a:solidFill>
                  <a:srgbClr val="1F2937"/>
                </a:solidFill>
              </a:rPr>
              <a:t> o que o Prolog responde?  </a:t>
            </a:r>
            <a:r>
              <a:rPr sz="1700" b="1">
                <a:solidFill>
                  <a:srgbClr val="1F2937"/>
                </a:solidFill>
              </a:rPr>
              <a:t>(b)</a:t>
            </a:r>
            <a:r>
              <a:rPr sz="1700" b="0">
                <a:solidFill>
                  <a:srgbClr val="1F2937"/>
                </a:solidFill>
              </a:rPr>
              <a:t> qual regra explica?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5 · Negação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gosta(ana, prolog).</a:t>
            </a:r>
          </a:p>
          <a:p>
            <a:pPr algn="l">
              <a:spcAft>
                <a:spcPts val="0"/>
              </a:spcAft>
            </a:pPr>
            <a:r>
              <a:rPr sz="20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?- \+ gosta(bruno, prolog).</a:t>
            </a:r>
          </a:p>
          <a:p>
            <a:pPr algn="l">
              <a:spcAft>
                <a:spcPts val="0"/>
              </a:spcAft>
            </a:pPr>
            <a:r>
              <a:rPr sz="20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?- \+ gosta(X, prolog).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6 · Ordem das cláusulas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ancestral(X, Y) :-</a:t>
            </a:r>
          </a:p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    ancestral(Z, Y), pai(X, Z).</a:t>
            </a:r>
          </a:p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ancestral(X, Y) :- pai(X, Y).</a:t>
            </a:r>
          </a:p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pai(ana, bia).</a:t>
            </a:r>
          </a:p>
          <a:p>
            <a:pPr algn="l">
              <a:spcAft>
                <a:spcPts val="0"/>
              </a:spcAft>
            </a:pPr>
            <a:r>
              <a:rPr sz="20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2000" i="0">
                <a:solidFill>
                  <a:srgbClr val="111827"/>
                </a:solidFill>
                <a:latin typeface="Consolas"/>
              </a:rPr>
              <a:t>?- ancestral(ana, bia).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Fechamento: o mapa dos paradigmas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Caps. 1, 12, 15 e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4023360" cy="173736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</a:rPr>
              <a:t>Imperativo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como: passos que mudam o estado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67085"/>
                </a:solidFill>
              </a:rPr>
              <a:t>Fortran, C, 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16952" y="1325880"/>
            <a:ext cx="4023360" cy="1737360"/>
          </a:xfrm>
          <a:prstGeom prst="roundRect">
            <a:avLst>
              <a:gd name="adj" fmla="val 7000"/>
            </a:avLst>
          </a:prstGeom>
          <a:solidFill>
            <a:srgbClr val="FEF6E7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</a:rPr>
              <a:t>Orientado a objetos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objetos que trocam mensagens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67085"/>
                </a:solidFill>
              </a:rPr>
              <a:t>Smalltalk, Java,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343400"/>
            <a:ext cx="4023360" cy="1737360"/>
          </a:xfrm>
          <a:prstGeom prst="roundRect">
            <a:avLst>
              <a:gd name="adj" fmla="val 7000"/>
            </a:avLst>
          </a:prstGeom>
          <a:solidFill>
            <a:srgbClr val="E7F6E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</a:rPr>
              <a:t>Funcional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funções que transformam valores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67085"/>
                </a:solidFill>
              </a:rPr>
              <a:t>Lisp, ML, Haskell, Elixir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16952" y="4343400"/>
            <a:ext cx="4023360" cy="173736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</a:rPr>
              <a:t>Lógico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fatos e regras; o sistema busca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67085"/>
                </a:solidFill>
              </a:rPr>
              <a:t>Prolog, Datalog (e o SQL)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743200"/>
            <a:ext cx="2404872" cy="1828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Multiparadigma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Python, JavaScript, Kotlin, Scala, Rust, C#, Java moderno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17720" y="2194560"/>
            <a:ext cx="320040" cy="594360"/>
          </a:xfrm>
          <a:prstGeom prst="line">
            <a:avLst/>
          </a:prstGeom>
          <a:ln w="2540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251192" y="2194560"/>
            <a:ext cx="320039" cy="594360"/>
          </a:xfrm>
          <a:prstGeom prst="line">
            <a:avLst/>
          </a:prstGeom>
          <a:ln w="2540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617720" y="4526280"/>
            <a:ext cx="320040" cy="594360"/>
          </a:xfrm>
          <a:prstGeom prst="line">
            <a:avLst/>
          </a:prstGeom>
          <a:ln w="2540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7251192" y="4526280"/>
            <a:ext cx="320039" cy="594360"/>
          </a:xfrm>
          <a:prstGeom prst="line">
            <a:avLst/>
          </a:prstGeom>
          <a:ln w="2540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54880" y="1463039"/>
            <a:ext cx="2679192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67085"/>
                </a:solidFill>
              </a:rPr>
              <a:t>OO organiza código imperativo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074920"/>
            <a:ext cx="2679192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67085"/>
                </a:solidFill>
              </a:rPr>
              <a:t>os dois declarativos: o que, e não como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bimestre em uma tabela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Aulas 6 a 13 · Sebesta, 11ª ed., Caps. 6 a 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460857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234440"/>
                <a:gridCol w="2926080"/>
                <a:gridCol w="4572000"/>
                <a:gridCol w="2359152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Aula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Tema (Sebesta)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A pergunta de projeto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Exemplo marcante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6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Tipos de dados (Cap. 6)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o que o tipo garante, e quando é verificado?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Ariane 5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7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Expressões e controle (7 e 8)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em que ordem as coisas são avaliadas?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a + fun1()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: 8 ou 20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8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Subprogramas (9 e 10)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como os parâmetros passam, e onde vivem as variáveis?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a pilha em C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9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TADs e OO (11 e 12)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o que fica escondido, e quem decide qual método roda?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Stack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 do Java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10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Concorrência (13)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quem acessa o estado compartilhado, e quando?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a corrida de 2 milhões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11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Exceções e eventos (14)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onde o erro é tratado, e é possível esquecê-lo?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o mesmo erro em 5 linguagens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12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Funcional (15)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dá para programar sem estado?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a soma dos cubos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13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Lógico (16)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dá para dizer o que, e não como?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ordenar permutando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Atividades complementares (autopesquisa)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Cap. 16 · exemplos/06_aplicacoes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766560" cy="4754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Forma clausal e prova de teoremas</a:t>
            </a:r>
            <a:r>
              <a:rPr sz="1700" b="0">
                <a:solidFill>
                  <a:srgbClr val="1F2937"/>
                </a:solidFill>
              </a:rPr>
              <a:t> formal (§16.2.2 e §16.3, p. 691-694)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As origens do Prolog</a:t>
            </a:r>
            <a:r>
              <a:rPr sz="1700" b="0">
                <a:solidFill>
                  <a:srgbClr val="1F2937"/>
                </a:solidFill>
              </a:rPr>
              <a:t> e o projeto japonês da Quinta Geração (§16.5, p. 696)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Quebra-cabeça lógico</a:t>
            </a:r>
            <a:r>
              <a:rPr sz="1700" b="0">
                <a:solidFill>
                  <a:srgbClr val="1F2937"/>
                </a:solidFill>
              </a:rPr>
              <a:t>: </a:t>
            </a:r>
            <a:r>
              <a:rPr sz="1564" b="0">
                <a:solidFill>
                  <a:srgbClr val="1F2937"/>
                </a:solidFill>
                <a:latin typeface="Consolas"/>
              </a:rPr>
              <a:t>quebra_cabeca.pl</a:t>
            </a:r>
            <a:r>
              <a:rPr sz="1700" b="0">
                <a:solidFill>
                  <a:srgbClr val="1F2937"/>
                </a:solidFill>
              </a:rPr>
              <a:t>. Acrescente uma pessoa e uma pista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Sistema especialista</a:t>
            </a:r>
            <a:r>
              <a:rPr sz="1700" b="0">
                <a:solidFill>
                  <a:srgbClr val="1F2937"/>
                </a:solidFill>
              </a:rPr>
              <a:t>: </a:t>
            </a:r>
            <a:r>
              <a:rPr sz="1564" b="0">
                <a:solidFill>
                  <a:srgbClr val="1F2937"/>
                </a:solidFill>
                <a:latin typeface="Consolas"/>
              </a:rPr>
              <a:t>especialista.pl</a:t>
            </a:r>
            <a:r>
              <a:rPr sz="1700" b="0">
                <a:solidFill>
                  <a:srgbClr val="1F2937"/>
                </a:solidFill>
              </a:rPr>
              <a:t>. Acrescente sintomas e diagnósticos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Exercícios de programação</a:t>
            </a:r>
            <a:r>
              <a:rPr sz="1700" b="0">
                <a:solidFill>
                  <a:srgbClr val="1F2937"/>
                </a:solidFill>
              </a:rPr>
              <a:t> do livro (p. 721) e a caça ao erro de </a:t>
            </a:r>
            <a:r>
              <a:rPr sz="1564" b="0">
                <a:solidFill>
                  <a:srgbClr val="1F2937"/>
                </a:solidFill>
                <a:latin typeface="Consolas"/>
              </a:rPr>
              <a:t>07_codigo_do_livro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Datalog hoje</a:t>
            </a:r>
            <a:r>
              <a:rPr sz="1700" b="0">
                <a:solidFill>
                  <a:srgbClr val="1F2937"/>
                </a:solidFill>
              </a:rPr>
              <a:t>: CodeQL (GitHub) e Soufflé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325880"/>
            <a:ext cx="3959352" cy="283464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</a:rPr>
              <a:t>Entrega sugerida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Escreva em Prolog um pequeno sistema especialista de um domínio que você conhece (regras de negócio do seu trabalho, pré-requisitos de disciplinas...), com pelo menos 5 regras e consultas de exemplo.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4343400"/>
            <a:ext cx="3959352" cy="16916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</a:rPr>
              <a:t>Próxima aula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Fim do bimestre: revisão com a tabela do slide anterior. Bons estudos!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
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(1 min).</a:t>
            </a:r>
          </a:p>
          <a:p>
            <a:r>
              <a:t>Até aqui, quase tudo o que estudamos era do paradigma IMPERATIVO: variáveis, atribuição, laços. Hoje mudamos de base: em vez de "comandos que alteram a memória", programas como "funções que transformam valores".</a:t>
            </a:r>
          </a:p>
          <a:p>
            <a:r>
              <a:t>Formato: expositiva e prática. Os alunos devem estar com o navegador aberto no OneCompiler (Scheme e Haskell) desde o começo.</a:t>
            </a:r>
          </a:p>
          <a:p>
            <a:r>
              <a:t>Mensagem central: mesmo quem nunca vai programar em Haskell já usa ideias funcionais todos os dias (Streams do Java, map/filter do JavaScript, iteradores do Rust, compreensões do Python). Conhecer a origem torna esse uso consciente.</a:t>
            </a:r>
          </a:p>
          <a:p>
            <a:r>
              <a:t>Todos os exemplos estão em Aula012/exemplos e foram executados no OneCompiler.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Problematização (até 5 min).</a:t>
            </a:r>
          </a:p>
          <a:p>
            <a:r>
              <a:t>Leia o objetivo.</a:t>
            </a:r>
          </a:p>
          <a:p/>
          <a:p>
            <a:r>
              <a:t>Os três casos:</a:t>
            </a:r>
          </a:p>
          <a:p>
            <a:r>
              <a:t>- MapReduce (Dean e Ghemawat, Google, 2004): o artigo diz textualmente que a abstração foi inspirada nas primitivas map e reduce do Lisp e de outras linguagens funcionais. Como a função passada ao map não tem efeitos colaterais, o sistema pode executá-la em milhares de máquinas, em qualquer ordem, e repetir a tarefa de uma máquina que falhou. Deu origem ao Hadoop e, depois, ao Spark (escrito em Scala, também funcional).</a:t>
            </a:r>
          </a:p>
          <a:p>
            <a:r>
              <a:t>- WhatsApp: o servidor era escrito em Erlang, uma linguagem funcional criada pela Ericsson para centrais telefônicas. Quando foi comprado pelo Facebook (2014, 19 bilhões de dólares), a empresa tinha cerca de 32 engenheiros para 450 milhões de usuários mensais. Processos leves e sem memória compartilhada (lembre da aula de concorrência) e dados imutáveis ajudam muito nisso. O Discord usa Elixir, que roda na mesma máquina virtual do Erlang.</a:t>
            </a:r>
          </a:p>
          <a:p>
            <a:r>
              <a:t>- React (2013) e Redux (2015): a interface é descrita como uma FUNÇÃO do estado, UI = f(estado). O estado não é alterado no lugar: cada ação produz um estado NOVO (imutabilidade), com uma função pura chamada reducer. A documentação do Redux cita a linguagem funcional Elm como inspiração.</a:t>
            </a:r>
          </a:p>
          <a:p>
            <a:r>
              <a:t>Pergunta para a turma: quem já usou map, filter ou stream()? Então já programou no estilo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 min).</a:t>
            </a:r>
          </a:p>
          <a:p>
            <a:r>
              <a:t>Ficam para autopesquisa (último slide): Common Lisp, ML e F# (os exemplos rodam no OneCompiler), o LISP original e as aplicações das linguagens funcionais.</a:t>
            </a:r>
          </a:p>
          <a:p>
            <a:r>
              <a:t>O slide "O código do livro roda?" é opcional em sala: se faltar tempo, vira atividade de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Sebesta (p. 632): as linguagens imperativas são parecidas entre si porque todas foram projetadas para a arquitetura de von Neumann: variáveis modelam células de memória, a atribuição modela a transferência de dados entre memória e CPU, e a iteração é a forma eficiente de repetir.</a:t>
            </a:r>
          </a:p>
          <a:p>
            <a:r>
              <a:t>O problema (p. 633): um programa imperativo tem ESTADO, representado pelas variáveis, que muda durante a execução. Quem lê precisa acompanhar como o estado muda, o que é "intimidante" em programas grandes.</a:t>
            </a:r>
          </a:p>
          <a:p>
            <a:r>
              <a:t>Backus (Prêmio Turing de 1977, palestra publicada em 1978): o criador do FORTRAN defendeu que linguagens puramente funcionais levam a programas mais legíveis e confiáveis, porque o significado das expressões não depende do contexto. Ele propôs a linguagem FP, que não pegou, mas motivou a pesquisa.</a:t>
            </a:r>
          </a:p>
          <a:p>
            <a:r>
              <a:t>Fundamentos (p. 636): uma linguagem puramente funcional NÃO tem variáveis nem atribuição. Sem variáveis, não há laços; a repetição é feita por RECURSÃO. Um programa é um conjunto de definições de funções e de aplicações de funções.</a:t>
            </a:r>
          </a:p>
          <a:p>
            <a:r>
              <a:t>Na prática (p. 637), quase todas as linguagens "funcionais" têm algum recurso imperativo; Haskell é a exceção pura.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Função matemática (p. 633): um MAPEAMENTO de elementos do conjunto domínio para o conjunto imagem. Características (p. 634):</a:t>
            </a:r>
          </a:p>
          <a:p>
            <a:r>
              <a:t>- a ordem de avaliação é controlada por recursão e expressões condicionais, e não por sequência e iteração;</a:t>
            </a:r>
          </a:p>
          <a:p>
            <a:r>
              <a:t>- sem efeitos colaterais: o mesmo elemento do domínio leva SEMPRE ao mesmo elemento da imagem;</a:t>
            </a:r>
          </a:p>
          <a:p>
            <a:r>
              <a:t>- não existe "variável" no sentido de célula de memória. Em cube(2.0), o x fica vinculado a 2.0 e é uma CONSTANTE durante a avaliação.</a:t>
            </a:r>
          </a:p>
          <a:p>
            <a:r>
              <a:t>Notação lambda (Alonzo Church, 1941, p. 635): define funções SEM NOME. λ(x) x * x * x é a própria função. Aplicada a 2, dá 8. O cálculo lambda é o modelo formal que inspirou as linguagens funcionais.</a:t>
            </a:r>
          </a:p>
          <a:p>
            <a:r>
              <a:t>A tabela mostra que a MESMA ideia chegou a quase todas as linguagens com sintaxes diferentes. Peça para a turma identificar em cada linha: onde está o parâmetro e onde está o corpo.</a:t>
            </a:r>
          </a:p>
          <a:p>
            <a:r>
              <a:t>Curiosidade: o "lambda" do Python e do Scheme vem direto de Church; o Java 8 (2014) chama de "expressão lambda", mesmo usando a seta.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puras.py.</a:t>
            </a:r>
          </a:p>
          <a:p>
            <a:r>
              <a:t>Função de ordem superior ou forma funcional (p. 635): recebe funções como parâmetros, devolve uma função como resultado, ou ambos.</a:t>
            </a:r>
          </a:p>
          <a:p>
            <a:r>
              <a:t>- COMPOSIÇÃO: h ≡ f ∘ g, com h(x) ≡ f(g(x)). No exemplo do livro, f(x) = x + 2 e g(x) = 3x, logo h(x) = 3x + 2 e h(4) = 14. Primeiro aplica g, depois f.</a:t>
            </a:r>
          </a:p>
          <a:p>
            <a:r>
              <a:t>- APLICAR-A-TODOS, α (p. 636): aplica uma função a cada elemento de uma lista e junta os resultados. α(h, (2, 3, 4)) = (4, 9, 16) com h(x) = x². Nas linguagens, é o MAP (nota de rodapé da p. 636).</a:t>
            </a:r>
          </a:p>
          <a:p>
            <a:r>
              <a:t>- REDUÇÃO (fold, reduce): não é destacada pelo livro nesta seção, mas completa o trio: combina todos os elementos de uma lista em um valor, com uma função de dois parâmetros e um valor inicial.</a:t>
            </a:r>
          </a:p>
          <a:p>
            <a:r>
              <a:t>Com essas três peças (mais o filter, que seleciona elementos), dá para escrever quase todo processamento de coleções SEM laço e SEM variável acumuladora. É o que faremos no exercício do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a primeira parte de puras.py.</a:t>
            </a:r>
          </a:p>
          <a:p>
            <a:r>
              <a:t>Transparência referencial (p. 636): a execução de uma função SEMPRE produz o mesmo resultado com os mesmos parâmetros. Consequência: qualquer chamada pode ser trocada pelo seu valor. cubo(2) + cubo(2) é o mesmo que 2 * cubo(2), que é o mesmo que 16.</a:t>
            </a:r>
          </a:p>
          <a:p>
            <a:r>
              <a:t>proximo_id NÃO tem essa propriedade: chamada duas vezes com "A", devolve A-1 e depois A-2, porque depende de (e altera) uma variável global. Trocar uma chamada pelo seu valor mudaria o programa.</a:t>
            </a:r>
          </a:p>
          <a:p>
            <a:r>
              <a:t>Vantagens citadas pelo livro:</a:t>
            </a:r>
          </a:p>
          <a:p>
            <a:r>
              <a:t>- semântica mais simples (p. 636-637);</a:t>
            </a:r>
          </a:p>
          <a:p>
            <a:r>
              <a:t>- TESTES mais fáceis: cada função pode ser testada separadamente, sem preparar contexto (p. 637);</a:t>
            </a:r>
          </a:p>
          <a:p>
            <a:r>
              <a:t>- CONCORRÊNCIA (p. 679): funções sem efeitos colaterais podem ser avaliadas em paralelo, e dados imutáveis compartilhados não precisam de sincronização (lembre das condições de corrida da aula 10);</a:t>
            </a:r>
          </a:p>
          <a:p>
            <a:r>
              <a:t>- de bônus: o resultado de uma função pura pode ser guardado em cache (memoização).</a:t>
            </a:r>
          </a:p>
          <a:p>
            <a:r>
              <a:t>Na prática, todo programa útil tem efeitos (ler arquivo, gravar no banco, imprimir). A estratégia funcional é EMPURRAR os efeitos para as bordas e manter o núcleo da lógica puro.</a:t>
            </a:r>
          </a:p>
          <a:p>
            <a:r>
              <a:t>Exemplo de mutação: sorted(notas) devolve uma lista nova; notas.sort() altera a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basico.scm no OneCompiler (onecompiler.com/scheme, que usa o GNU Guile). Peça para cada aluno abrir e rodar.</a:t>
            </a:r>
          </a:p>
          <a:p>
            <a:r>
              <a:t>Scheme (p. 641): dialeto do LISP criado no MIT em meados dos anos 1970 (Sussman e Steele). É pequeno, tem escopo estático e trata funções como valores de primeira classe. Muito usado no ensino (o clássico SICP).</a:t>
            </a:r>
          </a:p>
          <a:p>
            <a:r>
              <a:t>O interpretador (p. 641): um laço "ler, avaliar, imprimir" (REPL). Tudo é uma EXPRESSÃO que produz um valor.</a:t>
            </a:r>
          </a:p>
          <a:p>
            <a:r>
              <a:t>Notação prefixa (p. 642): (+ 3 7 10 2) = 22. O operador vem primeiro, e muitos aceitam qualquer número de operandos. Não há precedência de operadores: os parênteses dizem tudo.</a:t>
            </a:r>
          </a:p>
          <a:p>
            <a:r>
              <a:t>define (p. 643): vincula um nome a um valor, (define pi 3.14159), ou define uma função, (define (quadrado x) (* x x)). Não é atribuição: o nome não é "reatribuído" depois.</a:t>
            </a:r>
          </a:p>
          <a:p>
            <a:r>
              <a:t>lambda (p. 642): a função sem nome de Church.</a:t>
            </a:r>
          </a:p>
          <a:p>
            <a:r>
              <a:t>Controle (p. 645-646): if com 3 partes e cond, que é a forma de vários casos, com else no fim. Como tudo é expressão, o if DEVOLVE um valor, como o operador ternário de C e Java.</a:t>
            </a:r>
          </a:p>
          <a:p>
            <a:r>
              <a:t>LET (p. 654-655): nomes locais. O livro mostra que (let ((alpha 7)) (* 5 alpha)) é só uma forma abreviada de ((lambda (alpha) (* 5 alpha)) 7).</a:t>
            </a:r>
          </a:p>
          <a:p>
            <a:r>
              <a:t>No livro as palavras aparecem em maiúsculas (DEFINE, CAR); o Scheme atual usa minúsculas e diferencia maiúsculas de minúsculas.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segunda parte de basico.scm.</a:t>
            </a:r>
          </a:p>
          <a:p>
            <a:r>
              <a:t>A lista é A estrutura de dados do LISP ("LISt Processing"). Programas e dados têm a mesma forma: (A B C) pode ser uma lista de três símbolos ou uma chamada à função A. Por isso existe o QUOTE (o apóstrofo, p. 646): '(A B C) diz "não avalie, é um dado".</a:t>
            </a:r>
          </a:p>
          <a:p>
            <a:r>
              <a:t>Representação (Figura 15.1, p. 638): cada elemento é um PAR de ponteiros. O primeiro aponta para o dado; o segundo, para o próximo par. O último aponta para a lista vazia. É uma lista encadeada simples.</a:t>
            </a:r>
          </a:p>
          <a:p>
            <a:r>
              <a:t>As primitivas (p. 646-648):</a:t>
            </a:r>
          </a:p>
          <a:p>
            <a:r>
              <a:t>- CAR: o primeiro elemento. (car '(A B C)) = A;</a:t>
            </a:r>
          </a:p>
          <a:p>
            <a:r>
              <a:t>- CDR: o resto da lista. (cdr '(A B C)) = (B C);</a:t>
            </a:r>
          </a:p>
          <a:p>
            <a:r>
              <a:t>- CONS: constrói um par; é o inverso das duas. (cons 'A '(B C)) = (A B C). E (cons '(A B) '(C D)) = ((A B) C D), como na Figura 15.2;</a:t>
            </a:r>
          </a:p>
          <a:p>
            <a:r>
              <a:t>- LIST: monta uma lista com os parâmetros.</a:t>
            </a:r>
          </a:p>
          <a:p>
            <a:r>
              <a:t>Os nomes estranhos (p. 647): vêm do IBM 704, onde o LISP foi implementado pela primeira vez. CAR era "contents of the address part of a register" e CDR, "contents of the decrement part". Composições como CADR (o car do cdr, ou seja, o segundo elemento) também existem.</a:t>
            </a:r>
          </a:p>
          <a:p>
            <a:r>
              <a:t>Predicados (p. 645 e 649-650): null? (lista vazia), list?, eq? (mesmo símbolo), equal? (mesma estrutura).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recursao.scm.</a:t>
            </a:r>
          </a:p>
          <a:p>
            <a:r>
              <a:t>Sem laços, como percorrer uma lista? Com RECURSÃO (p. 651). O padrão é sempre o mesmo:</a:t>
            </a:r>
          </a:p>
          <a:p>
            <a:r>
              <a:t>1) caso da lista VAZIA (null?): a resposta direta;</a:t>
            </a:r>
          </a:p>
          <a:p>
            <a:r>
              <a:t>2) faz algo com o CAR;</a:t>
            </a:r>
          </a:p>
          <a:p>
            <a:r>
              <a:t>3) chama a função recursivamente com o CDR.</a:t>
            </a:r>
          </a:p>
          <a:p>
            <a:r>
              <a:t>member (p. 651): três casos no cond. Lista vazia: #f. O átomo é igual ao car: #t. Senão: procura no cdr. Observação do livro: o teste de lista vazia precisa vir ANTES, porque aplicar car a uma lista vazia é erro.</a:t>
            </a:r>
          </a:p>
          <a:p>
            <a:r>
              <a:t>O livro avisa (nota 5) que member já existe e, em muitos sistemas, não pode ser redefinida. Por isso o arquivo usa membro. (No Guile do OneCompiler, até daria para redefinir.)</a:t>
            </a:r>
          </a:p>
          <a:p>
            <a:r>
              <a:t>append (p. 653): anexa list1 a list2 com cons, um elemento de cada vez. Os pares de list1 são COPIADOS, e list2 é compartilhada, sem cópia: como nada é modificado, compartilhar é seguro. É uma vantagem importante da imutabilidade.</a:t>
            </a:r>
          </a:p>
          <a:p>
            <a:r>
              <a:t>adder (p. 658): soma de uma lista. É o esqueleto de toda REDUÇÃO.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</a:t>
            </a:r>
          </a:p>
          <a:p>
            <a:r>
              <a:t>Se a repetição é feita por recursão, cada chamada cria um registro de ativação (aula 8). Um milhão de repetições = um milhão de registros? Não necessariamente.</a:t>
            </a:r>
          </a:p>
          <a:p>
            <a:r>
              <a:t>Recursão em cauda (p. 655): a chamada recursiva é a ÚLTIMA operação da função. Nada fica "pendente" para depois que ela voltar.</a:t>
            </a:r>
          </a:p>
          <a:p>
            <a:r>
              <a:t>- fatorial comum: (* n (fatorial (- n 1))). A multiplicação acontece DEPOIS da chamada voltar, então cada nível precisa guardar o seu n. Veja a expressão crescer no rastreamento da esquerda;</a:t>
            </a:r>
          </a:p>
          <a:p>
            <a:r>
              <a:t>- facthelper (p. 656): o resultado parcial vai num PARÂMETRO ACUMULADOR. A multiplicação acontece ANTES da chamada. Não há nada a lembrar: o registro de ativação pode ser REUTILIZADO. O rastreamento da direita tem tamanho constante.</a:t>
            </a:r>
          </a:p>
          <a:p>
            <a:r>
              <a:t>Ponto importante do livro (p. 656): a definição de Scheme EXIGE que a recursão em cauda seja convertida em iteração. Por isso conta-ate faz um milhão de chamadas sem estourar a pilha.</a:t>
            </a:r>
          </a:p>
          <a:p>
            <a:r>
              <a:t>Compare: Java e Python NÃO fazem essa otimização (lembre do StackOverflowError com ~75 mil chamadas na aula 8). Em JavaScript, a especificação ES2015 exige, mas só o Safari implementa. Em Rust e C, depende do otimizador.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ordem_superior.scm.</a:t>
            </a:r>
          </a:p>
          <a:p>
            <a:r>
              <a:t>compose (p. 657): recebe duas funções e DEVOLVE uma nova função (uma lambda). ((compose car cdr) '((a b) c d)) = c, o mesmo que cadr. Com compose, dá para definir third como car ∘ cdr ∘ cdr.</a:t>
            </a:r>
          </a:p>
          <a:p>
            <a:r>
              <a:t>map (p. 657): a definição do livro tem 3 linhas e é o aplicar-a-todos da p. 636. (map (lambda (num) (* num num num)) '(3 4 2 6)) = (27 64 8 216). Também já existe predefinido.</a:t>
            </a:r>
          </a:p>
          <a:p>
            <a:r>
              <a:t>Código como dado (p. 658-659): como programas SÃO listas, um programa pode MONTAR código e executá-lo com eval. (cons '+ '(3 4 5)) produz a lista (+ 3 4 5), que é só um dado até ser avaliada. É o que permite, em Lisp, as MACROS (p. 660), código que escreve código.</a:t>
            </a:r>
          </a:p>
          <a:p>
            <a:r>
              <a:t>Detalhe prático: o livro omite o segundo parâmetro de eval e avisa (p. 659) que as versões atuais do Scheme exigem o ambiente. No Guile, sem ele dá erro de número de argumentos. O arquivo usa (interaction-environment).</a:t>
            </a:r>
          </a:p>
          <a:p>
            <a:r>
              <a:t>Na prática, para aplicar + a uma lista, use apply, sem montar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~8 a 10 min. ATIVIDADE em duplas.</a:t>
            </a:r>
          </a:p>
          <a:p>
            <a:r>
              <a:t>Os alunos abrem pratica.scm no OneCompiler. O arquivo RODA desde o começo: cada linha mostra o valor obtido e o esperado. Eles trocam os corpos marcados com "complete aqui" até as três linhas mostrarem "ok".</a:t>
            </a:r>
          </a:p>
          <a:p>
            <a:r>
              <a:t>Dica: copie a estrutura de membro e adder. Caso da lista vazia; depois o car; depois a chamada com o cdr.</a:t>
            </a:r>
          </a:p>
          <a:p>
            <a:r>
              <a:t>RESOLUÇÃO (também em pratica_resolvida.scm):</a:t>
            </a:r>
          </a:p>
          <a:p>
            <a:r>
              <a:t>(define (tamanho lis) (if (null? lis) 0 (+ 1 (tamanho (cdr lis)))))</a:t>
            </a:r>
          </a:p>
          <a:p>
            <a:r>
              <a:t>(define (soma-quadrados lis) (if (null? lis) 0 (+ (* (car lis) (car lis)) (soma-quadrados (cdr lis)))))</a:t>
            </a:r>
          </a:p>
          <a:p>
            <a:r>
              <a:t>(define (pares lis) (cond ((null? lis) '()) ((even? (car lis)) (cons (car lis) (pares (cdr lis)))) (else (pares (cdr lis)))))</a:t>
            </a:r>
          </a:p>
          <a:p>
            <a:r>
              <a:t>Para quem terminar cedo:</a:t>
            </a:r>
          </a:p>
          <a:p>
            <a:r>
              <a:t>- escrever soma-quadrados com map e apply: (apply + (map (lambda (x) (* x x)) lis));</a:t>
            </a:r>
          </a:p>
          <a:p>
            <a:r>
              <a:t>- escrever pares com filter: (filter even? lis);</a:t>
            </a:r>
          </a:p>
          <a:p>
            <a:r>
              <a:t>- reescrever tamanho em cauda, com acumulador.</a:t>
            </a:r>
          </a:p>
          <a:p>
            <a:r>
              <a:t>Erros comuns: esquecer o apóstrofo em '() e aplicar car a uma lista vazia (teste null? primeiro).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basico.hs (onecompiler.com/haskell).</a:t>
            </a:r>
          </a:p>
          <a:p>
            <a:r>
              <a:t>Haskell (p. 666) herdou de ML a sintaxe, o escopo estático, a tipagem forte e a INFERÊNCIA de tipos. Três diferenças para ML: funções podem ser sobrecarregadas; a semântica é NÃO ESTRITA (avaliação preguiçosa, daqui a pouco); e é PURA: não há expressões com efeitos colaterais (ML tem, por exemplo, vetores mutáveis).</a:t>
            </a:r>
          </a:p>
          <a:p>
            <a:r>
              <a:t>Casamento de padrões (p. 667): a função é definida por CASOS, escritos como equações. fact 0 = 1; fact n = n * fact (n - 1). O primeiro caso que casa é o usado. Compare com o cond do Scheme: é a mesma ideia, com sintaxe de matemática.</a:t>
            </a:r>
          </a:p>
          <a:p>
            <a:r>
              <a:t>Guardas (p. 667): condições após a barra, com otherwise no fim. O livro lembra que se parecem com os comandos protegidos do Cap. 8.</a:t>
            </a:r>
          </a:p>
          <a:p>
            <a:r>
              <a:t>Inferência (p. 661-662 e 667-668): nenhuma função do arquivo declara tipos, e ainda assim tudo é verificado em tempo de compilação. square x = x * x recebe o tipo Num a =&gt; a -&gt; a: serve para qualquer tipo numérico, por isso square 3 e square 2.5 funcionam. Em ML, square seria int -&gt; int, e square 2.75 seria ERRO (p. 662); veja ml.ml na autopesquisa.</a:t>
            </a:r>
          </a:p>
          <a:p>
            <a:r>
              <a:t>Observação: o fib do livro usa o padrão (n + 2), que foi REMOVIDO no Haskell 2010. Voltamos a isso no slide "O código do livro roda?".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</a:t>
            </a:r>
          </a:p>
          <a:p>
            <a:r>
              <a:t>Operadores de lista (p. 668): ":" é o CONS infixo (5 : [2, 7, 9]); "++" concatena; ".." gera séries aritméticas ([1, 3 .. 11]). Com isso, fact n = product [1 .. n], sem recursão explícita.</a:t>
            </a:r>
          </a:p>
          <a:p>
            <a:r>
              <a:t>Compreensões de lista (p. 668-669): a notação de conjuntos da matemática. [n * n * n | n &lt;- [1 .. 50]] lê-se "a lista de n³ tal que n vem de 1 a 50". Tem GERADORES (n &lt;- ...) e TESTES (condições booleanas). factors n devolve os divisores até n/2: factors 28 = [1,2,4,7,14]. Python copiou essa ideia (aula 6).</a:t>
            </a:r>
          </a:p>
          <a:p>
            <a:r>
              <a:t>Quicksort (p. 669): o primeiro elemento h é o pivô. Ordena os menores ou iguais, junta o pivô, ordena os maiores. Três linhas contra dezenas em C. O livro destaca a concisão.</a:t>
            </a:r>
          </a:p>
          <a:p>
            <a:r>
              <a:t>ATENÇÃO, ERRO DE IMPRESSÃO: o livro traz "b &lt;- h" na primeira compreensão, em vez de "b &lt;= h". Com "&lt;-", o compilador entende que h é uma LISTA e infere o tipo [a] -&gt; [[a]], que não fecha: dá erro de tipo (arquivo 07_codigo_do_livro/quicksort_livro.hs). É um bom exemplo de como a inferência de tipos pega erros.</a:t>
            </a:r>
          </a:p>
          <a:p>
            <a:r>
              <a:t>Ressalva honesta: esse quicksort é elegante, mas cria listas novas a cada nível e percorre t duas vezes. Não é o quicksort "no lugar" de C; serve para mostrar a ideia do algoritmo.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o fim de basico.hs, e curry.rb e funcional.py (05_imperativas).</a:t>
            </a:r>
          </a:p>
          <a:p>
            <a:r>
              <a:t>Currying (p. 665): substituir uma função de vários parâmetros por uma função de UM parâmetro que devolve outra função, que recebe o resto. O nome homenageia o matemático Haskell Curry (nota 10), o mesmo que dá nome à linguagem.</a:t>
            </a:r>
          </a:p>
          <a:p>
            <a:r>
              <a:t>Em ML, Haskell e F#, todas as funções "de vários parâmetros" já são assim: add a b = a + b é, na verdade, uma função que recebe a e devolve uma função que recebe b. add 3 5 = 8.</a:t>
            </a:r>
          </a:p>
          <a:p>
            <a:r>
              <a:t>Avaliação parcial (p. 666): chamar com MENOS parâmetros cria uma função especializada. add5 = add 5; add5 10 = 15. Útil com map: map (add 1) [1, 2, 3] = [2, 3, 4].</a:t>
            </a:r>
          </a:p>
          <a:p>
            <a:r>
              <a:t>Nas outras linguagens, é manual: em Scheme, uma lambda que devolve lambda (p. 666; o livro esqueceu um parêntese antes do DEFINE); em JavaScript, setas encadeadas; em Python, functools.partial (p. 676); em Ruby, o método curry (p. 677).</a:t>
            </a:r>
          </a:p>
          <a:p>
            <a:r>
              <a:t>Uso real: configurar uma função uma vez e reutilizar (por exemplo, um logger com o nível já definido, ou um validador com o limite já definido).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preguica.hs.</a:t>
            </a:r>
          </a:p>
          <a:p>
            <a:r>
              <a:t>Estrita × não estrita (p. 669): uma linguagem é ESTRITA se avalia todos os parâmetros antes de chamar a função (Scheme, ML, Java, C...). Haskell é NÃO ESTRITA: usa avaliação PREGUIÇOSA, que só calcula uma expressão quando o valor é necessário, e uma vez só.</a:t>
            </a:r>
          </a:p>
          <a:p>
            <a:r>
              <a:t>Consequências:</a:t>
            </a:r>
          </a:p>
          <a:p>
            <a:r>
              <a:t>- parâmetros não usados nunca são avaliados: primeiro 42 (div 1 0) devolve 42, sem erro de divisão por zero. Lembre da avaliação em curto-circuito (nota 12, p. 669);</a:t>
            </a:r>
          </a:p>
          <a:p>
            <a:r>
              <a:t>- LISTAS INFINITAS (p. 670): [0 ..], [2, 4 ..], [n * n | n &lt;- [0 ..]]. Só se calcula o pedaço usado (take, takeWhile);</a:t>
            </a:r>
          </a:p>
          <a:p>
            <a:r>
              <a:t>- a armadilha do member (p. 670): member 16 squares dá True, mas member 17 squares NUNCA termina, porque procura para sempre. member2 usa o fato de a lista ser crescente e desiste ao passar do número.</a:t>
            </a:r>
          </a:p>
          <a:p>
            <a:r>
              <a:t>- modularidade (p. 670-671, Hughes, 1989): um produtor gera dados sob demanda e o consumidor decide quanto usar, sem arquivos intermediários.</a:t>
            </a:r>
          </a:p>
          <a:p>
            <a:r>
              <a:t>O custo (p. 678): a preguiça tem impacto negativo na eficiência, e fica mais difícil prever o uso de memória.</a:t>
            </a:r>
          </a:p>
          <a:p>
            <a:r>
              <a:t>O que as outras linguagens pegaram: Streams do Java, geradores do Python, iteradores do Rust e LINQ do C# são preguiçosos. A preguiça é opcional, e não o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Pipeline.java.</a:t>
            </a:r>
          </a:p>
          <a:p>
            <a:r>
              <a:t>Sebesta (p. 674): as primeiras linguagens imperativas não tinham funções de ordem superior. Na última década, quase todas ganharam funções anônimas: JavaScript, Python, Ruby, Java e C#.</a:t>
            </a:r>
          </a:p>
          <a:p>
            <a:r>
              <a:t>Java 8 (2014, p. 676): lambdas com "-&gt;". Antes, o jeito era criar uma classe (muitas vezes anônima) com um método, instanciá-la e passar o objeto (nota 15).</a:t>
            </a:r>
          </a:p>
          <a:p>
            <a:r>
              <a:t>Pontos do exemplo:</a:t>
            </a:r>
          </a:p>
          <a:p>
            <a:r>
              <a:t>- Function tem compose e andThen: f.compose(g) é f ∘ g (primeiro g), e f.andThen(g) aplica primeiro f. Com f(x) = x + 2 e g(x) = 3x: 14 e 18;</a:t>
            </a:r>
          </a:p>
          <a:p>
            <a:r>
              <a:t>- FECHAMENTO: a lambda captura limite. Em Java, a variável capturada precisa ser "efetivamente final" (nunca reatribuída), para evitar surpresas;</a:t>
            </a:r>
          </a:p>
          <a:p>
            <a:r>
              <a:t>- o pipeline filtra, transforma e reduz sem laço e sem variável acumuladora;</a:t>
            </a:r>
          </a:p>
          <a:p>
            <a:r>
              <a:t>- groupingBy é um "GROUP BY" do SQL;</a:t>
            </a:r>
          </a:p>
          <a:p>
            <a:r>
              <a:t>- record Produto é imutável (aula 9);</a:t>
            </a:r>
          </a:p>
          <a:p>
            <a:r>
              <a:t>- Stream.iterate(1, n -&gt; n * 2) é INFINITO: sem limit, nunca terminaria. Os Streams são preguiçosos, como as listas de Haskell.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pipeline.js, funcional.py e Lambdas.cs.</a:t>
            </a:r>
          </a:p>
          <a:p>
            <a:r>
              <a:t>JavaScript (p. 675): função anônima com a sintaxe de function sem nome e, desde 2015, com seta. Arrays têm map, filter e reduce. A função somador devolve uma função que "lembra" o n: é um FECHAMENTO. Object.freeze e o espalhamento ({ ...original, nota: 8 }) criam um valor NOVO em vez de alterar o antigo: é o estilo do React e do Redux.</a:t>
            </a:r>
          </a:p>
          <a:p>
            <a:r>
              <a:t>Python (p. 676): lambda de uma expressão, map, filter, partial e compreensões. ATENÇÃO: o livro diz que map(lambda x: x ** 3, [2, 4, 6, 8]) "retorna [8 64 216 512]". Isso valia no Python 2. No Python 3, map é PREGUIÇOSO: devolve um iterador e imprime &lt;map object ...&gt;. Para ver a lista, use list(...). O livro também omite o "from functools import partial".</a:t>
            </a:r>
          </a:p>
          <a:p>
            <a:r>
              <a:t>C# (p. 675-676): Array.FindAll(numbers, n =&gt; n &gt; 0) e o delegate genérico Func&lt;int, int, int&gt;. As variáveis CAPTURADAS têm o tempo de vida estendido (p. 676). Diferença importante para o Java: em C#, a lambda enxerga a MUDANÇA da variável capturada. No exemplo, limite muda de 3 para 4 depois de criar a lambda, e maior(4) dá False. Em Java, isso nem compilaria.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iteradores.rs.</a:t>
            </a:r>
          </a:p>
          <a:p>
            <a:r>
              <a:t>Rust (que o Sebesta não cobre neste capítulo) é imperativo, mas foi muito influenciado por ML e Haskell: variáveis imutáveis por padrão (é preciso escrever mut), Option e Result (união discriminada, como em ML), casamento de padrões com match e inferência de tipos local.</a:t>
            </a:r>
          </a:p>
          <a:p>
            <a:r>
              <a:t>Fechamentos: |x| x * x * x. somador devolve um fechamento que captura n por valor (move).</a:t>
            </a:r>
          </a:p>
          <a:p>
            <a:r>
              <a:t>Iteradores: a cadeia iter().filter().map().sum() é compilada para um código tão rápido quanto o laço à mão ("abstração de custo zero"). Isso responde, em parte, à crítica de desempenho da p. 678.</a:t>
            </a:r>
          </a:p>
          <a:p>
            <a:r>
              <a:t>A PREGUIÇA aparece na saída: "nada foi processado ainda" é impresso ANTES de "processando 1". O map só executa quando o take/collect consome. E só processa 2 dos 6 elementos.</a:t>
            </a:r>
          </a:p>
          <a:p>
            <a:r>
              <a:t>(1u64..) é uma faixa infinita, como [1 ..] em Haskell; take_while pega só o necessário.</a:t>
            </a:r>
          </a:p>
          <a:p>
            <a:r>
              <a:t>fold é a redução geral: fatorial de 20 sem laço.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soma_cubos.c e soma_cubos.hs.</a:t>
            </a:r>
          </a:p>
          <a:p>
            <a:r>
              <a:t>O exemplo do livro (p. 678): somar os cubos de 1 a n. Em C, uma variável acumuladora, um índice, um laço. Em Haskell, uma linha que só diz O QUÊ: gere a lista [1..n], eleve cada um ao cubo, some. O livro defende que a versão funcional é mais LEGÍVEL, porque os detalhes das variáveis e do controle da iteração somem.</a:t>
            </a:r>
          </a:p>
          <a:p>
            <a:r>
              <a:t>Os argumentos da seção 15.11:</a:t>
            </a:r>
          </a:p>
          <a:p>
            <a:r>
              <a:t>- sintaxe e semântica mais simples (p. 677);</a:t>
            </a:r>
          </a:p>
          <a:p>
            <a:r>
              <a:t>- tamanho: há relatos de programas funcionais com 10% do tamanho dos imperativos, e 25% em outras áreas (Wadler, 1998). Mas o livro alerta: tamanho NÃO é boa medida de produtividade;</a:t>
            </a:r>
          </a:p>
          <a:p>
            <a:r>
              <a:t>- desempenho (p. 678): um programa funcional típico levaria cerca de 2 vezes mais tempo (Wadler, 1998). Isso importa só quando a velocidade é crítica;</a:t>
            </a:r>
          </a:p>
          <a:p>
            <a:r>
              <a:t>- concorrência (p. 679): funções sem efeitos colaterais são fáceis de executar em paralelo;</a:t>
            </a:r>
          </a:p>
          <a:p>
            <a:r>
              <a:t>- por que não são mais populares (p. 679): implementações antigas eram lentas, e quase todos aprendem a programar no estilo imperativo.</a:t>
            </a:r>
          </a:p>
          <a:p>
            <a:r>
              <a:t>ACHADO AO EXECUTAR: a nota do tradutor (p. 679) propõe uma versão recursiva em C com o caso base (n == 1) ? 0, que PERDE o 1. O programa imprime 0, 8, 35 e 99, em vez de 1, 9, 36 e 100. O caso base correto é (n == 0) ? 0. Ótimo exemplo de que é preciso testar até o código do livro.</a:t>
            </a:r>
          </a:p>
          <a:p>
            <a:r>
              <a:t>Bônus: com n = 1000, o int de 32 bits do C estoura (imprime 1392146832); o Integer do Haskell dá 250500250000.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 em sala, ou como tarefa.</a:t>
            </a:r>
          </a:p>
          <a:p>
            <a:r>
              <a:t>Ao executar os exemplos do Cap. 15 no OneCompiler, encontramos trechos que NÃO rodam como estão impressos. Os arquivos da pasta 07_codigo_do_livro reproduzem o texto do livro exatamente, e falham de propósito. Desafio para a turma: executar, ler a mensagem de erro e propor a correção.</a:t>
            </a:r>
          </a:p>
          <a:p>
            <a:r>
              <a:t>Respostas:</a:t>
            </a:r>
          </a:p>
          <a:p>
            <a:r>
              <a:t>- p. 659, factorial em Common Lisp: o parâmetro é x, mas o corpo usa n; e falta um parêntese, então o SBCL entende (* n factorial ...) como multiplicar pela VARIÁVEL factorial. Dois avisos de "undefined variable" e erro "The variable N is unbound".</a:t>
            </a:r>
          </a:p>
          <a:p>
            <a:r>
              <a:t>- p. 667, fib (n + 2): os padrões "n + k" existiam no Haskell 1.4 (a versão que o livro diz usar) e foram removidos no Haskell 2010. Erro "Parse error in pattern: n + 2". Correção: fib n = fib (n - 1) + fib (n - 2).</a:t>
            </a:r>
          </a:p>
          <a:p>
            <a:r>
              <a:t>- p. 669, quicksort: "b &lt;- h" em vez de "b &lt;= h". Erro de TIPO, e a mensagem mostra o tipo inferido [a] -&gt; [[a]].</a:t>
            </a:r>
          </a:p>
          <a:p>
            <a:r>
              <a:t>- p. 676, map em Python: roda, mas imprime &lt;map object ...&gt;; em Python 3, map é preguiçoso.</a:t>
            </a:r>
          </a:p>
          <a:p>
            <a:r>
              <a:t>- p. 679, nota do tradutor: roda, mas dá o resultado errado (caso base).</a:t>
            </a:r>
          </a:p>
          <a:p>
            <a:r>
              <a:t>Outros detalhes menores: p. 660, a crase do Common Lisp saiu como apóstrofo; p. 666, falta o "(" antes do DEFINE do add em Scheme.</a:t>
            </a:r>
          </a:p>
          <a:p>
            <a:r>
              <a:t>Lição para engenharia de software: código em livro, em documentação ou em respostas de IA precisa ser EXECUTADO e TESTADO. Além disso, as linguagens evoluem (Haskell 1.4 → 2010, Python 2 →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~10 min. Em duplas. Pode valer como atividade avaliativa em sala.</a:t>
            </a:r>
          </a:p>
          <a:p>
            <a:r>
              <a:t>Para cada laço: (a) o que ele calcula? (b) reescreva SEM laço e SEM variável acumuladora, usando as formas funcionais da linguagem. Os enunciados completos estão em 08_exercicio/enunciado e rodam no OneCompiler, o que permite conferir se a versão nova dá o mesmo resultado.</a:t>
            </a:r>
          </a:p>
          <a:p>
            <a:r>
              <a:t>No exercício 2, a lista alunos está no arquivo: Ana 8,5; Bruno 5,0; Carla 7,0; Davi 9,5.</a:t>
            </a:r>
          </a:p>
          <a:p/>
          <a:p>
            <a:r>
              <a:t>RESOLUÇÃO (arquivos em 08_exercicio/resolucao):</a:t>
            </a:r>
          </a:p>
          <a:p>
            <a:r>
              <a:t>1) Java: soma dos quadrados dos pares = 64 + 144 + 36 = 244.</a:t>
            </a:r>
          </a:p>
          <a:p>
            <a:r>
              <a:t>   nums.stream().filter(n -&gt; n % 2 == 0).mapToInt(n -&gt; n * n).sum()</a:t>
            </a:r>
          </a:p>
          <a:p>
            <a:r>
              <a:t>2) JavaScript: nomes dos aprovados em maiúsculas: "ANA, CARLA, DAVI".</a:t>
            </a:r>
          </a:p>
          <a:p>
            <a:r>
              <a:t>   alunos.filter((a) =&gt; a.nota &gt;= 6).map((a) =&gt; a.nome.toUpperCase()).join(", 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RESOLUÇÃO:</a:t>
            </a:r>
          </a:p>
          <a:p>
            <a:r>
              <a:t>3) Python: desconto de 10% acima de 100: [50.0, 108.0, 80.0, 180.0].</a:t>
            </a:r>
          </a:p>
          <a:p>
            <a:r>
              <a:t>   [p * 0.9 if p &gt; 100 else p for p in precos]</a:t>
            </a:r>
          </a:p>
          <a:p>
            <a:r>
              <a:t>   ou list(map(lambda p: p * 0.9 if p &gt; 100 else p, precos)).</a:t>
            </a:r>
          </a:p>
          <a:p>
            <a:r>
              <a:t>4) Rust: soma das leituras até a primeira negativa: 12 + 7 + 30 = 49.</a:t>
            </a:r>
          </a:p>
          <a:p>
            <a:r>
              <a:t>   leituras.iter().take_while(|&amp;&amp;x| x &gt;= 0).sum::&lt;i32&gt;()</a:t>
            </a:r>
          </a:p>
          <a:p>
            <a:r>
              <a:t>   O break vira take_while, uma operação preguiçosa que para no primeiro elemento que falha.</a:t>
            </a:r>
          </a:p>
          <a:p>
            <a:r>
              <a:t>DESAFIO (desafio.hs): os exercícios 1 e 4 em Haskell.</a:t>
            </a:r>
          </a:p>
          <a:p>
            <a:r>
              <a:t>   sum [n * n | n &lt;- nums, even n]   → 244</a:t>
            </a:r>
          </a:p>
          <a:p>
            <a:r>
              <a:t>   sum (takeWhile (&gt;= 0) leituras)   → 49</a:t>
            </a:r>
          </a:p>
          <a:p>
            <a:r>
              <a:t>Fechamento: em qual versão é mais fácil ver O QUE é calculado? E em qual é mais fácil errar (índice, acumulador esquecido, break no lugar errado)?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~2 min.</a:t>
            </a:r>
          </a:p>
          <a:p>
            <a:r>
              <a:t>Mensagem final: o paradigma funcional não é "outra linguagem", e sim um conjunto de IDEIAS (funções como valores, ausência de efeitos colaterais, composição, preguiça, imutabilidade) que as linguagens imperativas vêm adotando uma a uma. Scheme e Haskell mostram essas ideias em estado puro, e por isso ajudam a usá-las bem em Java, JavaScript, Python e Rust.</a:t>
            </a:r>
          </a:p>
          <a:p>
            <a:r>
              <a:t>Leitura da tabela:</a:t>
            </a:r>
          </a:p>
          <a:p>
            <a:r>
              <a:t>- recursão em cauda: Scheme EXIGE a otimização (p. 656). Java e Python não fazem; em JavaScript, só o Safari implementa o que a especificação pede;</a:t>
            </a:r>
          </a:p>
          <a:p>
            <a:r>
              <a:t>- imutável por padrão: só Haskell e Rust. Nas outras, a imutabilidade é uma disciplina (final, const, record, List.of, tuplas);</a:t>
            </a:r>
          </a:p>
          <a:p>
            <a:r>
              <a:t>- preguiça: padrão só em Haskell; nas outras, é opcional (Streams, geradores, iteradores).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 min.</a:t>
            </a:r>
          </a:p>
          <a:p>
            <a:r>
              <a:t>Sugestão de entrega (pode compor a Atividade de Estudo Programada): o trecho reescrito, nas duas versões, com um parágrafo de comparação.</a:t>
            </a:r>
          </a:p>
          <a:p>
            <a:r>
              <a:t>Destaques:</a:t>
            </a:r>
          </a:p>
          <a:p>
            <a:r>
              <a:t>- Common Lisp (p. 659-660): a "união" dos dialetos de Lisp, grande e complexa como C++. Tem construções imperativas, escopo estático e dinâmico (variáveis "special") e MACROS, que recebem código e devolvem código. O exemplo mostra dolist (uma macro predefinida), a crase com vírgula e uma macro do usuário, ao-contrario.</a:t>
            </a:r>
          </a:p>
          <a:p>
            <a:r>
              <a:t>- ML (p. 660-666): tipagem forte com inferência. Em OCaml, os operadores de float são diferentes (+., *.), e não há coerção: square 2.75 com square x = x * x é erro de tipo.</a:t>
            </a:r>
          </a:p>
          <a:p>
            <a:r>
              <a:t>- F# (p. 671-674): funcional na plataforma .NET, baseada em OCaml. O pipeline |&gt; faz os dados fluírem pelas funções, como os Streams.</a:t>
            </a:r>
          </a:p>
          <a:p>
            <a:r>
              <a:t>- Aplicações: Erlang foi criada na Ericsson para centrais telefônicas; o Nubank usa Clojure (um Lisp na JVM) em larga escala.</a:t>
            </a:r>
          </a:p>
          <a:p>
            <a:r>
              <a:t>Próxima aula: Paradigma lógico (Cap. 16), com Prolog no OneCompiler, e fechamento do bimestre.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1">
          <a:solidFill>
            <a:srgbClr val="1F293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59" y="1828800"/>
            <a:ext cx="10545775" cy="1280160"/>
          </a:xfrm>
        </p:spPr>
        <p:txBody>
          <a:bodyPr/>
          <a:lstStyle/>
          <a:p>
            <a:pPr algn="l"/>
            <a:r>
              <a:rPr sz="4800" b="1">
                <a:solidFill>
                  <a:srgbClr val="1F2937"/>
                </a:solidFill>
              </a:rPr>
              <a:t>Paradigma Funcional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59" y="3246120"/>
            <a:ext cx="10545775" cy="2011680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1F2937"/>
                </a:solidFill>
              </a:rPr>
              <a:t>Aula 12 · Paradigmas de Linguagens de Programação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667085"/>
                </a:solidFill>
              </a:rPr>
              <a:t>Engenharia de Software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667085"/>
                </a:solidFill>
              </a:rPr>
              <a:t>Referência: Sebesta, Conceitos de Linguagens de Programação, 11ª ed., Cap. 15 (p. 631-686)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ligação com o mundo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15 · p. 631-686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66E"/>
                </a:solidFill>
              </a:rP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</a:rPr>
              <a:t>O objetivo desta aula é aprender a pensar em </a:t>
            </a:r>
            <a:r>
              <a:rPr sz="2000" b="1">
                <a:solidFill>
                  <a:srgbClr val="1F2937"/>
                </a:solidFill>
              </a:rPr>
              <a:t>funções sem efeitos colaterais</a:t>
            </a:r>
            <a:r>
              <a:rPr sz="2000" b="0">
                <a:solidFill>
                  <a:srgbClr val="1F2937"/>
                </a:solidFill>
              </a:rPr>
              <a:t> que se combinam em pipelines, um estilo que deixa o código </a:t>
            </a:r>
            <a:r>
              <a:rPr sz="2000" b="1">
                <a:solidFill>
                  <a:srgbClr val="1F2937"/>
                </a:solidFill>
              </a:rPr>
              <a:t>mais fácil de testar, de paralelizar e de entender</a:t>
            </a:r>
            <a:r>
              <a:rPr sz="2000" b="0">
                <a:solidFill>
                  <a:srgbClr val="1F2937"/>
                </a:solidFill>
              </a:rPr>
              <a:t>, e que já está dentro do Java, do JavaScript, do Python e do 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Para o engenheiro de software, isso significa: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escrever transformações de dados com </a:t>
            </a:r>
            <a:r>
              <a:rPr sz="1472" b="0">
                <a:solidFill>
                  <a:srgbClr val="1F2937"/>
                </a:solidFill>
                <a:latin typeface="Consolas"/>
              </a:rPr>
              <a:t>map</a:t>
            </a:r>
            <a:r>
              <a:rPr sz="1600" b="0">
                <a:solidFill>
                  <a:srgbClr val="1F2937"/>
                </a:solidFill>
              </a:rPr>
              <a:t>, </a:t>
            </a:r>
            <a:r>
              <a:rPr sz="1472" b="0">
                <a:solidFill>
                  <a:srgbClr val="1F2937"/>
                </a:solidFill>
                <a:latin typeface="Consolas"/>
              </a:rPr>
              <a:t>filter</a:t>
            </a:r>
            <a:r>
              <a:rPr sz="1600" b="0">
                <a:solidFill>
                  <a:srgbClr val="1F2937"/>
                </a:solidFill>
              </a:rPr>
              <a:t> e </a:t>
            </a:r>
            <a:r>
              <a:rPr sz="1472" b="0">
                <a:solidFill>
                  <a:srgbClr val="1F2937"/>
                </a:solidFill>
                <a:latin typeface="Consolas"/>
              </a:rPr>
              <a:t>reduce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isolar os efeitos colaterais para testar a lógica sem contexto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ler código de bibliotecas e frameworks de estilo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42318"/>
                </a:solidFill>
              </a:rPr>
              <a:t>Funcional em produção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2004 · MapReduce (Google)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modelo que processava a web inteira foi inspirado, segundo o próprio artigo, no map e no reduce do Lisp.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3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2014 · WhatsApp (Erlang)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Cerca de 32 engenheiros sustentavam 450 milhões de usuários quando o Facebook comprou a empresa.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7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2015 · React e Redux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 tela é uma função do estado, e o estado não é alterado, e sim substituído. O Redux se inspirou em Elm.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da aula (80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Planejamento do Encontro 7 · Sebesta Cap. 15</a:t>
            </a:r>
          </a:p>
        </p:txBody>
      </p:sp>
      <p:sp>
        <p:nvSpPr>
          <p:cNvPr id="4" name="Oval 3"/>
          <p:cNvSpPr/>
          <p:nvPr/>
        </p:nvSpPr>
        <p:spPr>
          <a:xfrm>
            <a:off x="1200881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0-15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Fundamentos: funções matemáticas</a:t>
            </a:r>
          </a:p>
        </p:txBody>
      </p:sp>
      <p:sp>
        <p:nvSpPr>
          <p:cNvPr id="6" name="Oval 5"/>
          <p:cNvSpPr/>
          <p:nvPr/>
        </p:nvSpPr>
        <p:spPr>
          <a:xfrm>
            <a:off x="3456340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4099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15-35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Scheme na prática</a:t>
            </a:r>
          </a:p>
        </p:txBody>
      </p:sp>
      <p:sp>
        <p:nvSpPr>
          <p:cNvPr id="8" name="Oval 7"/>
          <p:cNvSpPr/>
          <p:nvPr/>
        </p:nvSpPr>
        <p:spPr>
          <a:xfrm>
            <a:off x="5711799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59558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35-55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Haskell: padrões, currying e preguiça</a:t>
            </a:r>
          </a:p>
        </p:txBody>
      </p:sp>
      <p:sp>
        <p:nvSpPr>
          <p:cNvPr id="10" name="Oval 9"/>
          <p:cNvSpPr/>
          <p:nvPr/>
        </p:nvSpPr>
        <p:spPr>
          <a:xfrm>
            <a:off x="7967258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017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55-70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Você já usa funcional: Java, JS, Rust</a:t>
            </a:r>
          </a:p>
        </p:txBody>
      </p:sp>
      <p:sp>
        <p:nvSpPr>
          <p:cNvPr id="12" name="Oval 11"/>
          <p:cNvSpPr/>
          <p:nvPr/>
        </p:nvSpPr>
        <p:spPr>
          <a:xfrm>
            <a:off x="10222717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0476" y="2834640"/>
            <a:ext cx="207257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70-80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Exercício: laço vira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Tipo de aula:</a:t>
            </a:r>
            <a:r>
              <a:rPr sz="1700" b="0">
                <a:solidFill>
                  <a:srgbClr val="1F2937"/>
                </a:solidFill>
              </a:rPr>
              <a:t> expositiva e prática: cada conceito é executado na hora no OneCompiler (Scheme e Haskell).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Exemplos:</a:t>
            </a:r>
            <a:r>
              <a:rPr sz="1700" b="0">
                <a:solidFill>
                  <a:srgbClr val="1F2937"/>
                </a:solidFill>
              </a:rPr>
              <a:t> pasta </a:t>
            </a:r>
            <a:r>
              <a:rPr sz="1564" b="0">
                <a:solidFill>
                  <a:srgbClr val="1F2937"/>
                </a:solidFill>
                <a:latin typeface="Consolas"/>
              </a:rPr>
              <a:t>exemplos/</a:t>
            </a:r>
            <a:r>
              <a:rPr sz="1700" b="0">
                <a:solidFill>
                  <a:srgbClr val="1F2937"/>
                </a:solidFill>
              </a:rPr>
              <a:t>, na ordem dos slides. Todos rodam no navegador em </a:t>
            </a:r>
            <a:r>
              <a:rPr sz="1700" b="1">
                <a:solidFill>
                  <a:srgbClr val="1F2937"/>
                </a:solidFill>
              </a:rPr>
              <a:t>onecompiler.com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Imperativo × funcional: o problema do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§15.1 e §15.3 · p. 632-633 e 636-637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324612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B42318"/>
                </a:solidFill>
              </a:rPr>
              <a:t>Imperativo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Modelo: a </a:t>
            </a:r>
            <a:r>
              <a:rPr sz="1800" b="1">
                <a:solidFill>
                  <a:srgbClr val="1F2937"/>
                </a:solidFill>
              </a:rPr>
              <a:t>memória</a:t>
            </a:r>
            <a:r>
              <a:rPr sz="1800" b="0">
                <a:solidFill>
                  <a:srgbClr val="1F2937"/>
                </a:solidFill>
              </a:rPr>
              <a:t> de von Neumann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</a:rPr>
              <a:t>Variáveis</a:t>
            </a:r>
            <a:r>
              <a:rPr sz="1800" b="0">
                <a:solidFill>
                  <a:srgbClr val="1F2937"/>
                </a:solidFill>
              </a:rPr>
              <a:t> e </a:t>
            </a:r>
            <a:r>
              <a:rPr sz="1800" b="1">
                <a:solidFill>
                  <a:srgbClr val="1F2937"/>
                </a:solidFill>
              </a:rPr>
              <a:t>atribuição</a:t>
            </a:r>
            <a:r>
              <a:rPr sz="1800" b="0">
                <a:solidFill>
                  <a:srgbClr val="1F2937"/>
                </a:solidFill>
              </a:rPr>
              <a:t> mudam o estado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Repetição com </a:t>
            </a:r>
            <a:r>
              <a:rPr sz="1800" b="1">
                <a:solidFill>
                  <a:srgbClr val="1F2937"/>
                </a:solidFill>
              </a:rPr>
              <a:t>laços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O resultado depende da </a:t>
            </a:r>
            <a:r>
              <a:rPr sz="1800" b="1">
                <a:solidFill>
                  <a:srgbClr val="1F2937"/>
                </a:solidFill>
              </a:rPr>
              <a:t>ordem</a:t>
            </a:r>
            <a:r>
              <a:rPr sz="1800" b="0">
                <a:solidFill>
                  <a:srgbClr val="1F2937"/>
                </a:solidFill>
              </a:rPr>
              <a:t> dos comandos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25880"/>
            <a:ext cx="5394960" cy="324612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067647"/>
                </a:solidFill>
              </a:rPr>
              <a:t>Funcional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Modelo: a </a:t>
            </a:r>
            <a:r>
              <a:rPr sz="1800" b="1">
                <a:solidFill>
                  <a:srgbClr val="1F2937"/>
                </a:solidFill>
              </a:rPr>
              <a:t>função matemática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Sem variáveis mutáveis: só </a:t>
            </a:r>
            <a:r>
              <a:rPr sz="1800" b="1">
                <a:solidFill>
                  <a:srgbClr val="1F2937"/>
                </a:solidFill>
              </a:rPr>
              <a:t>valores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Repetição com </a:t>
            </a:r>
            <a:r>
              <a:rPr sz="1800" b="1">
                <a:solidFill>
                  <a:srgbClr val="1F2937"/>
                </a:solidFill>
              </a:rPr>
              <a:t>recursão</a:t>
            </a:r>
            <a:r>
              <a:rPr sz="1800" b="0">
                <a:solidFill>
                  <a:srgbClr val="1F2937"/>
                </a:solidFill>
              </a:rPr>
              <a:t> (e formas funcionais)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800" b="0">
                <a:solidFill>
                  <a:srgbClr val="1F2937"/>
                </a:solidFill>
              </a:rPr>
              <a:t>O programa é uma </a:t>
            </a:r>
            <a:r>
              <a:rPr sz="1800" b="1">
                <a:solidFill>
                  <a:srgbClr val="1F2937"/>
                </a:solidFill>
              </a:rPr>
              <a:t>composição</a:t>
            </a:r>
            <a:r>
              <a:rPr sz="1800" b="0">
                <a:solidFill>
                  <a:srgbClr val="1F2937"/>
                </a:solidFill>
              </a:rPr>
              <a:t> de funções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Backus, o criador do FORTRAN, na palestra do Prêmio Turing (1978): programas puramente funcionais são </a:t>
            </a:r>
            <a:r>
              <a:rPr sz="1700" b="1">
                <a:solidFill>
                  <a:srgbClr val="1F2937"/>
                </a:solidFill>
              </a:rPr>
              <a:t>mais legíveis e confiáveis</a:t>
            </a:r>
            <a:r>
              <a:rPr sz="1700" b="0">
                <a:solidFill>
                  <a:srgbClr val="1F2937"/>
                </a:solidFill>
              </a:rPr>
              <a:t>, porque o significado de uma expressão </a:t>
            </a:r>
            <a:r>
              <a:rPr sz="1700" b="1">
                <a:solidFill>
                  <a:srgbClr val="1F2937"/>
                </a:solidFill>
              </a:rPr>
              <a:t>não depende do contexto</a:t>
            </a:r>
            <a:r>
              <a:rPr sz="1700" b="0">
                <a:solidFill>
                  <a:srgbClr val="1F2937"/>
                </a:solidFill>
              </a:rPr>
              <a:t> (p. 632).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Funções matemáticas e expressões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§15.2.1 · p. 633-635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937760" cy="2194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</a:rPr>
              <a:t>Definição com nome (p. 634)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937"/>
                </a:solidFill>
                <a:latin typeface="Consolas"/>
              </a:rPr>
              <a:t>cube(x) ≡ x * x * x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667085"/>
                </a:solidFill>
                <a:latin typeface="Consolas"/>
              </a:rPr>
              <a:t>cube(2.0) = 2.0 * 2.0 * 2.0 =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11880"/>
            <a:ext cx="4937760" cy="24688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</a:rPr>
              <a:t>Expressão lambda: sem nome (Church, 1941, p. 635)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937"/>
                </a:solidFill>
                <a:latin typeface="Consolas"/>
              </a:rPr>
              <a:t>λ(x) x * x * x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937"/>
                </a:solidFill>
                <a:latin typeface="Consolas"/>
              </a:rPr>
              <a:t>(λ(x) x * x * x)(2) = 8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67085"/>
                </a:solidFill>
              </a:rPr>
              <a:t>Durante a avaliação, x é uma </a:t>
            </a:r>
            <a:r>
              <a:rPr sz="1500" b="1">
                <a:solidFill>
                  <a:srgbClr val="667085"/>
                </a:solidFill>
              </a:rPr>
              <a:t>constante</a:t>
            </a:r>
            <a:r>
              <a:rPr sz="1500" b="0">
                <a:solidFill>
                  <a:srgbClr val="667085"/>
                </a:solidFill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371600"/>
          <a:ext cx="5788152" cy="43891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920240"/>
                <a:gridCol w="386791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Linguagem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</a:rPr>
                        <a:t>A mesma lambda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Scheme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(lambda (x) (* x x x))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Haskell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\x -&gt; x * x * 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Python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lambda x: x * x * 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JavaScript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(x) =&gt; x * x * 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Java 8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x -&gt; x * x * 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C#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x =&gt; x * x * 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937"/>
                          </a:solidFill>
                        </a:rPr>
                        <a:t>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72" b="0">
                          <a:solidFill>
                            <a:srgbClr val="1F2937"/>
                          </a:solidFill>
                          <a:latin typeface="Consolas"/>
                        </a:rPr>
                        <a:t>|x| x * x * 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Formas funcionais: composição, aplicar-a-todos e redução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§15.2.2 · p. 635-636 · exemplos/01_fundamentos/puras.py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874519" cy="8229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[2, 3, 4]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59736" y="1783080"/>
            <a:ext cx="357301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53613" y="1371600"/>
            <a:ext cx="1874519" cy="8229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map(x²)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4709" y="1783080"/>
            <a:ext cx="357302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58587" y="1371600"/>
            <a:ext cx="1874519" cy="8229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[4, 9, 16]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69683" y="1783080"/>
            <a:ext cx="357302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63561" y="1371600"/>
            <a:ext cx="1874519" cy="8229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reduce(+)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4657" y="1783080"/>
            <a:ext cx="357302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68535" y="1371600"/>
            <a:ext cx="1874519" cy="822960"/>
          </a:xfrm>
          <a:prstGeom prst="roundRect">
            <a:avLst>
              <a:gd name="adj" fmla="val 7000"/>
            </a:avLst>
          </a:prstGeom>
          <a:solidFill>
            <a:srgbClr val="E7F6E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onsolas"/>
              </a:rPr>
              <a:t>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14600"/>
            <a:ext cx="484632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Composição (p. 635)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h ≡ f ° g, ou seja, h(x) = f(g(x))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66744"/>
            <a:ext cx="484632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Aplicar-a-todos (p. 636)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α(h, (2, 3, 4)) = (4, 9, 16): é o </a:t>
            </a:r>
            <a:r>
              <a:rPr sz="1380" b="0">
                <a:solidFill>
                  <a:srgbClr val="1F2937"/>
                </a:solidFill>
                <a:latin typeface="Consolas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18888"/>
            <a:ext cx="4846320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Redução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combina a lista em um valor: </a:t>
            </a:r>
            <a:r>
              <a:rPr sz="1380" b="0">
                <a:solidFill>
                  <a:srgbClr val="1F2937"/>
                </a:solidFill>
                <a:latin typeface="Consolas"/>
              </a:rPr>
              <a:t>reduce</a:t>
            </a:r>
            <a:r>
              <a:rPr sz="1500" b="0">
                <a:solidFill>
                  <a:srgbClr val="1F2937"/>
                </a:solidFill>
              </a:rPr>
              <a:t>, </a:t>
            </a:r>
            <a:r>
              <a:rPr sz="1380" b="0">
                <a:solidFill>
                  <a:srgbClr val="1F2937"/>
                </a:solidFill>
                <a:latin typeface="Consolas"/>
              </a:rPr>
              <a:t>fold</a:t>
            </a:r>
            <a:r>
              <a:rPr sz="1500" b="0">
                <a:solidFill>
                  <a:srgbClr val="1F2937"/>
                </a:solidFill>
              </a:rPr>
              <a:t>, </a:t>
            </a:r>
            <a:r>
              <a:rPr sz="1380" b="0">
                <a:solidFill>
                  <a:srgbClr val="1F2937"/>
                </a:solidFill>
                <a:latin typeface="Consolas"/>
              </a:rPr>
              <a:t>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514600"/>
            <a:ext cx="601675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Python · puras.py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2862072"/>
            <a:ext cx="6016752" cy="32186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def compor(f, g):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return lambda x: f(g(x))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 = lambda x: x + 2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g = lambda x: 3 * x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h = compor(f, g)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print(h(4)) 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14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print(list(map(lambda x: x * x, (2, 3, 4))))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[4, 9, 16]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print(reduce(lambda a, x: a + x, [4, 9, 16], 0))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Transparência referencial e efeitos colaterais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§15.3 · p. 636-637 e 679 · exemplos/01_fundamentos/puras.py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9436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</a:rPr>
              <a:t>Impura: depende do estado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943600" cy="21671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contador = 0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def proximo_id(prefixo):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IMPURA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global contador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contador += 1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efeito colateral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return f"{prefixo}-{contador}"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proximo_id("A"), proximo_id("A")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A-1, A-2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9436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</a:rPr>
              <a:t>Pura: transparência referencial (p. 636)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25112"/>
            <a:ext cx="5943600" cy="17556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def cubo(x):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PURA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return x * x * x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cubo(2) + cubo(2) == 2 * cubo(2) == 16   </a:t>
            </a:r>
            <a:r>
              <a:rPr sz="1500" i="0">
                <a:solidFill>
                  <a:srgbClr val="0F766E"/>
                </a:solidFill>
                <a:latin typeface="Consolas"/>
              </a:rPr>
              <a:t>#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25880"/>
            <a:ext cx="48737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Testes mais fáceis (p. 637)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cada função é testada sozinha, sem preparar contexto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487168"/>
            <a:ext cx="48737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Concorrência (p. 679)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sem estado compartilhado, não há condição de corrida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648456"/>
            <a:ext cx="48737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Cache (memoização)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resultado pode ser guardado e reutilizado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809744"/>
            <a:ext cx="48737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Na prática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empurre os efeitos (E/S, banco) para as bordas do programa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Scheme: notação prefixa, define e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§15.5.1-15.5.7 · p. 641-646 · exemplos/02_scheme/basico.scm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6751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Scheme · basico.scm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67512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(+ 3 7 10 2)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22: operador primeiro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2 (+ 3 4))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14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(define pi 3.14159)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um nome para um valor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(define (quadrado x) (* x x))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uma função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(quadrado 5)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25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((lambda (x) (* x x x)) 2)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8: a lambda da p. 635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(define (sinal n)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(cond ((&gt; n 0) 'positivo)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((&lt; n 0) 'negativo)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(else 'zero)))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(sinal -7)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negativo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(let ((a 3) (b 4))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nomes locais (p. 654)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(sqrt (+ (* a a) (* b b))))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325880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Notação prefixa (p. 642)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(operador operandos...)</a:t>
            </a:r>
            <a:r>
              <a:rPr sz="1400" b="0">
                <a:solidFill>
                  <a:srgbClr val="1F2937"/>
                </a:solidFill>
              </a:rPr>
              <a:t>: sem precedência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487168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define</a:t>
            </a:r>
            <a:r>
              <a:rPr sz="1600" b="1">
                <a:solidFill>
                  <a:srgbClr val="1F2937"/>
                </a:solidFill>
              </a:rPr>
              <a:t> (p. 643)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vincula um nome; não é atribuição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648456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Tudo é expressão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if</a:t>
            </a:r>
            <a:r>
              <a:rPr sz="1400" b="0">
                <a:solidFill>
                  <a:srgbClr val="1F2937"/>
                </a:solidFill>
              </a:rPr>
              <a:t> e </a:t>
            </a:r>
            <a:r>
              <a:rPr sz="1288" b="0">
                <a:solidFill>
                  <a:srgbClr val="1F2937"/>
                </a:solidFill>
                <a:latin typeface="Consolas"/>
              </a:rPr>
              <a:t>cond</a:t>
            </a:r>
            <a:r>
              <a:rPr sz="1400" b="0">
                <a:solidFill>
                  <a:srgbClr val="1F2937"/>
                </a:solidFill>
              </a:rPr>
              <a:t> devolvem valores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809744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let</a:t>
            </a:r>
            <a:r>
              <a:rPr sz="1600" b="1">
                <a:solidFill>
                  <a:srgbClr val="1F2937"/>
                </a:solidFill>
              </a:rPr>
              <a:t> (p. 654-655)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é uma </a:t>
            </a:r>
            <a:r>
              <a:rPr sz="1288" b="0">
                <a:solidFill>
                  <a:srgbClr val="1F2937"/>
                </a:solidFill>
                <a:latin typeface="Consolas"/>
              </a:rPr>
              <a:t>lambda</a:t>
            </a:r>
            <a:r>
              <a:rPr sz="1400" b="0">
                <a:solidFill>
                  <a:srgbClr val="1F2937"/>
                </a:solidFill>
              </a:rPr>
              <a:t> aplicada, com outra roupa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em Scheme: QUOTE, CAR, CDR e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§15.4.1 e §15.5.8 · p. 637-638 e 646-649 · Figuras 15.1 e 15.2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685800" cy="594360"/>
          </a:xfrm>
          <a:prstGeom prst="rect">
            <a:avLst/>
          </a:prstGeom>
          <a:solidFill>
            <a:srgbClr val="E6F4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1417320" y="1965960"/>
            <a:ext cx="685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spcAft>
                <a:spcPts val="400"/>
              </a:spcAft>
            </a:pPr>
          </a:p>
        </p:txBody>
      </p:sp>
      <p:cxnSp>
        <p:nvCxnSpPr>
          <p:cNvPr id="6" name="Connector 5"/>
          <p:cNvCxnSpPr/>
          <p:nvPr/>
        </p:nvCxnSpPr>
        <p:spPr>
          <a:xfrm>
            <a:off x="1074420" y="2263140"/>
            <a:ext cx="0" cy="98298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4380" y="3291839"/>
            <a:ext cx="640080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F2937"/>
                </a:solidFill>
                <a:latin typeface="Consolas"/>
              </a:rPr>
              <a:t>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60220" y="2263140"/>
            <a:ext cx="112014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80360" y="1965960"/>
            <a:ext cx="685800" cy="594360"/>
          </a:xfrm>
          <a:prstGeom prst="rect">
            <a:avLst/>
          </a:prstGeom>
          <a:solidFill>
            <a:srgbClr val="E6F4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3566160" y="1965960"/>
            <a:ext cx="685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spcAft>
                <a:spcPts val="400"/>
              </a:spcAft>
            </a:pPr>
          </a:p>
        </p:txBody>
      </p:sp>
      <p:cxnSp>
        <p:nvCxnSpPr>
          <p:cNvPr id="11" name="Connector 10"/>
          <p:cNvCxnSpPr/>
          <p:nvPr/>
        </p:nvCxnSpPr>
        <p:spPr>
          <a:xfrm>
            <a:off x="3223260" y="2263140"/>
            <a:ext cx="0" cy="98298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03220" y="3291839"/>
            <a:ext cx="640080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F2937"/>
                </a:solidFill>
                <a:latin typeface="Consolas"/>
              </a:rPr>
              <a:t>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09060" y="2263140"/>
            <a:ext cx="112014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0" y="1965960"/>
            <a:ext cx="685800" cy="594360"/>
          </a:xfrm>
          <a:prstGeom prst="rect">
            <a:avLst/>
          </a:prstGeom>
          <a:solidFill>
            <a:srgbClr val="E6F4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5715000" y="1965960"/>
            <a:ext cx="685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onsolas"/>
              </a:rPr>
              <a:t>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72100" y="2263140"/>
            <a:ext cx="0" cy="98298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52060" y="3291839"/>
            <a:ext cx="640080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F2937"/>
                </a:solidFill>
                <a:latin typeface="Consola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'(A B C) na memória (Figura 15.1, p. 638)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67085"/>
                </a:solidFill>
              </a:rPr>
              <a:t>cada par: </a:t>
            </a:r>
            <a:r>
              <a:rPr sz="1600" b="1">
                <a:solidFill>
                  <a:srgbClr val="667085"/>
                </a:solidFill>
              </a:rPr>
              <a:t>CAR</a:t>
            </a:r>
            <a:r>
              <a:rPr sz="1600" b="0">
                <a:solidFill>
                  <a:srgbClr val="667085"/>
                </a:solidFill>
              </a:rPr>
              <a:t> (o dado) e </a:t>
            </a:r>
            <a:r>
              <a:rPr sz="1600" b="1">
                <a:solidFill>
                  <a:srgbClr val="667085"/>
                </a:solidFill>
              </a:rPr>
              <a:t>CDR</a:t>
            </a:r>
            <a:r>
              <a:rPr sz="1600" b="0">
                <a:solidFill>
                  <a:srgbClr val="667085"/>
                </a:solidFill>
              </a:rPr>
              <a:t> (o resto)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621792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(car '(A B C))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; A        (primeiro)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(cdr '(A B C))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; (B C)    (o resto)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(cons 'A '(B C))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; (A B C)  (constrói)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325880"/>
            <a:ext cx="464515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QUOTE: </a:t>
            </a:r>
            <a:r>
              <a:rPr sz="1472" b="1">
                <a:solidFill>
                  <a:srgbClr val="1F2937"/>
                </a:solidFill>
                <a:latin typeface="Consolas"/>
              </a:rPr>
              <a:t>'</a:t>
            </a:r>
            <a:r>
              <a:rPr sz="1600" b="1">
                <a:solidFill>
                  <a:srgbClr val="1F2937"/>
                </a:solidFill>
              </a:rPr>
              <a:t> (p. 646)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'(A B C)</a:t>
            </a:r>
            <a:r>
              <a:rPr sz="1400" b="0">
                <a:solidFill>
                  <a:srgbClr val="1F2937"/>
                </a:solidFill>
              </a:rPr>
              <a:t> é um dado; sem o apóstrofo, seria chamar a função </a:t>
            </a:r>
            <a:r>
              <a:rPr sz="1288" b="0">
                <a:solidFill>
                  <a:srgbClr val="1F2937"/>
                </a:solidFill>
                <a:latin typeface="Consolas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2505456"/>
            <a:ext cx="464515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Código = dados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programas e listas têm a mesma forma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3685032"/>
            <a:ext cx="464515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Por que CAR e CDR? (p. 647)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nomes de partes da palavra de memória do IBM 704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864608"/>
            <a:ext cx="464515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Predicados (p. 649-650)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null?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list?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eq?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equal?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Recursão sobre listas: o padrão CAR/CDR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§15.5.10 · p. 651-654 · exemplos/02_scheme/recursao.scm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Scheme · recursao.scm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7665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(define (membro atm a_list)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p. 651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(cond ((null? a_list) #f)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1) vazia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((eq? atm (car a_list)) #t)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2) o CAR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(else (membro atm (cdr a_list)))))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3) o CDR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(membro 'B '(A B C))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#t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(membro 'B '(A C D E))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#f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(define (anexar list1 list2)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p. 653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(cond ((null? list1) list2)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(else (cons (car list1)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(anexar (cdr list1) list2)))))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(anexar '(A B) '(C D R))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; (A B C D R)</a:t>
            </a:r>
          </a:p>
        </p:txBody>
      </p:sp>
      <p:sp>
        <p:nvSpPr>
          <p:cNvPr id="6" name="Oval 5"/>
          <p:cNvSpPr/>
          <p:nvPr/>
        </p:nvSpPr>
        <p:spPr>
          <a:xfrm>
            <a:off x="7543800" y="1463039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27355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937"/>
                </a:solidFill>
              </a:rPr>
              <a:t>Lista vazia?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 resposta direta (</a:t>
            </a:r>
            <a:r>
              <a:rPr sz="1380" b="0">
                <a:solidFill>
                  <a:srgbClr val="1F2937"/>
                </a:solidFill>
                <a:latin typeface="Consolas"/>
              </a:rPr>
              <a:t>null?</a:t>
            </a:r>
            <a:r>
              <a:rPr sz="1500" b="0">
                <a:solidFill>
                  <a:srgbClr val="1F2937"/>
                </a:solidFill>
              </a:rPr>
              <a:t>)</a:t>
            </a:r>
          </a:p>
        </p:txBody>
      </p:sp>
      <p:sp>
        <p:nvSpPr>
          <p:cNvPr id="8" name="Oval 7"/>
          <p:cNvSpPr/>
          <p:nvPr/>
        </p:nvSpPr>
        <p:spPr>
          <a:xfrm>
            <a:off x="7543800" y="265176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14600"/>
            <a:ext cx="327355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937"/>
                </a:solidFill>
              </a:rPr>
              <a:t>Primeiro elemento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faça algo com o </a:t>
            </a:r>
            <a:r>
              <a:rPr sz="1380" b="0">
                <a:solidFill>
                  <a:srgbClr val="1F2937"/>
                </a:solidFill>
                <a:latin typeface="Consolas"/>
              </a:rPr>
              <a:t>car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384048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703320"/>
            <a:ext cx="327355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2937"/>
                </a:solidFill>
              </a:rPr>
              <a:t>O resto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chame a função com o </a:t>
            </a:r>
            <a:r>
              <a:rPr sz="1380" b="0">
                <a:solidFill>
                  <a:srgbClr val="1F2937"/>
                </a:solidFill>
                <a:latin typeface="Consolas"/>
              </a:rPr>
              <a:t>cdr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709160"/>
            <a:ext cx="4096512" cy="13716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Em </a:t>
            </a:r>
            <a:r>
              <a:rPr sz="1380" b="0">
                <a:solidFill>
                  <a:srgbClr val="1F2937"/>
                </a:solidFill>
                <a:latin typeface="Consolas"/>
              </a:rPr>
              <a:t>anexar</a:t>
            </a:r>
            <a:r>
              <a:rPr sz="1500" b="0">
                <a:solidFill>
                  <a:srgbClr val="1F2937"/>
                </a:solidFill>
              </a:rPr>
              <a:t>, a </a:t>
            </a:r>
            <a:r>
              <a:rPr sz="1380" b="0">
                <a:solidFill>
                  <a:srgbClr val="1F2937"/>
                </a:solidFill>
                <a:latin typeface="Consolas"/>
              </a:rPr>
              <a:t>list2</a:t>
            </a:r>
            <a:r>
              <a:rPr sz="1500" b="0">
                <a:solidFill>
                  <a:srgbClr val="1F2937"/>
                </a:solidFill>
              </a:rPr>
              <a:t> é </a:t>
            </a:r>
            <a:r>
              <a:rPr sz="1500" b="1">
                <a:solidFill>
                  <a:srgbClr val="1F2937"/>
                </a:solidFill>
              </a:rPr>
              <a:t>compartilhada</a:t>
            </a:r>
            <a:r>
              <a:rPr sz="1500" b="0">
                <a:solidFill>
                  <a:srgbClr val="1F2937"/>
                </a:solidFill>
              </a:rPr>
              <a:t>, e não copiada: como nada muda, é seguro (p. 653).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Recursão em cauda: repetição sem pilha crescente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§15.5.12 · p. 655-656 · exemplos/02_scheme/recursao.scm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</a:rPr>
              <a:t>Recursão comum: a expressão cresce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486400" cy="25786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(fatorial 4)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4 (fatorial 3))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4 (* 3 (fatorial 2)))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4 (* 3 (* 2 (fatorial 1))))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4 (* 3 (* 2 1)))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4 (* 3 2))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(* 4 6)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3912" y="1325880"/>
            <a:ext cx="54864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</a:rPr>
              <a:t>Em cauda: tamanho constante (p. 656)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3912" y="1673352"/>
            <a:ext cx="5486400" cy="25786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(factorial 4)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(facthelper 4 1)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(facthelper 3 4)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(facthelper 2 12)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(facthelper 1 24)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54864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(define (facthelper n factpartial)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(if (&lt;= n 1)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factpartial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(facthelper (- n 1) (* n factpartial))))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4389120"/>
            <a:ext cx="5486400" cy="16916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</a:rPr>
              <a:t>Scheme </a:t>
            </a:r>
            <a:r>
              <a:rPr sz="1600" b="1">
                <a:solidFill>
                  <a:srgbClr val="1F2937"/>
                </a:solidFill>
              </a:rPr>
              <a:t>exige</a:t>
            </a:r>
            <a:r>
              <a:rPr sz="1600" b="1">
                <a:solidFill>
                  <a:srgbClr val="1F2937"/>
                </a:solidFill>
              </a:rPr>
              <a:t> que a recursão em cauda vire iteração (p. 656).</a:t>
            </a:r>
          </a:p>
          <a:p>
            <a:pPr algn="l">
              <a:spcAft>
                <a:spcPts val="400"/>
              </a:spcAft>
            </a:pPr>
            <a:r>
              <a:rPr sz="1380" b="0">
                <a:solidFill>
                  <a:srgbClr val="1F2937"/>
                </a:solidFill>
                <a:latin typeface="Consolas"/>
              </a:rPr>
              <a:t>(conta-ate 1000000 0)</a:t>
            </a:r>
            <a:r>
              <a:rPr sz="1500" b="0">
                <a:solidFill>
                  <a:srgbClr val="1F2937"/>
                </a:solidFill>
              </a:rPr>
              <a:t> roda sem estourar a pilha. Java e Python não fazem isso.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Formas funcionais e código como dado em Scheme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§15.5.13 e §15.5.14 · p. 656-659 · exemplos/02_scheme/ordem_superior.scm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9494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Scheme · ordem_superior.scm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9494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(define (compose f g) (lambda (x) (f (g x))))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p. 657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((compose car cdr) '((a b) c d))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c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(define (mapear fun a_list)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o map (p. 657)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(cond ((null? a_list) '())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(else (cons (fun (car a_list))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            (mapear fun (cdr a_list))))))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(mapear (lambda (num) (* num num num)) '(3 4 2 6))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                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(27 64 8 216)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(cons '+ '(3 4 5))      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(+ 3 4 5): um dado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(eval (cons '+ '(3 4 5))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(interaction-environment))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12: virou código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(apply + '(3 4 5))      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;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325880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Função que devolve função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compose</a:t>
            </a:r>
            <a:r>
              <a:rPr sz="1400" b="0">
                <a:solidFill>
                  <a:srgbClr val="1F2937"/>
                </a:solidFill>
              </a:rPr>
              <a:t> monta uma nova </a:t>
            </a:r>
            <a:r>
              <a:rPr sz="1288" b="0">
                <a:solidFill>
                  <a:srgbClr val="1F2937"/>
                </a:solidFill>
                <a:latin typeface="Consolas"/>
              </a:rPr>
              <a:t>lambda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487168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map</a:t>
            </a:r>
            <a:r>
              <a:rPr sz="1600" b="1">
                <a:solidFill>
                  <a:srgbClr val="1F2937"/>
                </a:solidFill>
              </a:rPr>
              <a:t> em 3 linhas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aplicar-a-todos da p. 636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648456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Código como dado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montar uma lista e avaliá-la com </a:t>
            </a:r>
            <a:r>
              <a:rPr sz="1288" b="0">
                <a:solidFill>
                  <a:srgbClr val="1F2937"/>
                </a:solidFill>
                <a:latin typeface="Consolas"/>
              </a:rPr>
              <a:t>eval</a:t>
            </a:r>
            <a:r>
              <a:rPr sz="1400" b="0">
                <a:solidFill>
                  <a:srgbClr val="1F2937"/>
                </a:solidFill>
              </a:rPr>
              <a:t> (p. 658)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809744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Atenção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Scheme atual exige o 2º parâmetro de </a:t>
            </a:r>
            <a:r>
              <a:rPr sz="1288" b="0">
                <a:solidFill>
                  <a:srgbClr val="1F2937"/>
                </a:solidFill>
                <a:latin typeface="Consolas"/>
              </a:rPr>
              <a:t>eval</a:t>
            </a:r>
            <a:r>
              <a:rPr sz="1400" b="0">
                <a:solidFill>
                  <a:srgbClr val="1F2937"/>
                </a:solidFill>
              </a:rPr>
              <a:t> (p. 659)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Mão na massa: três funções em Scheme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exemplos/02_scheme/pratica.scm (resolução: pratica_resolvida.scm) ·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922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Scheme · pratica.scm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922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; 1) (tamanho '(a b c)) =&gt; 3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(define (tamanho lis)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0)                 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; complete aqui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; 2) (soma-quadrados '(1 2 3)) =&gt; 14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(define (soma-quadrados lis)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0)                 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; complete aqui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; 3) (pares '(1 2 3 4 5 6)) =&gt; (2 4 6)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(define (pares lis)</a:t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111827"/>
                </a:solidFill>
                <a:latin typeface="Consolas"/>
              </a:rPr>
              <a:t>  '())                     </a:t>
            </a:r>
            <a:r>
              <a:rPr sz="1600" i="0">
                <a:solidFill>
                  <a:srgbClr val="0F766E"/>
                </a:solidFill>
                <a:latin typeface="Consolas"/>
              </a:rPr>
              <a:t>; complete aqui</a:t>
            </a:r>
          </a:p>
          <a:p>
            <a:pPr algn="l">
              <a:spcAft>
                <a:spcPts val="0"/>
              </a:spcAft>
            </a:pPr>
            <a:r>
              <a:rPr sz="16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i="0">
                <a:solidFill>
                  <a:srgbClr val="0F766E"/>
                </a:solidFill>
                <a:latin typeface="Consolas"/>
              </a:rPr>
              <a:t>; saída atual:  tamanho: 0  (esperado 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4370832" cy="27432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</a:rPr>
              <a:t>Como fazer</a:t>
            </a:r>
          </a:p>
          <a:p>
            <a:pPr algn="l" marL="256032" indent="-219456">
              <a:spcAft>
                <a:spcPts val="400"/>
              </a:spcAft>
              <a:buClr>
                <a:srgbClr val="0F766E"/>
              </a:buClr>
              <a:buFont typeface="Arial"/>
              <a:buChar char="•"/>
            </a:pPr>
            <a:r>
              <a:rPr sz="1500" b="0">
                <a:solidFill>
                  <a:srgbClr val="1F2937"/>
                </a:solidFill>
              </a:rPr>
              <a:t>Abra </a:t>
            </a:r>
            <a:r>
              <a:rPr sz="1380" b="0">
                <a:solidFill>
                  <a:srgbClr val="1F2937"/>
                </a:solidFill>
                <a:latin typeface="Consolas"/>
              </a:rPr>
              <a:t>pratica.scm</a:t>
            </a:r>
            <a:r>
              <a:rPr sz="1500" b="0">
                <a:solidFill>
                  <a:srgbClr val="1F2937"/>
                </a:solidFill>
              </a:rPr>
              <a:t> no OneCompiler e execute.</a:t>
            </a:r>
          </a:p>
          <a:p>
            <a:pPr algn="l" marL="256032" indent="-219456">
              <a:spcAft>
                <a:spcPts val="400"/>
              </a:spcAft>
              <a:buClr>
                <a:srgbClr val="0F766E"/>
              </a:buClr>
              <a:buFont typeface="Arial"/>
              <a:buChar char="•"/>
            </a:pPr>
            <a:r>
              <a:rPr sz="1500" b="0">
                <a:solidFill>
                  <a:srgbClr val="1F2937"/>
                </a:solidFill>
              </a:rPr>
              <a:t>Troque cada "complete aqui".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500" b="0">
                <a:solidFill>
                  <a:srgbClr val="1F2937"/>
                </a:solidFill>
              </a:rPr>
              <a:t>Execute até as 3 linhas darem </a:t>
            </a:r>
            <a:r>
              <a:rPr sz="1500" b="1">
                <a:solidFill>
                  <a:srgbClr val="1F2937"/>
                </a:solidFill>
              </a:rPr>
              <a:t>ok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4206240"/>
            <a:ext cx="4370832" cy="1874519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Modelo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vazia? → resposta direta; senão, use o </a:t>
            </a:r>
            <a:r>
              <a:rPr sz="1380" b="0">
                <a:solidFill>
                  <a:srgbClr val="1F2937"/>
                </a:solidFill>
                <a:latin typeface="Consolas"/>
              </a:rPr>
              <a:t>car</a:t>
            </a:r>
            <a:r>
              <a:rPr sz="1500" b="0">
                <a:solidFill>
                  <a:srgbClr val="1F2937"/>
                </a:solidFill>
              </a:rPr>
              <a:t> e chame de novo com o </a:t>
            </a:r>
            <a:r>
              <a:rPr sz="1380" b="0">
                <a:solidFill>
                  <a:srgbClr val="1F2937"/>
                </a:solidFill>
                <a:latin typeface="Consolas"/>
              </a:rPr>
              <a:t>cdr</a:t>
            </a:r>
            <a:r>
              <a:rPr sz="1500" b="0">
                <a:solidFill>
                  <a:srgbClr val="1F2937"/>
                </a:solidFill>
              </a:rPr>
              <a:t>. Para os pares, use </a:t>
            </a:r>
            <a:r>
              <a:rPr sz="1380" b="0">
                <a:solidFill>
                  <a:srgbClr val="1F2937"/>
                </a:solidFill>
                <a:latin typeface="Consolas"/>
              </a:rPr>
              <a:t>even?</a:t>
            </a:r>
            <a:r>
              <a:rPr sz="15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Haskell: casamento de padrões, guardas e inferência de tipos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§15.7 e §15.8 · p. 661-668 · exemplos/03_haskell/basico.hs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6751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Haskell · basico.hs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67512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fact 0 = 1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casamento de padrões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fact 1 = 1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fact n = n * fact (n - 1)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sub n    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guardas (p. 667)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| n &lt; 10    = 0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| n &gt; 100   = 2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| otherwise = 1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square x = x * x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tipo inferido: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Num a =&gt; a -&gt; a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main = do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print (fact 5)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-- 120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print (map sub [5, 50, 500])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[0,1,2]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print (square 3, square 2.5)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(9,6.25)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325880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Casamento de padrões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função é definida por casos, como na matemática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487168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Guardas (p. 667)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condições com </a:t>
            </a:r>
            <a:r>
              <a:rPr sz="1288" b="0">
                <a:solidFill>
                  <a:srgbClr val="1F2937"/>
                </a:solidFill>
                <a:latin typeface="Consolas"/>
              </a:rPr>
              <a:t>|</a:t>
            </a:r>
            <a:r>
              <a:rPr sz="1400" b="0">
                <a:solidFill>
                  <a:srgbClr val="1F2937"/>
                </a:solidFill>
              </a:rPr>
              <a:t>; </a:t>
            </a:r>
            <a:r>
              <a:rPr sz="1288" b="0">
                <a:solidFill>
                  <a:srgbClr val="1F2937"/>
                </a:solidFill>
                <a:latin typeface="Consolas"/>
              </a:rPr>
              <a:t>otherwise</a:t>
            </a:r>
            <a:r>
              <a:rPr sz="1400" b="0">
                <a:solidFill>
                  <a:srgbClr val="1F2937"/>
                </a:solidFill>
              </a:rPr>
              <a:t> é o "senão"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648456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Inferência (p. 661)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sem declarar tipos, e tudo é verificado na compilação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809744"/>
            <a:ext cx="41879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Pura (p. 666)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nenhuma expressão tem efeito colateral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Haskell: listas, compreensões e o quicksort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§15.8 · p. 668-669 · exemplos/03_haskell/basico.hs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9494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Haskell · basico.hs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9494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5 : [2, 7, 9]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[5,2,7,9]  (: é o CONS)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[1, 3 .. 11]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[1,3,5,7,9,11]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[1, 3, 5] ++ [2, 4, 6]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concatenação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fact2 n = product [1 .. n]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[n * n * n | n &lt;- [1 .. 50]]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compreensão (p. 668)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factors n = [i | i &lt;- [1 .. n `div` 2],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n `mod` i == 0]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factors 28 = [1,2,4,7,14]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sort []    = []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-- quicksort (p. 669)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sort (h:t) = sort [b | b &lt;- t, b &lt;= h]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++ [h] ++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sort [b | b &lt;- t, b &gt; h]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325880"/>
            <a:ext cx="3913632" cy="23317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</a:rPr>
              <a:t>Compreensão = notação de conjuntos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onsolas"/>
              </a:rPr>
              <a:t>{ n³ | n = 1, 2, ..., 50 }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geradores (</a:t>
            </a:r>
            <a:r>
              <a:rPr sz="1288" b="0">
                <a:solidFill>
                  <a:srgbClr val="1F2937"/>
                </a:solidFill>
                <a:latin typeface="Consolas"/>
              </a:rPr>
              <a:t>n &lt;- ...</a:t>
            </a:r>
            <a:r>
              <a:rPr sz="1400" b="0">
                <a:solidFill>
                  <a:srgbClr val="1F2937"/>
                </a:solidFill>
              </a:rPr>
              <a:t>) e testes (condições)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749039"/>
            <a:ext cx="3913632" cy="233172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2318"/>
                </a:solidFill>
              </a:rPr>
              <a:t>Erro de impressão no livro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p. 669 traz </a:t>
            </a:r>
            <a:r>
              <a:rPr sz="1288" b="0">
                <a:solidFill>
                  <a:srgbClr val="1F2937"/>
                </a:solidFill>
                <a:latin typeface="Consolas"/>
              </a:rPr>
              <a:t>b &lt;- h</a:t>
            </a:r>
            <a:r>
              <a:rPr sz="1400" b="0">
                <a:solidFill>
                  <a:srgbClr val="1F2937"/>
                </a:solidFill>
              </a:rPr>
              <a:t> em vez de </a:t>
            </a:r>
            <a:r>
              <a:rPr sz="1288" b="0">
                <a:solidFill>
                  <a:srgbClr val="1F2937"/>
                </a:solidFill>
                <a:latin typeface="Consolas"/>
              </a:rPr>
              <a:t>b &lt;= h</a:t>
            </a:r>
            <a:r>
              <a:rPr sz="1400" b="0">
                <a:solidFill>
                  <a:srgbClr val="1F2937"/>
                </a:solidFill>
              </a:rPr>
              <a:t>. O compilador acusa </a:t>
            </a:r>
            <a:r>
              <a:rPr sz="1400" b="1">
                <a:solidFill>
                  <a:srgbClr val="1F2937"/>
                </a:solidFill>
              </a:rPr>
              <a:t>erro de tipo</a:t>
            </a:r>
            <a:r>
              <a:rPr sz="1400" b="0">
                <a:solidFill>
                  <a:srgbClr val="1F2937"/>
                </a:solidFill>
              </a:rPr>
              <a:t>: a inferência pegou o erro.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Currying e avaliação parcial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§15.7 · p. 665-666 · §15.9 · p. 674 · §15.10 · p. 676-677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380390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920240"/>
                <a:gridCol w="4937760"/>
                <a:gridCol w="423367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Linguagem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Definição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Avaliação parcial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ML (p. 665)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fun add a b = a + b;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fun add5 x = add 5 x;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Haskell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add a b = a +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add5 = add 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F# (p. 674)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let add a b = a +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let add5 = add 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Scheme (p. 666)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(define (add y) (lambda (x) (+ y x)))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((add 3) 4)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JavaScript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const add = (a) =&gt; (b) =&gt; a + b;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const add5 = add(5);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Python (p. 676)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from operator import add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add5 = partial(add, 5)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Ruby (p. 677)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times = lambda { |a, b| a * b }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times5 = times.curry.(5)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0">
                <a:solidFill>
                  <a:srgbClr val="1F2937"/>
                </a:solidFill>
                <a:latin typeface="Consolas"/>
              </a:rPr>
              <a:t>add5 10</a:t>
            </a:r>
            <a:r>
              <a:rPr sz="1600" b="0">
                <a:solidFill>
                  <a:srgbClr val="1F2937"/>
                </a:solidFill>
              </a:rPr>
              <a:t> = 15 e </a:t>
            </a:r>
            <a:r>
              <a:rPr sz="1472" b="0">
                <a:solidFill>
                  <a:srgbClr val="1F2937"/>
                </a:solidFill>
                <a:latin typeface="Consolas"/>
              </a:rPr>
              <a:t>map (add 1) [1, 2, 3]</a:t>
            </a:r>
            <a:r>
              <a:rPr sz="1600" b="0">
                <a:solidFill>
                  <a:srgbClr val="1F2937"/>
                </a:solidFill>
              </a:rPr>
              <a:t> = </a:t>
            </a:r>
            <a:r>
              <a:rPr sz="1472" b="0">
                <a:solidFill>
                  <a:srgbClr val="1F2937"/>
                </a:solidFill>
                <a:latin typeface="Consolas"/>
              </a:rPr>
              <a:t>[2,3,4]</a:t>
            </a:r>
            <a:r>
              <a:rPr sz="1600" b="0">
                <a:solidFill>
                  <a:srgbClr val="1F2937"/>
                </a:solidFill>
              </a:rPr>
              <a:t>: uma função de vários parâmetros é uma </a:t>
            </a:r>
            <a:r>
              <a:rPr sz="1600" b="1">
                <a:solidFill>
                  <a:srgbClr val="1F2937"/>
                </a:solidFill>
              </a:rPr>
              <a:t>cadeia de funções de um parâmetro</a:t>
            </a:r>
            <a:r>
              <a:rPr sz="1600" b="0">
                <a:solidFill>
                  <a:srgbClr val="1F2937"/>
                </a:solidFill>
              </a:rPr>
              <a:t> (Haskell Curry).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preguiçosa e listas infinitas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§15.8 · p. 669-671 · exemplos/03_haskell/preguica.hs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Haskell · preguica.hs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7665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positives = [0 ..]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listas infinitas (p. 670)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evens     = [2, 4 ..]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squares   = [n * n | n &lt;- [0 ..]]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take 5 evens  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[2,4,6,8,10]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takeWhile (&lt; 50) squares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[0,1,4,9,16,25,36,49]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member 16 squares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True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member 17 squares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NUNCA termina!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member2 17 squares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False (lista crescente)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primeiro x _ = x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primeiro 42 (div 1 0)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-- 42: a divisão nunca é feita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take 10 primos   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-- [2,3,5,7,11,13,17,19,23,29]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325880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Estrita (p. 669)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avalia todos os parâmetros antes: Scheme, ML, Java,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487168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Preguiçosa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calcula só quando precisa, e uma vez só: Haskell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648456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Custo (p. 678)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menos eficiente e uso de memória difícil de prever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809744"/>
            <a:ext cx="409651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Nas outras linguagens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Streams (Java), geradores (Python), iteradores (Rust)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Você já usa funcional: lambdas e Streams em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§15.10 · p. 674-676 · exemplos/05_imperativas/Pipeline.java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74066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Pipeline.java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74066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Function&lt;Integer, Integer&gt; f = x -&gt; x + 2;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Function&lt;Integer, Integer&gt; g = x -&gt; 3 * x;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f.compose(g).apply(4);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f(g(4)) = 14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f.andThen(g).apply(4);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g(f(4)) = 18</a:t>
            </a:r>
          </a:p>
          <a:p>
            <a:pPr algn="l">
              <a:spcAft>
                <a:spcPts val="0"/>
              </a:spcAft>
            </a:pPr>
            <a:r>
              <a:rPr sz="13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int limite = 100;     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capturada (efetivamente final)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double totalCaros = produtos.stream()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.map(Produto::preco)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.filter(p -&gt; p &gt; limite)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.reduce(0.0, Double::sum);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1050.0</a:t>
            </a:r>
          </a:p>
          <a:p>
            <a:pPr algn="l">
              <a:spcAft>
                <a:spcPts val="0"/>
              </a:spcAft>
            </a:pPr>
            <a:r>
              <a:rPr sz="13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produtos.stream()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.collect(groupingBy(Produto::categoria,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     summingDouble(Produto::preco)));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              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{periférico=230.0, vídeo=935.0}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Stream.iterate(1, n -&gt; n * 2).limit(10)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infinito e preguiçoso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325880"/>
            <a:ext cx="34564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Lambda (p. 676)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x -&gt; expressão</a:t>
            </a:r>
            <a:r>
              <a:rPr sz="1400" b="0">
                <a:solidFill>
                  <a:srgbClr val="1F2937"/>
                </a:solidFill>
              </a:rPr>
              <a:t>, desde o Java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2487168"/>
            <a:ext cx="34564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Fechamento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só captura variáveis efetivamente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648456"/>
            <a:ext cx="34564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Pipeline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map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filter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reduce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collect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4809744"/>
            <a:ext cx="34564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Preguiçoso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nada é calculado até a operação final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JavaScript, Python e C#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§15.10 · p. 675-676 · exemplos/05_imperativas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8521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JavaScript · pipeline.js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8521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const somador = (n) =&gt; (x) =&gt; x + n;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fechamento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const mais10 = somador(10);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mais10(5);           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15</a:t>
            </a:r>
          </a:p>
          <a:p>
            <a:pPr algn="l">
              <a:spcAft>
                <a:spcPts val="0"/>
              </a:spcAft>
            </a:pPr>
            <a:r>
              <a:rPr sz="13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[1, 2, 3, 4, 5, 6]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.filter((n) =&gt; n % 2 === 0)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.map((n) =&gt; n * n)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.reduce((acc, n) =&gt; acc + n, 0);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56</a:t>
            </a:r>
          </a:p>
          <a:p>
            <a:pPr algn="l">
              <a:spcAft>
                <a:spcPts val="0"/>
              </a:spcAft>
            </a:pPr>
            <a:r>
              <a:rPr sz="13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const original = Object.freeze({ nome: "Ana", nota: 7 });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const corrigido = { ...original, nota: 8 };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valor NOVO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25880"/>
            <a:ext cx="496519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Python · funcional.py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673352"/>
            <a:ext cx="4965192" cy="19842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m = map(lambda x: x ** 3, [2, 4, 6, 8])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print(m)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# &lt;map object ...&gt; (p. 676)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print(list(m))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# [8, 64, 216, 512]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add5 = partial(add, 5)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# add5(15) =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749039"/>
            <a:ext cx="496519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C# · Lambdas.cs (p. 675-676)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096511"/>
            <a:ext cx="4965192" cy="19842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int limite = 3;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Func&lt;int, bool&gt; maior = n =&gt; n &gt; limite;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limite = 4;               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a lambda VÊ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Console.WriteLine(maior(4));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False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Rust: fechamentos e iteradores preguiçosos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exemplos/05_imperativas/iteradores.rs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94944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Rust · iteradores.rs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94944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fn somador(n: i32) -&gt; impl Fn(i32) -&gt; i32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move |x| x + n              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fechamento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let soma: i32 = v.iter().filter(|&amp;&amp;n| n % 2 == 0)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                .map(|&amp;n| n * n).sum();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56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let preguicoso = v.iter().map(|n|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println!("  processando {}", n);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n * 10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println!("nada foi processado ainda");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aparece ANTES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let primeiros: Vec&lt;i32&gt; = preguicoso.take(2).collect();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(1u64..).map(|n| n * n).take_while(|&amp;q| q &lt; 50)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infinito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(1..=20u64).fold(1, |acc, n| acc * n)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20!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325880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Herança de ML e Haskell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imutável por padrão, </a:t>
            </a:r>
            <a:r>
              <a:rPr sz="1288" b="0">
                <a:solidFill>
                  <a:srgbClr val="1F2937"/>
                </a:solidFill>
                <a:latin typeface="Consolas"/>
              </a:rPr>
              <a:t>match</a:t>
            </a:r>
            <a:r>
              <a:rPr sz="1400" b="0">
                <a:solidFill>
                  <a:srgbClr val="1F2937"/>
                </a:solidFill>
              </a:rPr>
              <a:t>, </a:t>
            </a:r>
            <a:r>
              <a:rPr sz="1288" b="0">
                <a:solidFill>
                  <a:srgbClr val="1F2937"/>
                </a:solidFill>
                <a:latin typeface="Consolas"/>
              </a:rPr>
              <a:t>Option</a:t>
            </a:r>
            <a:r>
              <a:rPr sz="1400" b="0">
                <a:solidFill>
                  <a:srgbClr val="1F2937"/>
                </a:solidFill>
              </a:rPr>
              <a:t>/</a:t>
            </a:r>
            <a:r>
              <a:rPr sz="1288" b="0">
                <a:solidFill>
                  <a:srgbClr val="1F2937"/>
                </a:solidFill>
                <a:latin typeface="Consolas"/>
              </a:rPr>
              <a:t>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487168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Custo zero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o pipeline vira código tão rápido quanto o laço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648456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Preguiçoso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só processou 2 dos 6 elementos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809744"/>
            <a:ext cx="391363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fold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redução geral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 × imperativo: a soma dos cubos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§15.11 · p. 677-679 · exemplos/06_comparacao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2318"/>
                </a:solidFill>
              </a:rPr>
              <a:t>C: como fazer (variáveis e laço)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669280" cy="2121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int sum_cubes(int n) {      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p. 678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int sum = 0;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for (int index = 1; index &lt;= n; index++)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sum += index * index * index;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return sum;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566928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67647"/>
                </a:solidFill>
              </a:rPr>
              <a:t>Haskell: o que calcular (p. 678)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79392"/>
            <a:ext cx="566928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800" i="0">
                <a:solidFill>
                  <a:srgbClr val="111827"/>
                </a:solidFill>
                <a:latin typeface="Consolas"/>
              </a:rPr>
              <a:t>sumCubes n = sum (map (^3) [1 .. n])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12080"/>
            <a:ext cx="5669280" cy="86868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 nota do tradutor (p. 679) usa </a:t>
            </a:r>
            <a:r>
              <a:rPr sz="1380" b="0">
                <a:solidFill>
                  <a:srgbClr val="1F2937"/>
                </a:solidFill>
                <a:latin typeface="Consolas"/>
              </a:rPr>
              <a:t>(n == 1) ? 0</a:t>
            </a:r>
            <a:r>
              <a:rPr sz="1500" b="0">
                <a:solidFill>
                  <a:srgbClr val="1F2937"/>
                </a:solidFill>
              </a:rPr>
              <a:t>: dá </a:t>
            </a:r>
            <a:r>
              <a:rPr sz="1500" b="1">
                <a:solidFill>
                  <a:srgbClr val="1F2937"/>
                </a:solidFill>
              </a:rPr>
              <a:t>35</a:t>
            </a:r>
            <a:r>
              <a:rPr sz="1500" b="0">
                <a:solidFill>
                  <a:srgbClr val="1F2937"/>
                </a:solidFill>
              </a:rPr>
              <a:t> para n = 3, em vez de 36.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325880"/>
          <a:ext cx="5148072" cy="449884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737360"/>
                <a:gridCol w="3410712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Critério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O que diz o livro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Legibilidade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 funcional esconde variáveis e laços (p. 678)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Tamanho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10% a 25% do imperativo, mas tamanho não mede produtividade (p. 677)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Velocidade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cerca de 2× mais lento (Wadler, 1998, p. 678)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Concorrência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sem efeitos colaterais, é fácil paralelizar (p. 679)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Popularidade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todos aprendem primeiro o imperativo (p. 679)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código do livro roda? (caça ao erro)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exemplos/07_codigo_do_livro · atividade opcional ou para casa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362102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188720"/>
                <a:gridCol w="2926080"/>
                <a:gridCol w="3959352"/>
                <a:gridCol w="30175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Página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Trecho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O que acontece hoje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Pista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p. 659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factorial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em Common Lisp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"The variable N is unbound"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compare o parâmetro e o corpo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p. 667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fib (n + 2) = ...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"Parse error in pattern: n + 2"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Haskell 1.4 × Haskell 2010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p. 669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quicksort em Haskell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erro de tipo: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[a] -&gt; [[a]]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&lt;-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ou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&lt;=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?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p. 676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map(lambda x: x ** 3, ...)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imprime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&lt;map object ...&gt;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Python 2 × Python 3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p. 679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sum_cube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(nota do tradutor)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dá 35 para n = 3 (o certo é 36)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 caso base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166360"/>
            <a:ext cx="11094415" cy="9144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Lição: código de livro, de documentação ou de IA precisa ser </a:t>
            </a:r>
            <a:r>
              <a:rPr sz="1700" b="1">
                <a:solidFill>
                  <a:srgbClr val="1F2937"/>
                </a:solidFill>
              </a:rPr>
              <a:t>executado e testado</a:t>
            </a:r>
            <a:r>
              <a:rPr sz="1700" b="0">
                <a:solidFill>
                  <a:srgbClr val="1F2937"/>
                </a:solidFill>
              </a:rPr>
              <a:t>, e as linguagens </a:t>
            </a:r>
            <a:r>
              <a:rPr sz="1700" b="1">
                <a:solidFill>
                  <a:srgbClr val="1F2937"/>
                </a:solidFill>
              </a:rPr>
              <a:t>evoluem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em duplas: o laço vira pipeline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exemplos/08_exercicio/enunciado · execute em onecompiler.com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laço: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ele calcula?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reescreva </a:t>
            </a:r>
            <a:r>
              <a:rPr sz="1700" b="1">
                <a:solidFill>
                  <a:srgbClr val="1F2937"/>
                </a:solidFill>
              </a:rPr>
              <a:t>sem laço e sem acumulador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1 · Java (use stream)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List&lt;Integer&gt; nums = List.of(3, 8, 5, 12, 7, 6);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int soma = 0;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for (int n : nums)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if (n % 2 == 0)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soma += n * n;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System.out.println(soma);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2 · JavaScript (use filter e map)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const aprovados = [];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for (let i = 0; i &lt; alunos.length; i++)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if (alunos[i].nota &gt;= 6)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aprovados.push(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alunos[i].nome.toUpperCase());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console.log(aprovados.join(", "));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laço vira pipeline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exemplos/08_exercicio/enunciado · execute em onecompiler.com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laço: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ele calcula?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reescreva </a:t>
            </a:r>
            <a:r>
              <a:rPr sz="1700" b="1">
                <a:solidFill>
                  <a:srgbClr val="1F2937"/>
                </a:solidFill>
              </a:rPr>
              <a:t>sem laço e sem acumulador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3 · Python (use uma compreensão)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precos = [50.0, 120.0, 80.0, 200.0]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com_desconto = []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for p in precos: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if p &gt; 100: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com_desconto.append(p * 0.9)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else: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com_desconto.append(p)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print(com_desconto)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4 · Rust (use iteradores)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let leituras = [12, 7, 30, -1, 18, 25];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let mut total = 0;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for &amp;x in leituras.iter()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if x &lt; 0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break;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-1 marca o fim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total += x;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println!("{}", total);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Síntese: as ideias funcionais em cada linguagem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15 · p. 631-686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448056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48840"/>
                <a:gridCol w="1490472"/>
                <a:gridCol w="1490472"/>
                <a:gridCol w="1490472"/>
                <a:gridCol w="1490472"/>
                <a:gridCol w="1490472"/>
                <a:gridCol w="149047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Ideia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Scheme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Haskell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Java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JavaScript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Python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Lambda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(lambda (x) e)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\x -&gt; 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x -&gt; 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x =&gt; 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lambda x: 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|x| 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map / filter / reduce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Streams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Array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iteradores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Currying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manual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automático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manual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manual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96" b="0">
                          <a:solidFill>
                            <a:srgbClr val="1F2937"/>
                          </a:solidFill>
                          <a:latin typeface="Consolas"/>
                        </a:rPr>
                        <a:t>partial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manual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Preguiça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 (estrita)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padrão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Streams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geradores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geradores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iteradores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Imutável por padrão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Recursão em cauda otimizada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exigida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sim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só Safari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não garantida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Atividades complementares (autopesquisa)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15 · exemplos/04_outras_funcionais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Common Lisp</a:t>
            </a:r>
            <a:r>
              <a:rPr sz="1700" b="0">
                <a:solidFill>
                  <a:srgbClr val="1F2937"/>
                </a:solidFill>
              </a:rPr>
              <a:t> (§15.6, p. 659-660): macros e crase; </a:t>
            </a:r>
            <a:r>
              <a:rPr sz="1564" b="0">
                <a:solidFill>
                  <a:srgbClr val="1F2937"/>
                </a:solidFill>
                <a:latin typeface="Consolas"/>
              </a:rPr>
              <a:t>common_lisp.lisp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ML</a:t>
            </a:r>
            <a:r>
              <a:rPr sz="1700" b="0">
                <a:solidFill>
                  <a:srgbClr val="1F2937"/>
                </a:solidFill>
              </a:rPr>
              <a:t> (§15.7, p. 660-666), aqui em OCaml: inferência de tipos e </a:t>
            </a:r>
            <a:r>
              <a:rPr sz="1564" b="0">
                <a:solidFill>
                  <a:srgbClr val="1F2937"/>
                </a:solidFill>
                <a:latin typeface="Consolas"/>
              </a:rPr>
              <a:t>square 2.75</a:t>
            </a:r>
            <a:r>
              <a:rPr sz="1700" b="0">
                <a:solidFill>
                  <a:srgbClr val="1F2937"/>
                </a:solidFill>
              </a:rPr>
              <a:t>; </a:t>
            </a:r>
            <a:r>
              <a:rPr sz="1564" b="0">
                <a:solidFill>
                  <a:srgbClr val="1F2937"/>
                </a:solidFill>
                <a:latin typeface="Consolas"/>
              </a:rPr>
              <a:t>ml.ml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F#</a:t>
            </a:r>
            <a:r>
              <a:rPr sz="1700" b="0">
                <a:solidFill>
                  <a:srgbClr val="1F2937"/>
                </a:solidFill>
              </a:rPr>
              <a:t> (§15.9, p. 671-674): pipeline </a:t>
            </a:r>
            <a:r>
              <a:rPr sz="1564" b="0">
                <a:solidFill>
                  <a:srgbClr val="1F2937"/>
                </a:solidFill>
                <a:latin typeface="Consolas"/>
              </a:rPr>
              <a:t>|&gt;</a:t>
            </a:r>
            <a:r>
              <a:rPr sz="1700" b="0">
                <a:solidFill>
                  <a:srgbClr val="1F2937"/>
                </a:solidFill>
              </a:rPr>
              <a:t> e composição </a:t>
            </a:r>
            <a:r>
              <a:rPr sz="1564" b="0">
                <a:solidFill>
                  <a:srgbClr val="1F2937"/>
                </a:solidFill>
                <a:latin typeface="Consolas"/>
              </a:rPr>
              <a:t>&gt;&gt;</a:t>
            </a:r>
            <a:r>
              <a:rPr sz="1700" b="0">
                <a:solidFill>
                  <a:srgbClr val="1F2937"/>
                </a:solidFill>
              </a:rPr>
              <a:t>; </a:t>
            </a:r>
            <a:r>
              <a:rPr sz="1564" b="0">
                <a:solidFill>
                  <a:srgbClr val="1F2937"/>
                </a:solidFill>
                <a:latin typeface="Consolas"/>
              </a:rPr>
              <a:t>fsharp.fs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O LISP original e o interpretador universal</a:t>
            </a:r>
            <a:r>
              <a:rPr sz="1700" b="0">
                <a:solidFill>
                  <a:srgbClr val="1F2937"/>
                </a:solidFill>
              </a:rPr>
              <a:t> (§15.4, p. 637-641): leitura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Aplicações</a:t>
            </a:r>
            <a:r>
              <a:rPr sz="1700" b="0">
                <a:solidFill>
                  <a:srgbClr val="1F2937"/>
                </a:solidFill>
              </a:rPr>
              <a:t>: Erlang/Elixir (WhatsApp, Discord), Clojure (Nubank), Elm → React/Redux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Caça ao erro</a:t>
            </a:r>
            <a:r>
              <a:rPr sz="1700" b="0">
                <a:solidFill>
                  <a:srgbClr val="1F2937"/>
                </a:solidFill>
              </a:rPr>
              <a:t>: execute os trechos de </a:t>
            </a:r>
            <a:r>
              <a:rPr sz="1564" b="0">
                <a:solidFill>
                  <a:srgbClr val="1F2937"/>
                </a:solidFill>
                <a:latin typeface="Consolas"/>
              </a:rPr>
              <a:t>07_codigo_do_livro</a:t>
            </a:r>
            <a:r>
              <a:rPr sz="1700" b="0">
                <a:solidFill>
                  <a:srgbClr val="1F2937"/>
                </a:solidFill>
              </a:rPr>
              <a:t> e corrija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</a:rPr>
              <a:t>Entrega sugerida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Escolha um trecho de código seu com laços e acumuladores e reescreva-o como pipeline (Streams, métodos de array ou compreensões). Indique quais funções ficaram puras e compare a legibilidade.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Próxima aula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Paradigma lógico (Cap. 16): Prolog, fatos, regras e consultas; fechamento do bimestre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
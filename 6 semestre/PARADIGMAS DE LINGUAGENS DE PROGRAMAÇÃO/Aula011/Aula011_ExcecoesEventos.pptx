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 (1 min).</a:t>
            </a:r>
          </a:p>
          <a:p>
            <a:r>
              <a:t>Exceções e eventos têm algo em comum (p. 596): os dois acontecem em momentos NÃO previstos pelo fluxo normal do programa, e os tratadores são chamados IMPLICITAMENTE. Por isso o livro os estuda juntos.</a:t>
            </a:r>
          </a:p>
          <a:p>
            <a:r>
              <a:t>Formato: exploratória comparativa. O mesmo problema ("converter um texto e dividir 100 por ele") será resolvido em 5 linguagens, com 5 filosofias diferentes. Fechamos com um debate: exceções ou erros como valores?</a:t>
            </a:r>
          </a:p>
          <a:p>
            <a:r>
              <a:t>A turma já conhece o try/catch do Java. A novidade é ver as ALTERNATIVAS (Go, Rust) e as questões de projeto por trás.</a:t>
            </a:r>
          </a:p>
          <a:p>
            <a:r>
              <a:t>Todos os exemplos estão em Aula011/exemplos e foram testados (o do DOM, no console do navegador).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Problematização (até 5 min).</a:t>
            </a:r>
          </a:p>
          <a:p>
            <a:r>
              <a:t>Leia o objetivo.</a:t>
            </a:r>
          </a:p>
          <a:p/>
          <a:p>
            <a:r>
              <a:t>Os três casos, um para cada estilo de tratamento:</a:t>
            </a:r>
          </a:p>
          <a:p>
            <a:r>
              <a:t>- Ariane 5 (1996), que já vimos na aula de tipos, agora pelo lado das exceções: o código era Ada, que TEM tratamento de exceções. A conversão de float para inteiro de 16 bits levantou a exceção Operand Error, mas os projetistas tinham removido o tratador dessa variável para economizar processamento. A exceção se propagou, e a política do sistema foi desligar o computador. Os dois computadores (principal e reserva) rodavam o mesmo código e desligaram. Lição: ter o mecanismo não basta, e a DECISÃO de onde tratar é de projeto.</a:t>
            </a:r>
          </a:p>
          <a:p>
            <a:r>
              <a:t>- OpenSSL (janeiro de 2009, CVE-2008-5077): a função de verificação de assinaturas podia devolver 1 (válida), 0 (inválida) ou -1 (ERRO). Vários trechos testavam só "if (resultado == 0)" e tratavam o -1 como sucesso. Assinaturas malformadas eram aceitas. É o risco clássico dos CÓDIGOS DE RETORNO (p. 598): nada obriga quem chama a verificar tudo.</a:t>
            </a:r>
          </a:p>
          <a:p>
            <a:r>
              <a:t>- CrowdStrike (19/07/2024): uma atualização de conteúdo do Falcon, com 21 campos quando o driver esperava 20, fez o driver do núcleo ler uma posição inválida. No núcleo, um erro não tratado derruba o sistema inteiro: cerca de 8,5 milhões de computadores Windows com tela azul (companhias aéreas, hospitais, bancos). Lição: validar a entrada e ter um plano de recuperação.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(1 min).</a:t>
            </a:r>
          </a:p>
          <a:p>
            <a:r>
              <a:t>Ficam para autopesquisa (último slide): exceções em Ada (constam no plano de ensino, e o exemplo roda no OneCompiler), os programas completos do livro em C++ e Java, Ruby e eventos em C# em detalhes.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~4 min. DEMONSTRAÇÃO rápida: codigos_retorno.c.</a:t>
            </a:r>
          </a:p>
          <a:p/>
          <a:p>
            <a:r>
              <a:t>Definições (p. 597):</a:t>
            </a:r>
          </a:p>
          <a:p>
            <a:r>
              <a:t>- EXCEÇÃO: qualquer evento incomum, errôneo ou não, detectável por hardware ou software, que pode exigir processamento especial;</a:t>
            </a:r>
          </a:p>
          <a:p>
            <a:r>
              <a:t>- a exceção é LEVANTADA (lançada) quando o evento acontece;</a:t>
            </a:r>
          </a:p>
          <a:p>
            <a:r>
              <a:t>- o TRATADOR de exceção é o código que a processa.</a:t>
            </a:r>
          </a:p>
          <a:p>
            <a:r>
              <a:t>Hardware × software (p. 596-597): a divisão por zero pode ser detectada pelo hardware. Um índice fora da faixa quase nunca é, e precisa de código gerado pelo compilador. Java exige essa verificação, e C não faz.</a:t>
            </a:r>
          </a:p>
          <a:p>
            <a:r>
              <a:t>Sem suporte na linguagem (p. 598), há três alternativas:</a:t>
            </a:r>
          </a:p>
          <a:p>
            <a:r>
              <a:t>1) um parâmetro ou VALOR DE RETORNO de estado, testado por quem chama. É o jeito da biblioteca padrão de C (fopen devolve NULL, strtol indica onde parou, e atoi nem consegue sinalizar erro);</a:t>
            </a:r>
          </a:p>
          <a:p>
            <a:r>
              <a:t>2) passar um RÓTULO como parâmetro para desviar em caso de erro (Fortran);</a:t>
            </a:r>
          </a:p>
          <a:p>
            <a:r>
              <a:t>3) passar um SUBPROGRAMA tratador como parâmetro.</a:t>
            </a:r>
          </a:p>
          <a:p>
            <a:r>
              <a:t>Vantagens do suporte na linguagem (p. 598-599): o código de verificação manual é tedioso e polui o programa; a PROPAGAÇÃO permite que um único tratador sirva a muitas unidades; e a linguagem incentiva o programador a pensar nos casos excepcionais.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~4 min.</a:t>
            </a:r>
          </a:p>
          <a:p>
            <a:r>
              <a:t>Sebesta (p. 599-602): exceções PREDEFINIDAS são levantadas implicitamente (por exemplo, a divisão por zero), e as DEFINIDAS PELO USUÁRIO são levantadas explicitamente.</a:t>
            </a:r>
          </a:p>
          <a:p>
            <a:r>
              <a:t>As questões de projeto (lista da p. 601-602):</a:t>
            </a:r>
          </a:p>
          <a:p>
            <a:r>
              <a:t>- como e onde os tratadores são especificados, e qual é o seu escopo?</a:t>
            </a:r>
          </a:p>
          <a:p>
            <a:r>
              <a:t>- como uma ocorrência de exceção é VINCULADA a um tratador?</a:t>
            </a:r>
          </a:p>
          <a:p>
            <a:r>
              <a:t>- a informação sobre a exceção pode ser passada ao tratador?</a:t>
            </a:r>
          </a:p>
          <a:p>
            <a:r>
              <a:t>- onde a execução CONTINUA depois do tratador (continuação)?</a:t>
            </a:r>
          </a:p>
          <a:p>
            <a:r>
              <a:t>- há FINALIZAÇÃO (código executado sempre, com ou sem exceção)?</a:t>
            </a:r>
          </a:p>
          <a:p>
            <a:r>
              <a:t>- como o usuário define exceções?</a:t>
            </a:r>
          </a:p>
          <a:p>
            <a:r>
              <a:t>- há tratadores padrão para as exceções predefinidas?</a:t>
            </a:r>
          </a:p>
          <a:p>
            <a:r>
              <a:t>- as exceções predefinidas podem ser levantadas explicitamente?</a:t>
            </a:r>
          </a:p>
          <a:p>
            <a:r>
              <a:t>- os erros detectáveis por hardware viram exceções?</a:t>
            </a:r>
          </a:p>
          <a:p>
            <a:r>
              <a:t>- existem exceções predefinidas?</a:t>
            </a:r>
          </a:p>
          <a:p>
            <a:r>
              <a:t>O diagrama representa a Figura 14.1: o fluxo de controle ao levantar uma exceção. A execução é desviada para o tratador e, ao terminar, termina o programa ou continua em algum ponto (continuação).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~4 min. DEMONSTRAÇÃO: retry.rb (Ruby tenta três vezes).</a:t>
            </a:r>
          </a:p>
          <a:p/>
          <a:p>
            <a:r>
              <a:t>Vinculação (p. 599-600): se não há tratador no local onde a exceção foi levantada, ela se PROPAGA para quem chamou (o ancestral dinâmico), e assim por diante pela pilha de chamadas. A pilha é "desenrolada": cada registro de ativação é descartado (lembre da aula 8). Se ninguém tratar, o sistema de execução usa o tratador padrão: imprime a pilha e termina.</a:t>
            </a:r>
          </a:p>
          <a:p>
            <a:r>
              <a:t>O dilema (p. 600): tratadores LOCAIS exigem escrever muitos; a PROPAGAÇÃO permite um tratador para várias unidades, mas ele pode ficar genérico demais.</a:t>
            </a:r>
          </a:p>
          <a:p>
            <a:r>
              <a:t>Continuação (p. 600): depois do tratador, a execução pode TERMINAR (o término, que é o modelo de C++, Java, Python e C#, onde a execução segue depois do bloco try, e não no ponto do erro) ou RETOMAR a partir do ponto da exceção (o reinício). O livro diz que o término é a escolha mais simples e, para erros, geralmente a melhor. A retomada faz sentido para eventos incomuns mas não errôneos.</a:t>
            </a:r>
          </a:p>
          <a:p>
            <a:r>
              <a:t>Ruby (p. 616) tem o retry, que reexecuta o bloco begin inteiro, uma retomada limitada. O sistema de "condições e restarts" do Common Lisp permite retomada de verdade.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~4 min. DEMONSTRAÇÃO: excecoes.cpp. Observe "abre conexão / fecha conexão" mesmo quando o saque falha.</a:t>
            </a:r>
          </a:p>
          <a:p/>
          <a:p>
            <a:r>
              <a:t>Sebesta (p. 602): o tratamento de exceções entrou no C++ em 1990, inspirado em CLU, Ada e ML. As exceções são definidas pelo usuário ou pela biblioteca e levantadas explicitamente com throw.</a:t>
            </a:r>
          </a:p>
          <a:p>
            <a:r>
              <a:t>Tratadores (p. 602-603): try { ... } catch (tipo parâmetro) { ... }. A vinculação é pelo TIPO do objeto lançado. catch (...) captura qualquer coisa.</a:t>
            </a:r>
          </a:p>
          <a:p>
            <a:r>
              <a:t>Peculiaridades:</a:t>
            </a:r>
          </a:p>
          <a:p>
            <a:r>
              <a:t>- dá para lançar QUALQUER tipo, até int (p. 603). O livro critica isso: que significado tem um inteiro lançado?;</a:t>
            </a:r>
          </a:p>
          <a:p>
            <a:r>
              <a:t>- boa prática: herdar de std::exception e capturar por referência (const E&amp;);</a:t>
            </a:r>
          </a:p>
          <a:p>
            <a:r>
              <a:t>- NÃO há finally. A finalização é feita pelos DESTRUTORES (RAII): ao desenrolar a pilha, os objetos locais são destruídos, e o destrutor fecha o recurso. O exemplo mostra isso;</a:t>
            </a:r>
          </a:p>
          <a:p>
            <a:r>
              <a:t>- avaliação (p. 606): não há exceções predefinidas de hardware. Divisão inteira por zero NÃO vira exceção, é comportamento indefinido;</a:t>
            </a:r>
          </a:p>
          <a:p>
            <a:r>
              <a:t>- a antiga especificação "throw(...)" no cabeçalho foi abandonada. Hoje existe noexcept.</a:t>
            </a:r>
          </a:p>
          <a:p>
            <a:r>
              <a:t>Exercício 4: throw 42 NÃO é capturado por catch (double). Não há conversão de tipos na vinculação, então cai no catch (...).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~3 min.</a:t>
            </a:r>
          </a:p>
          <a:p>
            <a:r>
              <a:t>Sebesta (p. 607): as exceções de Java são OBJETOS de classes descendentes de Throwable, que é a primeira melhoria em relação ao C++ (só se lança o que foi feito para ser lançado).</a:t>
            </a:r>
          </a:p>
          <a:p>
            <a:r>
              <a:t>Duas subclasses diretas:</a:t>
            </a:r>
          </a:p>
          <a:p>
            <a:r>
              <a:t>- Error: erros do sistema de execução, como falta de memória (OutOfMemoryError) e estouro de pilha (StackOverflowError, que vimos na aula 8). Não devem ser tratados pelo programa;</a:t>
            </a:r>
          </a:p>
          <a:p>
            <a:r>
              <a:t>- Exception: RuntimeException (por exemplo, ArrayIndexOutOfBoundsException, NullPointerException e ArithmeticException) e IOException, entre muitas outras.</a:t>
            </a:r>
          </a:p>
          <a:p>
            <a:r>
              <a:t>Verificadas × não verificadas (p. 609):</a:t>
            </a:r>
          </a:p>
          <a:p>
            <a:r>
              <a:t>- NÃO VERIFICADAS: Error, RuntimeException e suas descendentes. O compilador não se importa;</a:t>
            </a:r>
          </a:p>
          <a:p>
            <a:r>
              <a:t>- VERIFICADAS: todas as outras (IOException, exceções do usuário que estendem Exception...). O compilador EXIGE que o método trate a exceção ou a declare na cláusula throws.</a:t>
            </a:r>
          </a:p>
          <a:p>
            <a:r>
              <a:t>Consequência para quem LÊ o código (p. 613): o cabeçalho de um método diz quais exceções verificadas podem escapar dele, o que não acontecia em C++.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~4 min. DEMONSTRAÇÃO: Excecoes.java, Recursos.java e Assercoes.java.</a:t>
            </a:r>
          </a:p>
          <a:p/>
          <a:p>
            <a:r>
              <a:t>Vinculação (p. 607-608): o primeiro catch cujo tipo seja o da exceção ou um ANCESTRAL dela. A ordem dos catch importa: o mais específico vem primeiro, senão o compilador reclama de código inalcançável.</a:t>
            </a:r>
          </a:p>
          <a:p>
            <a:r>
              <a:t>Informação para o tratador (p. 609): o objeto da exceção tem getMessage(), getClass() e os campos definidos pelo usuário (no exemplo, o campo falta).</a:t>
            </a:r>
          </a:p>
          <a:p>
            <a:r>
              <a:t>finally (p. 611-612): executa SEMPRE, com ou sem exceção, e até com return, break ou continue dentro do try. Serve para a FINALIZAÇÃO. Exercício 1: um return dentro do finally SOBRESCREVE o return do try, e f() devolve 2. É uma péssima prática.</a:t>
            </a:r>
          </a:p>
          <a:p>
            <a:r>
              <a:t>try-with-resources (Java 7): qualquer objeto AutoCloseable é fechado automaticamente, na ordem INVERSA e ANTES do catch executar. No exemplo: abre a, abre b, lê a, falha em b, fecha b, fecha a, e só então o catch.</a:t>
            </a:r>
          </a:p>
          <a:p>
            <a:r>
              <a:t>Asserções (p. 612-613): assert condição : mensagem. ATENÇÃO: vêm DESLIGADAS por padrão e exigem java -ea. No OneCompiler, dividir(10, 0) não dispara o assert. Servem para verificar suposições durante o desenvolvimento, e não para validar a entrada do usuário.</a:t>
            </a:r>
          </a:p>
          <a:p>
            <a:r>
              <a:t>Avaliação (p. 613): o livro considera o modelo de Java uma melhoria sobre o de C++: só se lançam Throwables, a cláusula throws informa o leitor e o finally é útil.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~3 min. É o aquecimento para o debate do final da aula.</a:t>
            </a:r>
          </a:p>
          <a:p>
            <a:r>
              <a:t>A favor (p. 613): o compilador garante que ninguém "esquece" uma exceção possível, e o cabeçalho documenta os erros que um método pode propagar.</a:t>
            </a:r>
          </a:p>
          <a:p>
            <a:r>
              <a:t>Contra, na prática da indústria:</a:t>
            </a:r>
          </a:p>
          <a:p>
            <a:r>
              <a:t>- proliferação de "throws Exception" e de blocos catch VAZIOS só para o código compilar, o que é pior que não tratar;</a:t>
            </a:r>
          </a:p>
          <a:p>
            <a:r>
              <a:t>- não combina bem com lambdas e streams: Function&lt;T, R&gt; não declara exceções, e é preciso embrulhar em RuntimeException;</a:t>
            </a:r>
          </a:p>
          <a:p>
            <a:r>
              <a:t>- mudanças em camadas internas forçam mudar a assinatura de toda a cadeia de chamadas.</a:t>
            </a:r>
          </a:p>
          <a:p>
            <a:r>
              <a:t>Resultado: Java é praticamente a ÚNICA linguagem popular com exceções verificadas. C# (2000) decidiu não ter. Kotlin e Scala, que rodam na JVM, também não têm. Frameworks como o Spring convertem as verificadas em não verificadas.</a:t>
            </a:r>
          </a:p>
          <a:p>
            <a:r>
              <a:t>O que as linguagens mais novas fizeram: colocar o erro no TIPO DE RETORNO (Result em Rust, error em Go, Either nas funcionais). É como uma "exceção verificada" sem a sintaxe de exceção: o compilador (Rust) ou a convenção (Go) obrigam a lidar com o erro, e ele é um valor comum. Veremos em seguida.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~4 min. DEMONSTRAÇÃO: excecoes.py e contexto.py.</a:t>
            </a:r>
          </a:p>
          <a:p/>
          <a:p>
            <a:r>
              <a:t>Sebesta (p. 613-615): em Python, as exceções são objetos de classes descendentes de BaseException. Os programas normalmente derivam de Exception. As predefinidas incluem ZeroDivisionError, IndexError, KeyError, ValueError, TypeError...</a:t>
            </a:r>
          </a:p>
          <a:p>
            <a:r>
              <a:t>Forma completa: try / except (um ou vários, inclusive except (A, B) as e) / else / finally.</a:t>
            </a:r>
          </a:p>
          <a:p>
            <a:r>
              <a:t>- else: executa só se NÃO houve exceção no try. Isso deixa o try pequeno, só com o código que pode falhar;</a:t>
            </a:r>
          </a:p>
          <a:p>
            <a:r>
              <a:t>- finally: sempre;</a:t>
            </a:r>
          </a:p>
          <a:p>
            <a:r>
              <a:t>- raise levanta. raise X from e ENCADEIA a causa original (no exemplo, o __cause__ guarda o ValueError).</a:t>
            </a:r>
          </a:p>
          <a:p>
            <a:r>
              <a:t>Estilo pythônico, EAFP ("é mais fácil pedir perdão do que permissão"): tenta-se e trata-se o erro, em vez de testar antes (o LBYL, "olhe antes de pular"). Por exemplo, try: config["host"] except KeyError. Em código concorrente, EAFP evita a corrida entre o teste e o uso.</a:t>
            </a:r>
          </a:p>
          <a:p>
            <a:r>
              <a:t>Finalização com with (gerenciadores de contexto): o equivalente ao try-with-resources, e o recurso é fechado na ordem inversa mesmo com exceção (contexto.py).</a:t>
            </a:r>
          </a:p>
          <a:p>
            <a:r>
              <a:t>Não há exceções verificadas.</a:t>
            </a:r>
          </a:p>
          <a:p>
            <a:r>
              <a:t>Exercício 2: A, C, -1 e depois B, C, 2.0. O finally executa ANTES do valor de retorno chegar a quem chamou.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~4 min. DEMONSTRAÇÃO: erros.go.</a:t>
            </a:r>
          </a:p>
          <a:p>
            <a:r>
              <a:t>Go deliberadamente NÃO tem exceções no fluxo normal. Uma função que pode falhar devolve DOIS valores: o resultado e um error. Quem chama testa com if err != nil. É a volta da "variável de estado" da p. 598, mas com convenção forte, tipo próprio e ferramentas.</a:t>
            </a:r>
          </a:p>
          <a:p>
            <a:r>
              <a:t>- errors.New cria um erro. fmt.Errorf com %w EMBRULHA um erro, acrescentando contexto ("sacar 250.00: saldo insuficiente"). errors.Is e errors.As examinam a cadeia de erros embrulhados;</a:t>
            </a:r>
          </a:p>
          <a:p>
            <a:r>
              <a:t>- defer: finalização (próximo slide de finalização);</a:t>
            </a:r>
          </a:p>
          <a:p>
            <a:r>
              <a:t>- panic e recover: para situações realmente excepcionais (bug, estado impossível). O panic desenrola a pilha como uma exceção. O recover, dentro de um defer, captura o panic. É o "try/catch" do Go, e deve ser raro.</a:t>
            </a:r>
          </a:p>
          <a:p>
            <a:r>
              <a:t>Crítica comum: muito "if err != nil" repetido. Resposta dos projetistas: o erro fica VISÍVEL no fluxo, e não num salto invisível.</a:t>
            </a:r>
          </a:p>
          <a:p>
            <a:r>
              <a:t>O risco: IGNORAR o erro com "_". Exercício 3: strconv.Atoi("12a") devolve 0 e um erro. Ignorando o erro, o programa imprime 0, em silêncio. Ferramentas de análise estática (errcheck) apontam esse caso.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~4 min. DEMONSTRAÇÃO: erros.rs.</a:t>
            </a:r>
          </a:p>
          <a:p>
            <a:r>
              <a:t>Rust também não tem exceções. Uma função que pode falhar devolve Result&lt;T, E&gt;, uma UNIÃO DISCRIMINADA (aula 6!): Ok(valor) ou Err(erro). A ausência de valor é Option&lt;T&gt;: Some(v) ou None.</a:t>
            </a:r>
          </a:p>
          <a:p>
            <a:r>
              <a:t>A diferença para Go: o compilador OBRIGA a olhar o Result. Não dá para usar o valor sem tratar o Err (match, if let, ?), e um Result ignorado gera AVISO (#[must_use]).</a:t>
            </a:r>
          </a:p>
          <a:p>
            <a:r>
              <a:t>O operador ?: se o valor for Err, devolve o erro para quem chamou; se for Ok, extrai o valor. É a PROPAGAÇÃO explícita, mas curta, como na linha texto.parse()?.</a:t>
            </a:r>
          </a:p>
          <a:p>
            <a:r>
              <a:t>panic!: para bugs e estados impossíveis, que encerra a thread. unwrap() e expect() "desembrulham" o Ok e dão panic se for Err. Exercício 5: "12a".parse().unwrap() dá panic com "called Result::unwrap() on an Err value: ParseIntError { kind: InvalidDigit }". São úteis em protótipos e testes, e perigosos em produção.</a:t>
            </a:r>
          </a:p>
          <a:p>
            <a:r>
              <a:t>Resumo: é a ideia das exceções verificadas do Java (o erro faz parte da assinatura), mas com um valor comum e sem sintaxe especial.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~8 min. É a ATIVIDADE CENTRAL da aula. Divida a turma em 5 grupos, um por linguagem. Cada grupo roda o seu arquivo no OneCompiler e preenche a sua linha da tabela antes de você revelar.</a:t>
            </a:r>
          </a:p>
          <a:p>
            <a:r>
              <a:t>O problema: converter o texto de entrada em número e calcular 100 dividido por ele, com as entradas "4", "0" e "abc".</a:t>
            </a:r>
          </a:p>
          <a:p>
            <a:r>
              <a:t>Resultados (todos testados):</a:t>
            </a:r>
          </a:p>
          <a:p>
            <a:r>
              <a:t>- Java: 25; ArithmeticException "/ by zero"; NumberFormatException 'For input string: "abc"'. Exceções não verificadas, capturadas em catch diferentes.</a:t>
            </a:r>
          </a:p>
          <a:p>
            <a:r>
              <a:t>- Python: 25; ZeroDivisionError; ValueError. Exceções, tratadas com dois except.</a:t>
            </a:r>
          </a:p>
          <a:p>
            <a:r>
              <a:t>- Go: 25; o erro precisa ser VERIFICADO À MÃO antes de dividir, porque 100 / 0 com inteiros dá PANIC; strconv.Atoi devolve um error. Erros como valores.</a:t>
            </a:r>
          </a:p>
          <a:p>
            <a:r>
              <a:t>- Rust: 25; checked_div devolve None (100 / 0 daria panic); parse devolve Err. Tudo modelado no tipo Result.</a:t>
            </a:r>
          </a:p>
          <a:p>
            <a:r>
              <a:t>- JavaScript: 25; 100 / 0 = Infinity; Number("abc") = NaN. NENHUM ERRO! O programa segue com valores estranhos. É a filosofia "não falhar" do JS dos navegadores. A versão "segura" precisa verificar e lançar à mão (TypeError, RangeError).</a:t>
            </a:r>
          </a:p>
          <a:p>
            <a:r>
              <a:t>Discussão: em qual linguagem é mais difícil ESQUECER de tratar o erro? (Rust, depois Java e Python, que ao menos param o programa; Go depende de disciplina; em JS o erro nem aparece.)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~3 min. DEMONSTRAÇÃO: async_erros.js.</a:t>
            </a:r>
          </a:p>
          <a:p>
            <a:r>
              <a:t>No código assíncrono (aula 10), o erro acontece DEPOIS que a função que o iniciou já terminou. A pilha de chamadas original não existe mais.</a:t>
            </a:r>
          </a:p>
          <a:p>
            <a:r>
              <a:t>Três formas:</a:t>
            </a:r>
          </a:p>
          <a:p>
            <a:r>
              <a:t>1) Promise com .catch: o tratador fica encadeado na promise;</a:t>
            </a:r>
          </a:p>
          <a:p>
            <a:r>
              <a:t>2) async/await com try/catch: o await "espera" e transforma a rejeição numa exceção comum. É a forma mais legível, e o finally também funciona;</a:t>
            </a:r>
          </a:p>
          <a:p>
            <a:r>
              <a:t>3) a ARMADILHA: try/catch SEM await não captura nada, porque o try termina antes da rejeição acontecer. A rejeição fica "não tratada". O Node registra unhandledRejection e, por padrão, ENCERRA o processo (exercício 6: imprime "fim" e depois o erro "falhou", com código de saída 1).</a:t>
            </a:r>
          </a:p>
          <a:p>
            <a:r>
              <a:t>A ordem de saída no exemplo é: 1) catch da promise, 2) usuário: Ana, 3) rejeição NÃO tratada, e depois 2) try/catch e finally. Os timers de 50 ms disparam na ordem de criação, e o segundo await espera mais 50 ms.</a:t>
            </a:r>
          </a:p>
          <a:p>
            <a:r>
              <a:t>O mesmo vale para Python (asyncio) e C# (Task): é preciso usar await dentro do 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~3 min. DEMONSTRAÇÃO: finalizacao.go e finalizacao.rs.</a:t>
            </a:r>
          </a:p>
          <a:p>
            <a:r>
              <a:t>Finalização (p. 600-601): código que deve executar ao sair de uma unidade, COM ou SEM exceção, como fechar um arquivo, liberar uma trava ou fechar uma conexão.</a:t>
            </a:r>
          </a:p>
          <a:p>
            <a:r>
              <a:t>Cada linguagem fez uma escolha:</a:t>
            </a:r>
          </a:p>
          <a:p>
            <a:r>
              <a:t>- finally: Java, Python, JavaScript e C#. O Ruby chama de ensure;</a:t>
            </a:r>
          </a:p>
          <a:p>
            <a:r>
              <a:t>- blocos de recursos: try-with-resources (Java), with (Python), using (C#);</a:t>
            </a:r>
          </a:p>
          <a:p>
            <a:r>
              <a:t>- defer (Go): agenda uma chamada para a saída da função. Vários defer executam em ordem INVERSA (LIFO): defer 3, 2, 1;</a:t>
            </a:r>
          </a:p>
          <a:p>
            <a:r>
              <a:t>- destrutores e RAII (C++), e Drop (Rust): a finalização acontece quando o OBJETO sai de escopo, automaticamente e também em ordem inversa (liberando c, depois a). Não é preciso lembrar de nada.</a:t>
            </a:r>
          </a:p>
          <a:p>
            <a:r>
              <a:t>A tendência é associar a finalização ao RECURSO (RAII, with, try-with-resources) e não ao bloco (finally), porque assim é mais difícil esquecer.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~3 min.</a:t>
            </a:r>
          </a:p>
          <a:p>
            <a:r>
              <a:t>Sebesta (p. 616): o tratamento de eventos é parecido com o de exceções, porque em ambos os tratadores são chamados IMPLICITAMENTE quando algo acontece. A diferença: as exceções vêm de erros ou situações incomuns do programa, e os EVENTOS vêm de ações EXTERNAS, principalmente de usuários em interfaces gráficas (cliques, teclas).</a:t>
            </a:r>
          </a:p>
          <a:p>
            <a:r>
              <a:t>Programação dirigida por eventos (p. 616-617): na programação convencional, o CÓDIGO define a ordem de execução. Na dirigida por eventos, quem define é a sequência de eventos. O programa registra tratadores e espera.</a:t>
            </a:r>
          </a:p>
          <a:p>
            <a:r>
              <a:t>Vocabulário: evento (a notificação de que algo aconteceu), tratador ou ouvinte (o código que responde), registro (associar o tratador à fonte) e laço de eventos (o que espera e despacha, como vimos na aula 10).</a:t>
            </a:r>
          </a:p>
          <a:p>
            <a:r>
              <a:t>Usos citados (p. 617): páginas web dinâmicas (formulários, botões) e VALIDAÇÃO DE FORMULÁRIOS no navegador, que evita enviar dados ruins ao servidor.</a:t>
            </a:r>
          </a:p>
          <a:p>
            <a:r>
              <a:t>Hoje, além das interfaces: servidores (uma requisição que chega é um evento), mensageria (Kafka, filas), IoT e jogos.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~3 min. DEMONSTRAÇÃO: Eventos.java, uma simulação SEM interface gráfica (o OneCompiler não tem tela). O mecanismo é o mesmo do Swing.</a:t>
            </a:r>
          </a:p>
          <a:p>
            <a:r>
              <a:t>Sebesta (p. 618-622): o modelo de eventos do Java (Swing) tem três participantes:</a:t>
            </a:r>
          </a:p>
          <a:p>
            <a:r>
              <a:t>- a FONTE do evento (um componente: JButton, JTextField...);</a:t>
            </a:r>
          </a:p>
          <a:p>
            <a:r>
              <a:t>- o OBJETO de evento, com os dados do que aconteceu (ActionEvent, ItemEvent...);</a:t>
            </a:r>
          </a:p>
          <a:p>
            <a:r>
              <a:t>- os OUVINTES (listeners): objetos de classes que implementam uma interface (ActionListener, com o método actionPerformed). São REGISTRADOS na fonte (addActionListener).</a:t>
            </a:r>
          </a:p>
          <a:p>
            <a:r>
              <a:t>Quando o usuário clica, o laço de eventos do Swing (a Event Dispatch Thread) cria o objeto de evento e chama o método de CADA ouvinte registrado.</a:t>
            </a:r>
          </a:p>
          <a:p>
            <a:r>
              <a:t>Na versão do livro, o ouvinte é uma classe interna. No Java 8+, é uma lambda: botao.addActionListener(e -&gt; salvar()).</a:t>
            </a:r>
          </a:p>
          <a:p>
            <a:r>
              <a:t>É o padrão de projeto OBSERVER (Gang of Four): a fonte não conhece os ouvintes, só a interface, o que dá baixo acoplamento.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~4 min. DEMONSTRAÇÕES:</a:t>
            </a:r>
          </a:p>
          <a:p>
            <a:r>
              <a:t>1) Navegador: abra QUALQUER página, aperte F12, cole dom_console.js no console e tecle Enter. Aparece um botão no canto e os três tratadores executam: botão, depois caixa, depois body. É a PROPAGAÇÃO (bubbling): o evento "sobe" pela árvore do documento, parecido com uma exceção que sobe pela pilha de chamadas. e.stopPropagation() interrompe a subida.</a:t>
            </a:r>
          </a:p>
          <a:p>
            <a:r>
              <a:t>2) Node: eventos.js com EventEmitter. on registra, once registra para uma só vez e emit dispara. O evento especial "error": sem tratador registrado, o Node lança a exceção e encerra, mais uma ponte entre eventos e exceções.</a:t>
            </a:r>
          </a:p>
          <a:p>
            <a:r>
              <a:t>3) C# (p. 622-628): Eventos.cs. A palavra-chave event declara o evento, += registra e -= remove um tratador (um delegate, que são funções como valores, visto na aula 8). O ?.Invoke dispara só se houver ouvintes.</a:t>
            </a:r>
          </a:p>
          <a:p>
            <a:r>
              <a:t>Observação: o livro mostra eventos em C# com Windows Forms. O mecanismo de event/delegate é o mesmo em qualquer tipo de aplicação.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~10 min. DEBATE ESTRUTURADO:</a:t>
            </a:r>
          </a:p>
          <a:p>
            <a:r>
              <a:t>1) Divida a turma em dois grupos: "exceções" (Java, Python, C#) e "erros como valores" (Go, Rust).</a:t>
            </a:r>
          </a:p>
          <a:p>
            <a:r>
              <a:t>2) Cada grupo tem 3 minutos para preparar 3 argumentos. Use o código do "mesmo problema em cinco linguagens" como evidência.</a:t>
            </a:r>
          </a:p>
          <a:p>
            <a:r>
              <a:t>3) Cada grupo apresenta em 1 minuto, e depois há 2 minutos de réplica.</a:t>
            </a:r>
          </a:p>
          <a:p>
            <a:r>
              <a:t>4) Fechamento pelo professor (2 min): não há vencedor absoluto. Muitas linguagens MISTURAM as duas coisas: Rust tem panic para bugs e Result para erros esperados; Go tem panic/recover; Java tem Optional; Kotlin tem runCatching e Result; C# tem exceções e TryParse. A regra prática das linguagens modernas: ERROS ESPERADOS (entrada inválida, arquivo inexistente) como VALORES, e BUGS e situações impossíveis como exceções ou panic.</a:t>
            </a:r>
          </a:p>
          <a:p>
            <a:r>
              <a:t>Argumentos esperados:</a:t>
            </a:r>
          </a:p>
          <a:p>
            <a:r>
              <a:t>- a favor das exceções: separam o caminho normal do tratamento (código mais limpo); a propagação é automática; não dá para ignorar em silêncio (o programa para).</a:t>
            </a:r>
          </a:p>
          <a:p>
            <a:r>
              <a:t>- a favor dos valores: o erro fica VISÍVEL no tipo e no código; não há saltos invisíveis; fica mais fácil raciocinar e revisar; com Result, o compilador obriga a tratar.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5 a 10 min (se o debate tomar mais tempo, use o exercício como tarefa). Pode valer como atividade avaliativa em sala.</a:t>
            </a:r>
          </a:p>
          <a:p>
            <a:r>
              <a:t>Para cada trecho: (a) o que é impresso? (b) qual regra explica?</a:t>
            </a:r>
          </a:p>
          <a:p/>
          <a:p>
            <a:r>
              <a:t>GABARITO:</a:t>
            </a:r>
          </a:p>
          <a:p>
            <a:r>
              <a:t>1) Java: 2. O finally executa SEMPRE, e um return dentro dele SOBRESCREVE o return do try. Ele também engoliria uma exceção lançada no try. Péssima prática: nunca dê return no finally.</a:t>
            </a:r>
          </a:p>
          <a:p>
            <a:r>
              <a:t>2) Python: A, C, -1 e depois B, C, 2.0. O except executa e o seu return fica "pendente", o finally executa ANTES da função devolver e, só então, o valor chega a quem chamou. Com x = 5, não há exceção, então o else executa (B) e depois o finally (C).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GABARITO:</a:t>
            </a:r>
          </a:p>
          <a:p>
            <a:r>
              <a:t>3) Go: 0. Atoi devolve (0, erro), e o erro foi IGNORADO com _. O programa segue em silêncio com um valor errado. É o risco de "erros como valores" sem disciplina. Ferramentas como o errcheck apontam isso.</a:t>
            </a:r>
          </a:p>
          <a:p>
            <a:r>
              <a:t>4) C++: "outro". A vinculação de exceções em C++ é pelo TIPO, sem conversões numéricas: um int lançado NÃO casa com catch (double), e cai no catch (...).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GABARITO:</a:t>
            </a:r>
          </a:p>
          <a:p>
            <a:r>
              <a:t>5) Rust: panic "called Result::unwrap() on an Err value: ParseIntError { kind: InvalidDigit }", e o programa termina com código 101. unwrap diz "tenho certeza de que é Ok", e quando não é, é um bug. Correção: match, if let ou ?.</a:t>
            </a:r>
          </a:p>
          <a:p>
            <a:r>
              <a:t>6) JavaScript: imprime "fim" e DEPOIS o Node encerra com "Error: falhou", como rejeição não tratada. Uma função async NUNCA lança exceção de forma síncrona: ela devolve uma promise rejeitada, e o try sem await não a captura. Correção: await f() dentro de uma função async, ou f().catch(...).</a:t>
            </a:r>
          </a:p>
          <a:p>
            <a:r>
              <a:t>Fechamento: quais erros são silenciosos (3), quais param o programa (5, 6) e quais surpreendem pela ordem (1, 2)?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~2 min.</a:t>
            </a:r>
          </a:p>
          <a:p>
            <a:r>
              <a:t>Mensagem final: a pergunta de projeto não é "exceções sim ou não", e sim ONDE e COMO cada tipo de erro deve ser tratado, e o quanto a linguagem ajuda a não esquecer. As linguagens recentes convergiram para: erros esperados como valores tipados, bugs como panic ou exceção, e finalização amarrada ao recurso.</a:t>
            </a:r>
          </a:p>
          <a:p>
            <a:r>
              <a:t>Revise as questões de projeto (slide 5) aplicando-as a cada linha da tabela: vinculação, informação, continuação e finalização.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~1 min.</a:t>
            </a:r>
          </a:p>
          <a:p>
            <a:r>
              <a:t>Sugestão de entrega (pode compor a Atividade de Estudo Programada): a reescrita em dois estilos, com um parágrafo de comparação.</a:t>
            </a:r>
          </a:p>
          <a:p>
            <a:r>
              <a:t>Destaques:</a:t>
            </a:r>
          </a:p>
          <a:p>
            <a:r>
              <a:t>- Ada: exceções PREDEFINIDAS como Constraint_Error (valor fora da faixa, índice inválido), Program_Error e Storage_Error, e exceções do usuário declaradas com "exception" e levantadas com raise. Os tratadores ficam num bloco "exception when ... =&gt;" no fim do bloco. excecoes.adb mostra os três casos. Foi uma exceção de Ada sem tratador que derrubou o Ariane 5.</a:t>
            </a:r>
          </a:p>
          <a:p>
            <a:r>
              <a:t>- O programa do livro em C++ (distribuição de notas) mostra propagação entre blocos try aninhados.</a:t>
            </a:r>
          </a:p>
          <a:p>
            <a:r>
              <a:t>Próxima aula: Paradigma funcional (Cap. 15): Scheme, Haskell e o funcional dentro de Java, JavaScript e 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000" kern="1200" b="1">
          <a:solidFill>
            <a:srgbClr val="1F2937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59" y="1828800"/>
            <a:ext cx="10545775" cy="1280160"/>
          </a:xfrm>
        </p:spPr>
        <p:txBody>
          <a:bodyPr/>
          <a:lstStyle/>
          <a:p>
            <a:pPr algn="l"/>
            <a:r>
              <a:rPr sz="4800" b="1">
                <a:solidFill>
                  <a:srgbClr val="1F2937"/>
                </a:solidFill>
              </a:rPr>
              <a:t>Tratamento de Exceções e de Eventos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59" y="3246120"/>
            <a:ext cx="10545775" cy="2011680"/>
          </a:xfrm>
        </p:spPr>
        <p:txBody>
          <a:bodyPr/>
          <a:lstStyle/>
          <a:p>
            <a:pPr algn="l">
              <a:spcAft>
                <a:spcPts val="600"/>
              </a:spcAft>
            </a:pPr>
            <a:r>
              <a:rPr sz="2400">
                <a:solidFill>
                  <a:srgbClr val="1F2937"/>
                </a:solidFill>
              </a:rPr>
              <a:t>Aula 11 · Paradigmas de Linguagens de Programação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667085"/>
                </a:solidFill>
              </a:rPr>
              <a:t>Engenharia de Software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667085"/>
                </a:solidFill>
              </a:rPr>
              <a:t>Referência: Sebesta, Conceitos de Linguagens de Programação, 11ª ed., Cap. 14 (p. 595-630)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e ligação com o mundo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Cap. 14 · p. 595-630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2120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F766E"/>
                </a:solidFill>
              </a:rPr>
              <a:t>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212080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F2937"/>
                </a:solidFill>
              </a:rPr>
              <a:t>O objetivo desta aula é aprender como as linguagens </a:t>
            </a:r>
            <a:r>
              <a:rPr sz="2000" b="1">
                <a:solidFill>
                  <a:srgbClr val="1F2937"/>
                </a:solidFill>
              </a:rPr>
              <a:t>separam o caminho normal do tratamento de erros</a:t>
            </a:r>
            <a:r>
              <a:rPr sz="2000" b="0">
                <a:solidFill>
                  <a:srgbClr val="1F2937"/>
                </a:solidFill>
              </a:rPr>
              <a:t>, com exceções ou com </a:t>
            </a:r>
            <a:r>
              <a:rPr sz="2000" b="1">
                <a:solidFill>
                  <a:srgbClr val="1F2937"/>
                </a:solidFill>
              </a:rPr>
              <a:t>erros como valores</a:t>
            </a:r>
            <a:r>
              <a:rPr sz="2000" b="0">
                <a:solidFill>
                  <a:srgbClr val="1F2937"/>
                </a:solidFill>
              </a:rPr>
              <a:t>, e como os programas </a:t>
            </a:r>
            <a:r>
              <a:rPr sz="2000" b="1">
                <a:solidFill>
                  <a:srgbClr val="1F2937"/>
                </a:solidFill>
              </a:rPr>
              <a:t>reagem a eventos</a:t>
            </a:r>
            <a:r>
              <a:rPr sz="2000" b="0">
                <a:solidFill>
                  <a:srgbClr val="1F2937"/>
                </a:solidFill>
              </a:rPr>
              <a:t> externos, como cliques e mensagens.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947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Para o engenheiro de software, isso significa: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521208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56032" indent="-219456">
              <a:spcAft>
                <a:spcPts val="600"/>
              </a:spcAft>
              <a:buClr>
                <a:srgbClr val="0F766E"/>
              </a:buClr>
              <a:buFont typeface="Arial"/>
              <a:buChar char="•"/>
            </a:pPr>
            <a:r>
              <a:rPr sz="1600" b="0">
                <a:solidFill>
                  <a:srgbClr val="1F2937"/>
                </a:solidFill>
              </a:rPr>
              <a:t>escolher onde tratar um erro e onde deixá-lo propagar</a:t>
            </a:r>
          </a:p>
          <a:p>
            <a:pPr algn="l" marL="256032" indent="-219456">
              <a:spcAft>
                <a:spcPts val="600"/>
              </a:spcAft>
              <a:buClr>
                <a:srgbClr val="0F766E"/>
              </a:buClr>
              <a:buFont typeface="Arial"/>
              <a:buChar char="•"/>
            </a:pPr>
            <a:r>
              <a:rPr sz="1600" b="0">
                <a:solidFill>
                  <a:srgbClr val="1F2937"/>
                </a:solidFill>
              </a:rPr>
              <a:t>garantir a liberação de recursos (finalização) mesmo com falhas</a:t>
            </a:r>
          </a:p>
          <a:p>
            <a:pPr algn="l" marL="256032" indent="-219456">
              <a:spcAft>
                <a:spcPts val="600"/>
              </a:spcAft>
              <a:buClr>
                <a:srgbClr val="0F766E"/>
              </a:buClr>
              <a:buFont typeface="Arial"/>
              <a:buChar char="•"/>
            </a:pPr>
            <a:r>
              <a:rPr sz="1600" b="0">
                <a:solidFill>
                  <a:srgbClr val="1F2937"/>
                </a:solidFill>
              </a:rPr>
              <a:t>entender o modelo de eventos das interfaces e dos servidores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325880"/>
            <a:ext cx="5468112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B42318"/>
                </a:solidFill>
              </a:rPr>
              <a:t>Quando o erro não é tratado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468112" cy="13258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1996 · Ariane 5 (de novo)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O estouro gerou uma exceção em Ada sem tratador: os dois computadores de navegação desligaram.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291839"/>
            <a:ext cx="5468112" cy="13258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2009 · OpenSSL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Uma função devolvia -1 em caso de erro, e quem chamava só testava 0: assinaturas inválidas passavam.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754879"/>
            <a:ext cx="5468112" cy="13258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2024 · CrowdStrike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Uma leitura inválida não tratada no núcleo do Windows travou cerca de 8,5 milhões de computadores.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Roteiro da aula (80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Planejamento do Encontro 6 · Sebesta Cap. 14</a:t>
            </a:r>
          </a:p>
        </p:txBody>
      </p:sp>
      <p:sp>
        <p:nvSpPr>
          <p:cNvPr id="4" name="Oval 3"/>
          <p:cNvSpPr/>
          <p:nvPr/>
        </p:nvSpPr>
        <p:spPr>
          <a:xfrm>
            <a:off x="1012926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834640"/>
            <a:ext cx="1696669" cy="16459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>
            <a:no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0F766E"/>
                </a:solidFill>
              </a:rPr>
              <a:t>0-10 min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Problematização e conceitos básicos</a:t>
            </a:r>
          </a:p>
        </p:txBody>
      </p:sp>
      <p:sp>
        <p:nvSpPr>
          <p:cNvPr id="6" name="Oval 5"/>
          <p:cNvSpPr/>
          <p:nvPr/>
        </p:nvSpPr>
        <p:spPr>
          <a:xfrm>
            <a:off x="2892475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8189" y="2834640"/>
            <a:ext cx="1696669" cy="16459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>
            <a:no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0F766E"/>
                </a:solidFill>
              </a:rPr>
              <a:t>10-20 min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Questões de projeto e propagação</a:t>
            </a:r>
          </a:p>
        </p:txBody>
      </p:sp>
      <p:sp>
        <p:nvSpPr>
          <p:cNvPr id="8" name="Oval 7"/>
          <p:cNvSpPr/>
          <p:nvPr/>
        </p:nvSpPr>
        <p:spPr>
          <a:xfrm>
            <a:off x="4772025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7738" y="2834640"/>
            <a:ext cx="1696669" cy="16459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>
            <a:no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0F766E"/>
                </a:solidFill>
              </a:rPr>
              <a:t>20-40 min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Exceções em C++, Java e Python</a:t>
            </a:r>
          </a:p>
        </p:txBody>
      </p:sp>
      <p:sp>
        <p:nvSpPr>
          <p:cNvPr id="10" name="Oval 9"/>
          <p:cNvSpPr/>
          <p:nvPr/>
        </p:nvSpPr>
        <p:spPr>
          <a:xfrm>
            <a:off x="6651574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2834640"/>
            <a:ext cx="1696669" cy="16459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>
            <a:no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0F766E"/>
                </a:solidFill>
              </a:rPr>
              <a:t>40-55 min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Erros como valores e o mesmo problema em 5 linguagens</a:t>
            </a:r>
          </a:p>
        </p:txBody>
      </p:sp>
      <p:sp>
        <p:nvSpPr>
          <p:cNvPr id="12" name="Oval 11"/>
          <p:cNvSpPr/>
          <p:nvPr/>
        </p:nvSpPr>
        <p:spPr>
          <a:xfrm>
            <a:off x="8531123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6836" y="2834640"/>
            <a:ext cx="1696669" cy="16459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>
            <a:no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0F766E"/>
                </a:solidFill>
              </a:rPr>
              <a:t>55-65 min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Tratamento de eventos</a:t>
            </a:r>
          </a:p>
        </p:txBody>
      </p:sp>
      <p:sp>
        <p:nvSpPr>
          <p:cNvPr id="14" name="Oval 13"/>
          <p:cNvSpPr/>
          <p:nvPr/>
        </p:nvSpPr>
        <p:spPr>
          <a:xfrm>
            <a:off x="10410672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46386" y="2834640"/>
            <a:ext cx="1696669" cy="16459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>
            <a:no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0F766E"/>
                </a:solidFill>
              </a:rPr>
              <a:t>65-80 min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Debate e exercício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4632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Tipo de aula:</a:t>
            </a:r>
            <a:r>
              <a:rPr sz="1700" b="0">
                <a:solidFill>
                  <a:srgbClr val="1F2937"/>
                </a:solidFill>
              </a:rPr>
              <a:t> exploratória comparativa: o mesmo problema em 5 linguagens e um debate estruturado.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Exemplos:</a:t>
            </a:r>
            <a:r>
              <a:rPr sz="1700" b="0">
                <a:solidFill>
                  <a:srgbClr val="1F2937"/>
                </a:solidFill>
              </a:rPr>
              <a:t> pasta </a:t>
            </a:r>
            <a:r>
              <a:rPr sz="1564" b="0">
                <a:solidFill>
                  <a:srgbClr val="1F2937"/>
                </a:solidFill>
                <a:latin typeface="Consolas"/>
              </a:rPr>
              <a:t>exemplos/</a:t>
            </a:r>
            <a:r>
              <a:rPr sz="1700" b="0">
                <a:solidFill>
                  <a:srgbClr val="1F2937"/>
                </a:solidFill>
              </a:rPr>
              <a:t>, na ordem dos slides. Todos rodam no navegador em </a:t>
            </a:r>
            <a:r>
              <a:rPr sz="1700" b="1">
                <a:solidFill>
                  <a:srgbClr val="1F2937"/>
                </a:solidFill>
              </a:rPr>
              <a:t>onecompiler.com</a:t>
            </a:r>
            <a:r>
              <a:rPr sz="1700" b="0">
                <a:solidFill>
                  <a:srgbClr val="1F2937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Conceitos básicos: exceção, levantamento e tratador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§14.1.1 · p. 596-599 · exemplos/01_sem_excecoes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303520" cy="9601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Exceção (p. 597)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evento incomum, errôneo ou não, que exige processamento especial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23160"/>
            <a:ext cx="5303520" cy="9601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Levantar (lançar)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a exceção é levantada quando o evento acontece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520439"/>
            <a:ext cx="5303520" cy="9601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Tratador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o código que processa a exceção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5303520" cy="1508760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>
            <a:no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2937"/>
                </a:solidFill>
              </a:rPr>
              <a:t>Vantagens do suporte na linguagem (p. 598-599)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menos código de verificação, </a:t>
            </a:r>
            <a:r>
              <a:rPr sz="1400" b="1">
                <a:solidFill>
                  <a:srgbClr val="1F2937"/>
                </a:solidFill>
              </a:rPr>
              <a:t>propagação</a:t>
            </a:r>
            <a:r>
              <a:rPr sz="1400" b="0">
                <a:solidFill>
                  <a:srgbClr val="1F2937"/>
                </a:solidFill>
              </a:rPr>
              <a:t> para um tratador comum, e o programador passa a pensar nos casos excepcionais.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325880"/>
            <a:ext cx="5513832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42318"/>
                </a:solidFill>
              </a:rPr>
              <a:t>C · erros por valor de retorno (p. 598)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673352"/>
            <a:ext cx="5513832" cy="276148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200" i="0">
                <a:solidFill>
                  <a:srgbClr val="111827"/>
                </a:solidFill>
                <a:latin typeface="Consolas"/>
              </a:rPr>
              <a:t>FILE *f = fopen("nao_existe.txt", "r");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111827"/>
                </a:solidFill>
                <a:latin typeface="Consolas"/>
              </a:rPr>
              <a:t>if (f == NULL)                  </a:t>
            </a:r>
            <a:r>
              <a:rPr sz="1200" i="0">
                <a:solidFill>
                  <a:srgbClr val="0F766E"/>
                </a:solidFill>
                <a:latin typeface="Consolas"/>
              </a:rPr>
              <a:t>// quem chama precisa testar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111827"/>
                </a:solidFill>
                <a:latin typeface="Consolas"/>
              </a:rPr>
              <a:t>    printf("%s\n", strerror(errno));</a:t>
            </a:r>
          </a:p>
          <a:p>
            <a:pPr algn="l">
              <a:spcAft>
                <a:spcPts val="0"/>
              </a:spcAft>
            </a:pPr>
            <a:r>
              <a:rPr sz="12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111827"/>
                </a:solidFill>
                <a:latin typeface="Consolas"/>
              </a:rPr>
              <a:t>long n = strtol("12abc", &amp;fim, 10);  </a:t>
            </a:r>
            <a:r>
              <a:rPr sz="1200" i="0">
                <a:solidFill>
                  <a:srgbClr val="0F766E"/>
                </a:solidFill>
                <a:latin typeface="Consolas"/>
              </a:rPr>
              <a:t>// n = 12, sobrou "abc"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111827"/>
                </a:solidFill>
                <a:latin typeface="Consolas"/>
              </a:rPr>
              <a:t>int r = atoi("abc");                 </a:t>
            </a:r>
            <a:r>
              <a:rPr sz="1200" i="0">
                <a:solidFill>
                  <a:srgbClr val="0F766E"/>
                </a:solidFill>
                <a:latin typeface="Consolas"/>
              </a:rPr>
              <a:t>// 0: nem sinaliza erro!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572000"/>
            <a:ext cx="5513832" cy="15087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>
            <a:no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2937"/>
                </a:solidFill>
              </a:rPr>
              <a:t>Sem exceções (p. 598)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valor de retorno de estado (C), rótulo como parâmetro (Fortran) ou subprograma tratador como parâmetro.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Questões de projeto do tratamento de exceções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§14.1.2 · p. 599-602 · Figura 14.1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852160" cy="4846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56032" indent="-219456">
              <a:spcAft>
                <a:spcPts val="900"/>
              </a:spcAft>
              <a:buClr>
                <a:srgbClr val="0F766E"/>
              </a:buClr>
              <a:buFont typeface="Arial"/>
              <a:buChar char="•"/>
            </a:pPr>
            <a:r>
              <a:rPr sz="1700" b="0">
                <a:solidFill>
                  <a:srgbClr val="1F2937"/>
                </a:solidFill>
              </a:rPr>
              <a:t>Como a exceção é </a:t>
            </a:r>
            <a:r>
              <a:rPr sz="1700" b="1">
                <a:solidFill>
                  <a:srgbClr val="1F2937"/>
                </a:solidFill>
              </a:rPr>
              <a:t>vinculada</a:t>
            </a:r>
            <a:r>
              <a:rPr sz="1700" b="0">
                <a:solidFill>
                  <a:srgbClr val="1F2937"/>
                </a:solidFill>
              </a:rPr>
              <a:t> a um tratador? Ela </a:t>
            </a:r>
            <a:r>
              <a:rPr sz="1700" b="1">
                <a:solidFill>
                  <a:srgbClr val="1F2937"/>
                </a:solidFill>
              </a:rPr>
              <a:t>propaga</a:t>
            </a:r>
            <a:r>
              <a:rPr sz="1700" b="0">
                <a:solidFill>
                  <a:srgbClr val="1F2937"/>
                </a:solidFill>
              </a:rPr>
              <a:t>?</a:t>
            </a:r>
          </a:p>
          <a:p>
            <a:pPr algn="l" marL="256032" indent="-219456">
              <a:spcAft>
                <a:spcPts val="900"/>
              </a:spcAft>
              <a:buClr>
                <a:srgbClr val="0F766E"/>
              </a:buClr>
              <a:buFont typeface="Arial"/>
              <a:buChar char="•"/>
            </a:pPr>
            <a:r>
              <a:rPr sz="1700" b="0">
                <a:solidFill>
                  <a:srgbClr val="1F2937"/>
                </a:solidFill>
              </a:rPr>
              <a:t>O tratador recebe </a:t>
            </a:r>
            <a:r>
              <a:rPr sz="1700" b="1">
                <a:solidFill>
                  <a:srgbClr val="1F2937"/>
                </a:solidFill>
              </a:rPr>
              <a:t>informação</a:t>
            </a:r>
            <a:r>
              <a:rPr sz="1700" b="0">
                <a:solidFill>
                  <a:srgbClr val="1F2937"/>
                </a:solidFill>
              </a:rPr>
              <a:t> sobre a exceção?</a:t>
            </a:r>
          </a:p>
          <a:p>
            <a:pPr algn="l" marL="256032" indent="-219456">
              <a:spcAft>
                <a:spcPts val="900"/>
              </a:spcAft>
              <a:buClr>
                <a:srgbClr val="0F766E"/>
              </a:buClr>
              <a:buFont typeface="Arial"/>
              <a:buChar char="•"/>
            </a:pPr>
            <a:r>
              <a:rPr sz="1700" b="0">
                <a:solidFill>
                  <a:srgbClr val="1F2937"/>
                </a:solidFill>
              </a:rPr>
              <a:t>Onde a execução </a:t>
            </a:r>
            <a:r>
              <a:rPr sz="1700" b="1">
                <a:solidFill>
                  <a:srgbClr val="1F2937"/>
                </a:solidFill>
              </a:rPr>
              <a:t>continua</a:t>
            </a:r>
            <a:r>
              <a:rPr sz="1700" b="0">
                <a:solidFill>
                  <a:srgbClr val="1F2937"/>
                </a:solidFill>
              </a:rPr>
              <a:t> depois do tratador?</a:t>
            </a:r>
          </a:p>
          <a:p>
            <a:pPr algn="l" marL="256032" indent="-219456">
              <a:spcAft>
                <a:spcPts val="900"/>
              </a:spcAft>
              <a:buClr>
                <a:srgbClr val="0F766E"/>
              </a:buClr>
              <a:buFont typeface="Arial"/>
              <a:buChar char="•"/>
            </a:pPr>
            <a:r>
              <a:rPr sz="1700" b="0">
                <a:solidFill>
                  <a:srgbClr val="1F2937"/>
                </a:solidFill>
              </a:rPr>
              <a:t>Existe </a:t>
            </a:r>
            <a:r>
              <a:rPr sz="1700" b="1">
                <a:solidFill>
                  <a:srgbClr val="1F2937"/>
                </a:solidFill>
              </a:rPr>
              <a:t>finalização</a:t>
            </a:r>
            <a:r>
              <a:rPr sz="1700" b="0">
                <a:solidFill>
                  <a:srgbClr val="1F2937"/>
                </a:solidFill>
              </a:rPr>
              <a:t> (código que sempre executa)?</a:t>
            </a:r>
          </a:p>
          <a:p>
            <a:pPr algn="l" marL="256032" indent="-219456">
              <a:spcAft>
                <a:spcPts val="900"/>
              </a:spcAft>
              <a:buClr>
                <a:srgbClr val="0F766E"/>
              </a:buClr>
              <a:buFont typeface="Arial"/>
              <a:buChar char="•"/>
            </a:pPr>
            <a:r>
              <a:rPr sz="1700" b="0">
                <a:solidFill>
                  <a:srgbClr val="1F2937"/>
                </a:solidFill>
              </a:rPr>
              <a:t>Como o usuário </a:t>
            </a:r>
            <a:r>
              <a:rPr sz="1700" b="1">
                <a:solidFill>
                  <a:srgbClr val="1F2937"/>
                </a:solidFill>
              </a:rPr>
              <a:t>define</a:t>
            </a:r>
            <a:r>
              <a:rPr sz="1700" b="0">
                <a:solidFill>
                  <a:srgbClr val="1F2937"/>
                </a:solidFill>
              </a:rPr>
              <a:t> exceções?</a:t>
            </a:r>
          </a:p>
          <a:p>
            <a:pPr algn="l" marL="256032" indent="-219456">
              <a:spcAft>
                <a:spcPts val="900"/>
              </a:spcAft>
              <a:buClr>
                <a:srgbClr val="0F766E"/>
              </a:buClr>
              <a:buFont typeface="Arial"/>
              <a:buChar char="•"/>
            </a:pPr>
            <a:r>
              <a:rPr sz="1700" b="0">
                <a:solidFill>
                  <a:srgbClr val="1F2937"/>
                </a:solidFill>
              </a:rPr>
              <a:t>Existem exceções </a:t>
            </a:r>
            <a:r>
              <a:rPr sz="1700" b="1">
                <a:solidFill>
                  <a:srgbClr val="1F2937"/>
                </a:solidFill>
              </a:rPr>
              <a:t>predefinidas</a:t>
            </a:r>
            <a:r>
              <a:rPr sz="1700" b="0">
                <a:solidFill>
                  <a:srgbClr val="1F2937"/>
                </a:solidFill>
              </a:rPr>
              <a:t> e tratadores padrão?</a:t>
            </a:r>
          </a:p>
          <a:p>
            <a:pPr algn="l" marL="256032" indent="-219456">
              <a:spcAft>
                <a:spcPts val="900"/>
              </a:spcAft>
              <a:buClr>
                <a:srgbClr val="0F766E"/>
              </a:buClr>
              <a:buFont typeface="Arial"/>
              <a:buChar char="•"/>
            </a:pPr>
            <a:r>
              <a:rPr sz="1700" b="0">
                <a:solidFill>
                  <a:srgbClr val="1F2937"/>
                </a:solidFill>
              </a:rPr>
              <a:t>Erros de </a:t>
            </a:r>
            <a:r>
              <a:rPr sz="1700" b="1">
                <a:solidFill>
                  <a:srgbClr val="1F2937"/>
                </a:solidFill>
              </a:rPr>
              <a:t>hardware</a:t>
            </a:r>
            <a:r>
              <a:rPr sz="1700" b="0">
                <a:solidFill>
                  <a:srgbClr val="1F2937"/>
                </a:solidFill>
              </a:rPr>
              <a:t> viram exceções?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371600"/>
            <a:ext cx="4050791" cy="7772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código normal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0" y="2167128"/>
            <a:ext cx="0" cy="374904"/>
          </a:xfrm>
          <a:prstGeom prst="line">
            <a:avLst/>
          </a:prstGeom>
          <a:ln w="25400">
            <a:solidFill>
              <a:srgbClr val="6670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589520" y="2560320"/>
            <a:ext cx="4050791" cy="777240"/>
          </a:xfrm>
          <a:prstGeom prst="roundRect">
            <a:avLst>
              <a:gd name="adj" fmla="val 7000"/>
            </a:avLst>
          </a:prstGeom>
          <a:solidFill>
            <a:srgbClr val="FDECE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exceção levantada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601200" y="3355848"/>
            <a:ext cx="0" cy="374904"/>
          </a:xfrm>
          <a:prstGeom prst="line">
            <a:avLst/>
          </a:prstGeom>
          <a:ln w="25400">
            <a:solidFill>
              <a:srgbClr val="6670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589520" y="3749039"/>
            <a:ext cx="4050791" cy="777240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tratador executa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601200" y="4544568"/>
            <a:ext cx="0" cy="374904"/>
          </a:xfrm>
          <a:prstGeom prst="line">
            <a:avLst/>
          </a:prstGeom>
          <a:ln w="25400">
            <a:solidFill>
              <a:srgbClr val="6670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589520" y="4937760"/>
            <a:ext cx="4050791" cy="777240"/>
          </a:xfrm>
          <a:prstGeom prst="roundRect">
            <a:avLst>
              <a:gd name="adj" fmla="val 7000"/>
            </a:avLst>
          </a:prstGeom>
          <a:solidFill>
            <a:srgbClr val="FEF6E7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termina ou continua?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5715000"/>
            <a:ext cx="405079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</a:rPr>
              <a:t>Figura 14.1 (p. 600), simplificada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Vinculação, propagação e continuação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§14.1.2 · p. 599-601 · exemplos/09_finalizacao/retry.rb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669280" cy="914400"/>
          </a:xfrm>
          <a:prstGeom prst="roundRect">
            <a:avLst>
              <a:gd name="adj" fmla="val 7000"/>
            </a:avLst>
          </a:prstGeom>
          <a:solidFill>
            <a:srgbClr val="E7F6E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>
            <a:no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1F2937"/>
                </a:solidFill>
                <a:latin typeface="Consolas"/>
              </a:rPr>
              <a:t>main()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667085"/>
                </a:solidFill>
                <a:latin typeface="Consolas"/>
              </a:rPr>
              <a:t>try { a(); } catch (E e) { ... 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14600"/>
            <a:ext cx="5669280" cy="9144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>
            <a:no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1F2937"/>
                </a:solidFill>
                <a:latin typeface="Consolas"/>
              </a:rPr>
              <a:t>a()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667085"/>
                </a:solidFill>
                <a:latin typeface="Consolas"/>
              </a:rPr>
              <a:t>b();   (sem tratador)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5669280" cy="914400"/>
          </a:xfrm>
          <a:prstGeom prst="roundRect">
            <a:avLst>
              <a:gd name="adj" fmla="val 7000"/>
            </a:avLst>
          </a:prstGeom>
          <a:solidFill>
            <a:srgbClr val="FDECE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>
            <a:no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1F2937"/>
                </a:solidFill>
                <a:latin typeface="Consolas"/>
              </a:rPr>
              <a:t>b()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667085"/>
                </a:solidFill>
                <a:latin typeface="Consolas"/>
              </a:rPr>
              <a:t>throw new E();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6355080" y="1783080"/>
            <a:ext cx="0" cy="1828800"/>
          </a:xfrm>
          <a:prstGeom prst="line">
            <a:avLst/>
          </a:prstGeom>
          <a:ln w="25400">
            <a:solidFill>
              <a:srgbClr val="B4231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46520" y="2331720"/>
            <a:ext cx="14630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42318"/>
                </a:solidFill>
              </a:rPr>
              <a:t>propaga (desenrola a pilha)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325880"/>
            <a:ext cx="3685032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Ruby · retry (p. 616)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673352"/>
            <a:ext cx="3685032" cy="289864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450" i="0">
                <a:solidFill>
                  <a:srgbClr val="111827"/>
                </a:solidFill>
                <a:latin typeface="Consolas"/>
              </a:rPr>
              <a:t>tentativas = 0</a:t>
            </a:r>
          </a:p>
          <a:p>
            <a:pPr algn="l">
              <a:spcAft>
                <a:spcPts val="0"/>
              </a:spcAft>
            </a:pPr>
            <a:r>
              <a:rPr sz="1450" i="0">
                <a:solidFill>
                  <a:srgbClr val="111827"/>
                </a:solidFill>
                <a:latin typeface="Consolas"/>
              </a:rPr>
              <a:t>begin</a:t>
            </a:r>
          </a:p>
          <a:p>
            <a:pPr algn="l">
              <a:spcAft>
                <a:spcPts val="0"/>
              </a:spcAft>
            </a:pPr>
            <a:r>
              <a:rPr sz="1450" i="0">
                <a:solidFill>
                  <a:srgbClr val="111827"/>
                </a:solidFill>
                <a:latin typeface="Consolas"/>
              </a:rPr>
              <a:t>  tentativas += 1</a:t>
            </a:r>
          </a:p>
          <a:p>
            <a:pPr algn="l">
              <a:spcAft>
                <a:spcPts val="0"/>
              </a:spcAft>
            </a:pPr>
            <a:r>
              <a:rPr sz="1450" i="0">
                <a:solidFill>
                  <a:srgbClr val="111827"/>
                </a:solidFill>
                <a:latin typeface="Consolas"/>
              </a:rPr>
              <a:t>  raise IOError if tentativas &lt; 3</a:t>
            </a:r>
          </a:p>
          <a:p>
            <a:pPr algn="l">
              <a:spcAft>
                <a:spcPts val="0"/>
              </a:spcAft>
            </a:pPr>
            <a:r>
              <a:rPr sz="1450" i="0">
                <a:solidFill>
                  <a:srgbClr val="111827"/>
                </a:solidFill>
                <a:latin typeface="Consolas"/>
              </a:rPr>
              <a:t>  puts "conectado!"</a:t>
            </a:r>
          </a:p>
          <a:p>
            <a:pPr algn="l">
              <a:spcAft>
                <a:spcPts val="0"/>
              </a:spcAft>
            </a:pPr>
            <a:r>
              <a:rPr sz="1450" i="0">
                <a:solidFill>
                  <a:srgbClr val="111827"/>
                </a:solidFill>
                <a:latin typeface="Consolas"/>
              </a:rPr>
              <a:t>rescue IOError</a:t>
            </a:r>
          </a:p>
          <a:p>
            <a:pPr algn="l">
              <a:spcAft>
                <a:spcPts val="0"/>
              </a:spcAft>
            </a:pPr>
            <a:r>
              <a:rPr sz="1450" i="0">
                <a:solidFill>
                  <a:srgbClr val="111827"/>
                </a:solidFill>
                <a:latin typeface="Consolas"/>
              </a:rPr>
              <a:t>  retry     </a:t>
            </a:r>
            <a:r>
              <a:rPr sz="1450" i="0">
                <a:solidFill>
                  <a:srgbClr val="0F766E"/>
                </a:solidFill>
                <a:latin typeface="Consolas"/>
              </a:rPr>
              <a:t># reexecuta o begin</a:t>
            </a:r>
          </a:p>
          <a:p>
            <a:pPr algn="l">
              <a:spcAft>
                <a:spcPts val="0"/>
              </a:spcAft>
            </a:pPr>
            <a:r>
              <a:rPr sz="1450" i="0">
                <a:solidFill>
                  <a:srgbClr val="111827"/>
                </a:solidFill>
                <a:latin typeface="Consolas"/>
              </a:rPr>
              <a:t>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663440"/>
            <a:ext cx="11094415" cy="65836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</a:rPr>
              <a:t>Término (C++, Java, Python, C#)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depois do tratador, a execução segue APÓS o bloco try: é o mais simples e, para erros, o melhor (p. 600)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440680"/>
            <a:ext cx="11094415" cy="6400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</a:rPr>
              <a:t>Retomada</a:t>
            </a:r>
            <a:r>
              <a:rPr sz="1500" b="0">
                <a:solidFill>
                  <a:srgbClr val="1F2937"/>
                </a:solidFill>
              </a:rPr>
              <a:t>: continuar no ponto do erro. Ruby tem </a:t>
            </a:r>
            <a:r>
              <a:rPr sz="1380" b="0">
                <a:solidFill>
                  <a:srgbClr val="1F2937"/>
                </a:solidFill>
                <a:latin typeface="Consolas"/>
              </a:rPr>
              <a:t>retry</a:t>
            </a:r>
            <a:r>
              <a:rPr sz="1500" b="0">
                <a:solidFill>
                  <a:srgbClr val="1F2937"/>
                </a:solidFill>
              </a:rPr>
              <a:t> (limitado); Common Lisp tem restarts.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Exceções em C++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§14.2 · p. 602-606 · exemplos/02_cpp/excecoes.cpp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676656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C++ · excecoes.cpp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73352"/>
            <a:ext cx="6766560" cy="440740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struct Recurso {                        </a:t>
            </a:r>
            <a:r>
              <a:rPr sz="1400" i="0">
                <a:solidFill>
                  <a:srgbClr val="0F766E"/>
                </a:solidFill>
                <a:latin typeface="Consolas"/>
              </a:rPr>
              <a:t>// RAII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    Recurso()  { cout &lt;&lt; "abre\n"; }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    ~Recurso() { cout &lt;&lt; "fecha\n"; }   </a:t>
            </a:r>
            <a:r>
              <a:rPr sz="1400" i="0">
                <a:solidFill>
                  <a:srgbClr val="0F766E"/>
                </a:solidFill>
                <a:latin typeface="Consolas"/>
              </a:rPr>
              <a:t>// finalização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};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void sacar(double saldo, double valor) {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    Recurso r;                          </a:t>
            </a:r>
            <a:r>
              <a:rPr sz="1400" i="0">
                <a:solidFill>
                  <a:srgbClr val="0F766E"/>
                </a:solidFill>
                <a:latin typeface="Consolas"/>
              </a:rPr>
              <a:t>// fecha mesmo com exceção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    if (valor &gt; saldo)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        throw SaldoInsuficiente(valor - saldo);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try { sacar(100, 250); }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catch (const SaldoInsuficiente &amp;e) { cout &lt;&lt; e.what(); }</a:t>
            </a:r>
          </a:p>
          <a:p>
            <a:pPr algn="l">
              <a:spcAft>
                <a:spcPts val="0"/>
              </a:spcAft>
            </a:pPr>
            <a:r>
              <a:rPr sz="14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try { throw 42; }                       </a:t>
            </a:r>
            <a:r>
              <a:rPr sz="1400" i="0">
                <a:solidFill>
                  <a:srgbClr val="0F766E"/>
                </a:solidFill>
                <a:latin typeface="Consolas"/>
              </a:rPr>
              <a:t>// qualquer tipo (p. 603)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catch (int codigo) { ... }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catch (...) { ... }                     </a:t>
            </a:r>
            <a:r>
              <a:rPr sz="1400" i="0">
                <a:solidFill>
                  <a:srgbClr val="0F766E"/>
                </a:solidFill>
                <a:latin typeface="Consolas"/>
              </a:rPr>
              <a:t>// qualquer coisa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325880"/>
            <a:ext cx="4096512" cy="14630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Vinculação pelo tipo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o primeiro </a:t>
            </a:r>
            <a:r>
              <a:rPr sz="1288" b="0">
                <a:solidFill>
                  <a:srgbClr val="1F2937"/>
                </a:solidFill>
                <a:latin typeface="Consolas"/>
              </a:rPr>
              <a:t>catch</a:t>
            </a:r>
            <a:r>
              <a:rPr sz="1400" b="0">
                <a:solidFill>
                  <a:srgbClr val="1F2937"/>
                </a:solidFill>
              </a:rPr>
              <a:t> compatível; sem conversões numéricas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2971800"/>
            <a:ext cx="4096512" cy="14630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Sem </a:t>
            </a:r>
            <a:r>
              <a:rPr sz="1472" b="1">
                <a:solidFill>
                  <a:srgbClr val="1F2937"/>
                </a:solidFill>
                <a:latin typeface="Consolas"/>
              </a:rPr>
              <a:t>finally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a finalização vem dos destrutores (RAII)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4617720"/>
            <a:ext cx="4096512" cy="14630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Sem exceções de hardware</a:t>
            </a:r>
          </a:p>
          <a:p>
            <a:pPr algn="l">
              <a:spcAft>
                <a:spcPts val="400"/>
              </a:spcAft>
            </a:pPr>
            <a:r>
              <a:rPr sz="1288" b="0">
                <a:solidFill>
                  <a:srgbClr val="1F2937"/>
                </a:solidFill>
                <a:latin typeface="Consolas"/>
              </a:rPr>
              <a:t>1 / 0</a:t>
            </a:r>
            <a:r>
              <a:rPr sz="1400" b="0">
                <a:solidFill>
                  <a:srgbClr val="1F2937"/>
                </a:solidFill>
              </a:rPr>
              <a:t> é comportamento indefinido (p. 606)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Exceções em Java: a hierarquia de classes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§14.3.1 e §14.3.4 · p. 607-610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371600"/>
            <a:ext cx="3200400" cy="6858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  <a:latin typeface="Consolas"/>
              </a:rPr>
              <a:t>Throwable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2514600"/>
            <a:ext cx="3200400" cy="685800"/>
          </a:xfrm>
          <a:prstGeom prst="roundRect">
            <a:avLst>
              <a:gd name="adj" fmla="val 7000"/>
            </a:avLst>
          </a:prstGeom>
          <a:solidFill>
            <a:srgbClr val="FDECE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  <a:latin typeface="Consolas"/>
              </a:rPr>
              <a:t>Error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2514600"/>
            <a:ext cx="3200400" cy="6858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  <a:latin typeface="Consolas"/>
              </a:rPr>
              <a:t>Exception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3749039"/>
            <a:ext cx="3566160" cy="685800"/>
          </a:xfrm>
          <a:prstGeom prst="roundRect">
            <a:avLst>
              <a:gd name="adj" fmla="val 7000"/>
            </a:avLst>
          </a:prstGeom>
          <a:solidFill>
            <a:srgbClr val="FDECE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Consolas"/>
              </a:rPr>
              <a:t>RuntimeException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3749039"/>
            <a:ext cx="2404872" cy="685800"/>
          </a:xfrm>
          <a:prstGeom prst="roundRect">
            <a:avLst>
              <a:gd name="adj" fmla="val 7000"/>
            </a:avLst>
          </a:prstGeom>
          <a:solidFill>
            <a:srgbClr val="E7F6E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Consolas"/>
              </a:rPr>
              <a:t>IOException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108960" y="2057400"/>
            <a:ext cx="2560320" cy="411480"/>
          </a:xfrm>
          <a:prstGeom prst="line">
            <a:avLst/>
          </a:prstGeom>
          <a:ln w="25400">
            <a:solidFill>
              <a:srgbClr val="6670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92240" y="2057400"/>
            <a:ext cx="2560320" cy="411480"/>
          </a:xfrm>
          <a:prstGeom prst="line">
            <a:avLst/>
          </a:prstGeom>
          <a:ln w="25400">
            <a:solidFill>
              <a:srgbClr val="6670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7223760" y="3246120"/>
            <a:ext cx="1280160" cy="457200"/>
          </a:xfrm>
          <a:prstGeom prst="line">
            <a:avLst/>
          </a:prstGeom>
          <a:ln w="25400">
            <a:solidFill>
              <a:srgbClr val="6670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09760" y="3246120"/>
            <a:ext cx="822960" cy="457200"/>
          </a:xfrm>
          <a:prstGeom prst="line">
            <a:avLst/>
          </a:prstGeom>
          <a:ln w="25400">
            <a:solidFill>
              <a:srgbClr val="6670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97280" y="329184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</a:rPr>
              <a:t>OutOfMemoryError, StackOverflowError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4805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</a:rPr>
              <a:t>NullPointerException, ArithmeticException, 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074920"/>
            <a:ext cx="5486400" cy="1005840"/>
          </a:xfrm>
          <a:prstGeom prst="roundRect">
            <a:avLst>
              <a:gd name="adj" fmla="val 7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B42318"/>
                </a:solidFill>
              </a:rPr>
              <a:t>Não verificadas (vermelho)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o compilador não exige tratamento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3912" y="5074920"/>
            <a:ext cx="5486400" cy="1005840"/>
          </a:xfrm>
          <a:prstGeom prst="roundRect">
            <a:avLst>
              <a:gd name="adj" fmla="val 7000"/>
            </a:avLst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67647"/>
                </a:solidFill>
              </a:rPr>
              <a:t>Verificadas (verde)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tratar ou declarar em </a:t>
            </a:r>
            <a:r>
              <a:rPr sz="1380" b="0">
                <a:solidFill>
                  <a:srgbClr val="1F2937"/>
                </a:solidFill>
                <a:latin typeface="Consolas"/>
              </a:rPr>
              <a:t>throws</a:t>
            </a:r>
            <a:r>
              <a:rPr sz="1500" b="0">
                <a:solidFill>
                  <a:srgbClr val="1F2937"/>
                </a:solidFill>
              </a:rPr>
              <a:t> (p. 609)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Java: throws, finally, try-with-resources e asserções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§14.3.3-14.3.8 · p. 607-613 · exemplos/03_java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85216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Java · Excecoes.java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73352"/>
            <a:ext cx="5852160" cy="440740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static void sacar(double v)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        throws SaldoInsuficienteException {   </a:t>
            </a:r>
            <a:r>
              <a:rPr sz="1400" i="0">
                <a:solidFill>
                  <a:srgbClr val="0F766E"/>
                </a:solidFill>
                <a:latin typeface="Consolas"/>
              </a:rPr>
              <a:t>// p. 609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    if (v &gt; saldo)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        throw new SaldoInsuficienteException(v - saldo);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    saldo -= v;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try {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    sacar(250);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} catch (SaldoInsuficienteException e) {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    System.out.println("faltam " + e.falta);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} finally {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    System.out.println("sempre executa");     </a:t>
            </a:r>
            <a:r>
              <a:rPr sz="1400" i="0">
                <a:solidFill>
                  <a:srgbClr val="0F766E"/>
                </a:solidFill>
                <a:latin typeface="Consolas"/>
              </a:rPr>
              <a:t>// p. 611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0F766E"/>
                </a:solidFill>
                <a:latin typeface="Consolas"/>
              </a:rPr>
              <a:t>// sacar(10);   // ERRO: verificada, não tratada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325880"/>
            <a:ext cx="5056632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try-with-resources (Java 7)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673352"/>
            <a:ext cx="5056632" cy="230428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try (Arquivo a = new Arquivo("a.txt");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     Arquivo b = new Arquivo("b.txt")) {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    a.ler();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    b.ler();              </a:t>
            </a:r>
            <a:r>
              <a:rPr sz="1400" i="0">
                <a:solidFill>
                  <a:srgbClr val="0F766E"/>
                </a:solidFill>
                <a:latin typeface="Consolas"/>
              </a:rPr>
              <a:t>// falha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} catch (IllegalStateException e) { ... }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0F766E"/>
                </a:solidFill>
                <a:latin typeface="Consolas"/>
              </a:rPr>
              <a:t>// abre a, abre b, fecha b, fecha a,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0F766E"/>
                </a:solidFill>
                <a:latin typeface="Consolas"/>
              </a:rPr>
              <a:t>// e só então o catch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4160520"/>
            <a:ext cx="5056632" cy="1920240"/>
          </a:xfrm>
          <a:prstGeom prst="roundRect">
            <a:avLst>
              <a:gd name="adj" fmla="val 7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>
            <a:no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B42318"/>
                </a:solidFill>
              </a:rPr>
              <a:t>Asserções vêm desligadas (p. 612)</a:t>
            </a:r>
          </a:p>
          <a:p>
            <a:pPr algn="l">
              <a:spcAft>
                <a:spcPts val="400"/>
              </a:spcAft>
            </a:pPr>
            <a:r>
              <a:rPr sz="1380" b="0">
                <a:solidFill>
                  <a:srgbClr val="1F2937"/>
                </a:solidFill>
                <a:latin typeface="Consolas"/>
              </a:rPr>
              <a:t>assert b != 0 : "divisor zero";</a:t>
            </a:r>
            <a:r>
              <a:rPr sz="1500" b="0">
                <a:solidFill>
                  <a:srgbClr val="1F2937"/>
                </a:solidFill>
              </a:rPr>
              <a:t> só é verificado com </a:t>
            </a:r>
            <a:r>
              <a:rPr sz="1380" b="0">
                <a:solidFill>
                  <a:srgbClr val="1F2937"/>
                </a:solidFill>
                <a:latin typeface="Consolas"/>
              </a:rPr>
              <a:t>java -ea</a:t>
            </a:r>
            <a:r>
              <a:rPr sz="1500" b="0">
                <a:solidFill>
                  <a:srgbClr val="1F2937"/>
                </a:solidFill>
              </a:rPr>
              <a:t>. No OneCompiler, é ignorado.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Exceções verificadas: boa ideia?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§14.3.8 · p. 613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394960" cy="3566160"/>
          </a:xfrm>
          <a:prstGeom prst="roundRect">
            <a:avLst>
              <a:gd name="adj" fmla="val 7000"/>
            </a:avLst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>
            <a:no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067647"/>
                </a:solidFill>
              </a:rPr>
              <a:t>A favor</a:t>
            </a:r>
          </a:p>
          <a:p>
            <a:pPr algn="l" marL="256032" indent="-219456">
              <a:spcAft>
                <a:spcPts val="600"/>
              </a:spcAft>
              <a:buClr>
                <a:srgbClr val="0F766E"/>
              </a:buClr>
              <a:buFont typeface="Arial"/>
              <a:buChar char="•"/>
            </a:pPr>
            <a:r>
              <a:rPr sz="1700" b="0">
                <a:solidFill>
                  <a:srgbClr val="1F2937"/>
                </a:solidFill>
              </a:rPr>
              <a:t>O compilador garante que o erro não seja </a:t>
            </a:r>
            <a:r>
              <a:rPr sz="1700" b="1">
                <a:solidFill>
                  <a:srgbClr val="1F2937"/>
                </a:solidFill>
              </a:rPr>
              <a:t>esquecido</a:t>
            </a:r>
            <a:r>
              <a:rPr sz="1700" b="0">
                <a:solidFill>
                  <a:srgbClr val="1F2937"/>
                </a:solidFill>
              </a:rPr>
              <a:t>.</a:t>
            </a:r>
          </a:p>
          <a:p>
            <a:pPr algn="l" marL="256032" indent="-219456">
              <a:spcAft>
                <a:spcPts val="600"/>
              </a:spcAft>
              <a:buClr>
                <a:srgbClr val="0F766E"/>
              </a:buClr>
              <a:buFont typeface="Arial"/>
              <a:buChar char="•"/>
            </a:pPr>
            <a:r>
              <a:rPr sz="1700" b="0">
                <a:solidFill>
                  <a:srgbClr val="1F2937"/>
                </a:solidFill>
              </a:rPr>
              <a:t>O cabeçalho </a:t>
            </a:r>
            <a:r>
              <a:rPr sz="1700" b="1">
                <a:solidFill>
                  <a:srgbClr val="1F2937"/>
                </a:solidFill>
              </a:rPr>
              <a:t>documenta</a:t>
            </a:r>
            <a:r>
              <a:rPr sz="1700" b="0">
                <a:solidFill>
                  <a:srgbClr val="1F2937"/>
                </a:solidFill>
              </a:rPr>
              <a:t> o que pode dar errado (p. 613).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5352" y="1325880"/>
            <a:ext cx="5394960" cy="3566160"/>
          </a:xfrm>
          <a:prstGeom prst="roundRect">
            <a:avLst>
              <a:gd name="adj" fmla="val 7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>
            <a:no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B42318"/>
                </a:solidFill>
              </a:rPr>
              <a:t>Contra</a:t>
            </a:r>
          </a:p>
          <a:p>
            <a:pPr algn="l" marL="256032" indent="-219456">
              <a:spcAft>
                <a:spcPts val="600"/>
              </a:spcAft>
              <a:buClr>
                <a:srgbClr val="0F766E"/>
              </a:buClr>
              <a:buFont typeface="Arial"/>
              <a:buChar char="•"/>
            </a:pPr>
            <a:r>
              <a:rPr sz="1564" b="0">
                <a:solidFill>
                  <a:srgbClr val="1F2937"/>
                </a:solidFill>
                <a:latin typeface="Consolas"/>
              </a:rPr>
              <a:t>catch</a:t>
            </a:r>
            <a:r>
              <a:rPr sz="1700" b="0">
                <a:solidFill>
                  <a:srgbClr val="1F2937"/>
                </a:solidFill>
              </a:rPr>
              <a:t> </a:t>
            </a:r>
            <a:r>
              <a:rPr sz="1700" b="1">
                <a:solidFill>
                  <a:srgbClr val="1F2937"/>
                </a:solidFill>
              </a:rPr>
              <a:t>vazio</a:t>
            </a:r>
            <a:r>
              <a:rPr sz="1700" b="0">
                <a:solidFill>
                  <a:srgbClr val="1F2937"/>
                </a:solidFill>
              </a:rPr>
              <a:t> só para compilar.</a:t>
            </a:r>
          </a:p>
          <a:p>
            <a:pPr algn="l" marL="256032" indent="-219456">
              <a:spcAft>
                <a:spcPts val="600"/>
              </a:spcAft>
              <a:buClr>
                <a:srgbClr val="0F766E"/>
              </a:buClr>
              <a:buFont typeface="Arial"/>
              <a:buChar char="•"/>
            </a:pPr>
            <a:r>
              <a:rPr sz="1700" b="0">
                <a:solidFill>
                  <a:srgbClr val="1F2937"/>
                </a:solidFill>
              </a:rPr>
              <a:t>Não combina com lambdas e streams.</a:t>
            </a:r>
          </a:p>
          <a:p>
            <a:pPr algn="l" marL="256032" indent="-219456">
              <a:spcAft>
                <a:spcPts val="600"/>
              </a:spcAft>
              <a:buClr>
                <a:srgbClr val="0F766E"/>
              </a:buClr>
              <a:buFont typeface="Arial"/>
              <a:buChar char="•"/>
            </a:pPr>
            <a:r>
              <a:rPr sz="1700" b="0">
                <a:solidFill>
                  <a:srgbClr val="1F2937"/>
                </a:solidFill>
              </a:rPr>
              <a:t>Mudar uma camada interna muda </a:t>
            </a:r>
            <a:r>
              <a:rPr sz="1700" b="1">
                <a:solidFill>
                  <a:srgbClr val="1F2937"/>
                </a:solidFill>
              </a:rPr>
              <a:t>toda</a:t>
            </a:r>
            <a:r>
              <a:rPr sz="1700" b="0">
                <a:solidFill>
                  <a:srgbClr val="1F2937"/>
                </a:solidFill>
              </a:rPr>
              <a:t> a cadeia de </a:t>
            </a:r>
            <a:r>
              <a:rPr sz="1564" b="0">
                <a:solidFill>
                  <a:srgbClr val="1F2937"/>
                </a:solidFill>
                <a:latin typeface="Consolas"/>
              </a:rPr>
              <a:t>throws</a:t>
            </a:r>
            <a:r>
              <a:rPr sz="1700" b="0">
                <a:solidFill>
                  <a:srgbClr val="1F2937"/>
                </a:solidFill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0"/>
            <a:ext cx="11094415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</a:rPr>
              <a:t>Java é quase a única linguagem popular com exceções verificadas. C#, Kotlin e Scala </a:t>
            </a:r>
            <a:r>
              <a:rPr sz="1700" b="1">
                <a:solidFill>
                  <a:srgbClr val="1F2937"/>
                </a:solidFill>
              </a:rPr>
              <a:t>não</a:t>
            </a:r>
            <a:r>
              <a:rPr sz="1700" b="0">
                <a:solidFill>
                  <a:srgbClr val="1F2937"/>
                </a:solidFill>
              </a:rPr>
              <a:t> têm. Go e Rust colocaram o erro </a:t>
            </a:r>
            <a:r>
              <a:rPr sz="1700" b="1">
                <a:solidFill>
                  <a:srgbClr val="1F2937"/>
                </a:solidFill>
              </a:rPr>
              <a:t>no tipo de retorno</a:t>
            </a:r>
            <a:r>
              <a:rPr sz="1700" b="0">
                <a:solidFill>
                  <a:srgbClr val="1F2937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Exceções em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§14.4.1 · p. 613-615 · exemplos/04_python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640080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Python · excecoes.py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73352"/>
            <a:ext cx="6400800" cy="440740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450" i="0">
                <a:solidFill>
                  <a:srgbClr val="111827"/>
                </a:solidFill>
                <a:latin typeface="Consolas"/>
              </a:rPr>
              <a:t>class SaldoInsuficiente(Exception): ...</a:t>
            </a:r>
          </a:p>
          <a:p>
            <a:pPr algn="l">
              <a:spcAft>
                <a:spcPts val="0"/>
              </a:spcAft>
            </a:pPr>
            <a:r>
              <a:rPr sz="145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450" i="0">
                <a:solidFill>
                  <a:srgbClr val="111827"/>
                </a:solidFill>
                <a:latin typeface="Consolas"/>
              </a:rPr>
              <a:t>for valor in (30, 250):</a:t>
            </a:r>
          </a:p>
          <a:p>
            <a:pPr algn="l">
              <a:spcAft>
                <a:spcPts val="0"/>
              </a:spcAft>
            </a:pPr>
            <a:r>
              <a:rPr sz="1450" i="0">
                <a:solidFill>
                  <a:srgbClr val="111827"/>
                </a:solidFill>
                <a:latin typeface="Consolas"/>
              </a:rPr>
              <a:t>    try:</a:t>
            </a:r>
          </a:p>
          <a:p>
            <a:pPr algn="l">
              <a:spcAft>
                <a:spcPts val="0"/>
              </a:spcAft>
            </a:pPr>
            <a:r>
              <a:rPr sz="1450" i="0">
                <a:solidFill>
                  <a:srgbClr val="111827"/>
                </a:solidFill>
                <a:latin typeface="Consolas"/>
              </a:rPr>
              <a:t>        sacar(valor)</a:t>
            </a:r>
          </a:p>
          <a:p>
            <a:pPr algn="l">
              <a:spcAft>
                <a:spcPts val="0"/>
              </a:spcAft>
            </a:pPr>
            <a:r>
              <a:rPr sz="1450" i="0">
                <a:solidFill>
                  <a:srgbClr val="111827"/>
                </a:solidFill>
                <a:latin typeface="Consolas"/>
              </a:rPr>
              <a:t>    except SaldoInsuficiente as e:</a:t>
            </a:r>
          </a:p>
          <a:p>
            <a:pPr algn="l">
              <a:spcAft>
                <a:spcPts val="0"/>
              </a:spcAft>
            </a:pPr>
            <a:r>
              <a:rPr sz="1450" i="0">
                <a:solidFill>
                  <a:srgbClr val="111827"/>
                </a:solidFill>
                <a:latin typeface="Consolas"/>
              </a:rPr>
              <a:t>        print("erro:", e)</a:t>
            </a:r>
          </a:p>
          <a:p>
            <a:pPr algn="l">
              <a:spcAft>
                <a:spcPts val="0"/>
              </a:spcAft>
            </a:pPr>
            <a:r>
              <a:rPr sz="1450" i="0">
                <a:solidFill>
                  <a:srgbClr val="111827"/>
                </a:solidFill>
                <a:latin typeface="Consolas"/>
              </a:rPr>
              <a:t>    else:                          </a:t>
            </a:r>
            <a:r>
              <a:rPr sz="1450" i="0">
                <a:solidFill>
                  <a:srgbClr val="0F766E"/>
                </a:solidFill>
                <a:latin typeface="Consolas"/>
              </a:rPr>
              <a:t># só se NÃO houve exceção</a:t>
            </a:r>
          </a:p>
          <a:p>
            <a:pPr algn="l">
              <a:spcAft>
                <a:spcPts val="0"/>
              </a:spcAft>
            </a:pPr>
            <a:r>
              <a:rPr sz="1450" i="0">
                <a:solidFill>
                  <a:srgbClr val="111827"/>
                </a:solidFill>
                <a:latin typeface="Consolas"/>
              </a:rPr>
              <a:t>        print("saque ok")</a:t>
            </a:r>
          </a:p>
          <a:p>
            <a:pPr algn="l">
              <a:spcAft>
                <a:spcPts val="0"/>
              </a:spcAft>
            </a:pPr>
            <a:r>
              <a:rPr sz="1450" i="0">
                <a:solidFill>
                  <a:srgbClr val="111827"/>
                </a:solidFill>
                <a:latin typeface="Consolas"/>
              </a:rPr>
              <a:t>    finally:                       </a:t>
            </a:r>
            <a:r>
              <a:rPr sz="1450" i="0">
                <a:solidFill>
                  <a:srgbClr val="0F766E"/>
                </a:solidFill>
                <a:latin typeface="Consolas"/>
              </a:rPr>
              <a:t># sempre</a:t>
            </a:r>
          </a:p>
          <a:p>
            <a:pPr algn="l">
              <a:spcAft>
                <a:spcPts val="0"/>
              </a:spcAft>
            </a:pPr>
            <a:r>
              <a:rPr sz="1450" i="0">
                <a:solidFill>
                  <a:srgbClr val="111827"/>
                </a:solidFill>
                <a:latin typeface="Consolas"/>
              </a:rPr>
              <a:t>        print("saldo:", saldo)</a:t>
            </a:r>
          </a:p>
          <a:p>
            <a:pPr algn="l">
              <a:spcAft>
                <a:spcPts val="0"/>
              </a:spcAft>
            </a:pPr>
            <a:r>
              <a:rPr sz="145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450" i="0">
                <a:solidFill>
                  <a:srgbClr val="111827"/>
                </a:solidFill>
                <a:latin typeface="Consolas"/>
              </a:rPr>
              <a:t>try:                               </a:t>
            </a:r>
            <a:r>
              <a:rPr sz="1450" i="0">
                <a:solidFill>
                  <a:srgbClr val="0F766E"/>
                </a:solidFill>
                <a:latin typeface="Consolas"/>
              </a:rPr>
              <a:t># EAFP: tentar e tratar</a:t>
            </a:r>
          </a:p>
          <a:p>
            <a:pPr algn="l">
              <a:spcAft>
                <a:spcPts val="0"/>
              </a:spcAft>
            </a:pPr>
            <a:r>
              <a:rPr sz="1450" i="0">
                <a:solidFill>
                  <a:srgbClr val="111827"/>
                </a:solidFill>
                <a:latin typeface="Consolas"/>
              </a:rPr>
              <a:t>    host = config["host"]</a:t>
            </a:r>
          </a:p>
          <a:p>
            <a:pPr algn="l">
              <a:spcAft>
                <a:spcPts val="0"/>
              </a:spcAft>
            </a:pPr>
            <a:r>
              <a:rPr sz="1450" i="0">
                <a:solidFill>
                  <a:srgbClr val="111827"/>
                </a:solidFill>
                <a:latin typeface="Consolas"/>
              </a:rPr>
              <a:t>except KeyError:</a:t>
            </a:r>
          </a:p>
          <a:p>
            <a:pPr algn="l">
              <a:spcAft>
                <a:spcPts val="0"/>
              </a:spcAft>
            </a:pPr>
            <a:r>
              <a:rPr sz="1450" i="0">
                <a:solidFill>
                  <a:srgbClr val="111827"/>
                </a:solidFill>
                <a:latin typeface="Consolas"/>
              </a:rPr>
              <a:t>    host = "localhost"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1325880"/>
            <a:ext cx="4462272" cy="10515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472" b="1">
                <a:solidFill>
                  <a:srgbClr val="1F2937"/>
                </a:solidFill>
                <a:latin typeface="Consolas"/>
              </a:rPr>
              <a:t>else</a:t>
            </a:r>
            <a:r>
              <a:rPr sz="1600" b="1">
                <a:solidFill>
                  <a:srgbClr val="1F2937"/>
                </a:solidFill>
              </a:rPr>
              <a:t> e </a:t>
            </a:r>
            <a:r>
              <a:rPr sz="1472" b="1">
                <a:solidFill>
                  <a:srgbClr val="1F2937"/>
                </a:solidFill>
                <a:latin typeface="Consolas"/>
              </a:rPr>
              <a:t>finally</a:t>
            </a:r>
          </a:p>
          <a:p>
            <a:pPr algn="l">
              <a:spcAft>
                <a:spcPts val="400"/>
              </a:spcAft>
            </a:pPr>
            <a:r>
              <a:rPr sz="1288" b="0">
                <a:solidFill>
                  <a:srgbClr val="1F2937"/>
                </a:solidFill>
                <a:latin typeface="Consolas"/>
              </a:rPr>
              <a:t>else</a:t>
            </a:r>
            <a:r>
              <a:rPr sz="1400" b="0">
                <a:solidFill>
                  <a:srgbClr val="1F2937"/>
                </a:solidFill>
              </a:rPr>
              <a:t> só sem exceção; </a:t>
            </a:r>
            <a:r>
              <a:rPr sz="1288" b="0">
                <a:solidFill>
                  <a:srgbClr val="1F2937"/>
                </a:solidFill>
                <a:latin typeface="Consolas"/>
              </a:rPr>
              <a:t>finally</a:t>
            </a:r>
            <a:r>
              <a:rPr sz="1400" b="0">
                <a:solidFill>
                  <a:srgbClr val="1F2937"/>
                </a:solidFill>
              </a:rPr>
              <a:t> sempre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8040" y="2514600"/>
            <a:ext cx="4462272" cy="10515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472" b="1">
                <a:solidFill>
                  <a:srgbClr val="1F2937"/>
                </a:solidFill>
                <a:latin typeface="Consolas"/>
              </a:rPr>
              <a:t>raise ... from 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encadeia a causa original da exceção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3703320"/>
            <a:ext cx="4462272" cy="10515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EAFP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"é mais fácil pedir perdão do que permissão": tente e trate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4892040"/>
            <a:ext cx="4462272" cy="10515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472" b="1">
                <a:solidFill>
                  <a:srgbClr val="1F2937"/>
                </a:solidFill>
                <a:latin typeface="Consolas"/>
              </a:rPr>
              <a:t>with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finalização garantida, como o try-with-resources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Erros como valores: 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exemplos/05_erros_como_valores/erros.go · exercício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649224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Go · erros.go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73352"/>
            <a:ext cx="6492240" cy="440740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var ErrSaldo = errors.New("saldo insuficiente")</a:t>
            </a:r>
          </a:p>
          <a:p>
            <a:pPr algn="l">
              <a:spcAft>
                <a:spcPts val="0"/>
              </a:spcAft>
            </a:pPr>
            <a:r>
              <a:rPr sz="15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func sacar(saldo, valor float64) (float64, error) {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if valor &gt; saldo {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    return saldo,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        fmt.Errorf("sacar %.2f: %w", valor, ErrSaldo)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}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return saldo - valor, nil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5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s, err := sacar(100, 250)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if err != nil {                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// o erro é um VALOR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fmt.Println(err, errors.Is(err, ErrSaldo))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0F766E"/>
                </a:solidFill>
                <a:latin typeface="Consolas"/>
              </a:rPr>
              <a:t>// sacar 250.00: saldo insuficiente true</a:t>
            </a:r>
          </a:p>
          <a:p>
            <a:pPr algn="l">
              <a:spcAft>
                <a:spcPts val="0"/>
              </a:spcAft>
            </a:pPr>
            <a:r>
              <a:rPr sz="15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defer func() { recover() }()   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// captura um panic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9480" y="1325880"/>
            <a:ext cx="437083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Dois retornos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resultado + </a:t>
            </a:r>
            <a:r>
              <a:rPr sz="1288" b="0">
                <a:solidFill>
                  <a:srgbClr val="1F2937"/>
                </a:solidFill>
                <a:latin typeface="Consolas"/>
              </a:rPr>
              <a:t>error</a:t>
            </a:r>
            <a:r>
              <a:rPr sz="1400" b="0">
                <a:solidFill>
                  <a:srgbClr val="1F2937"/>
                </a:solidFill>
              </a:rPr>
              <a:t>; quem chama testa </a:t>
            </a:r>
            <a:r>
              <a:rPr sz="1288" b="0">
                <a:solidFill>
                  <a:srgbClr val="1F2937"/>
                </a:solidFill>
                <a:latin typeface="Consolas"/>
              </a:rPr>
              <a:t>if err != nil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9480" y="2487168"/>
            <a:ext cx="437083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Embrulhar com </a:t>
            </a:r>
            <a:r>
              <a:rPr sz="1472" b="1">
                <a:solidFill>
                  <a:srgbClr val="1F2937"/>
                </a:solidFill>
                <a:latin typeface="Consolas"/>
              </a:rPr>
              <a:t>%w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acrescenta contexto; </a:t>
            </a:r>
            <a:r>
              <a:rPr sz="1288" b="0">
                <a:solidFill>
                  <a:srgbClr val="1F2937"/>
                </a:solidFill>
                <a:latin typeface="Consolas"/>
              </a:rPr>
              <a:t>errors.Is</a:t>
            </a:r>
            <a:r>
              <a:rPr sz="1400" b="0">
                <a:solidFill>
                  <a:srgbClr val="1F2937"/>
                </a:solidFill>
              </a:rPr>
              <a:t> examina a cadeia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3648456"/>
            <a:ext cx="437083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472" b="1">
                <a:solidFill>
                  <a:srgbClr val="1F2937"/>
                </a:solidFill>
                <a:latin typeface="Consolas"/>
              </a:rPr>
              <a:t>panic</a:t>
            </a:r>
            <a:r>
              <a:rPr sz="1600" b="1">
                <a:solidFill>
                  <a:srgbClr val="1F2937"/>
                </a:solidFill>
              </a:rPr>
              <a:t> / </a:t>
            </a:r>
            <a:r>
              <a:rPr sz="1472" b="1">
                <a:solidFill>
                  <a:srgbClr val="1F2937"/>
                </a:solidFill>
                <a:latin typeface="Consolas"/>
              </a:rPr>
              <a:t>recover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só para o realmente excepcional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4809744"/>
            <a:ext cx="437083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Risco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ignorar com </a:t>
            </a:r>
            <a:r>
              <a:rPr sz="1288" b="0">
                <a:solidFill>
                  <a:srgbClr val="1F2937"/>
                </a:solidFill>
                <a:latin typeface="Consolas"/>
              </a:rPr>
              <a:t>_</a:t>
            </a:r>
            <a:r>
              <a:rPr sz="1400" b="0">
                <a:solidFill>
                  <a:srgbClr val="1F2937"/>
                </a:solidFill>
              </a:rPr>
              <a:t>: </a:t>
            </a:r>
            <a:r>
              <a:rPr sz="1288" b="0">
                <a:solidFill>
                  <a:srgbClr val="1F2937"/>
                </a:solidFill>
                <a:latin typeface="Consolas"/>
              </a:rPr>
              <a:t>n, _ := strconv.Atoi("12a")</a:t>
            </a:r>
            <a:r>
              <a:rPr sz="1400" b="0">
                <a:solidFill>
                  <a:srgbClr val="1F2937"/>
                </a:solidFill>
              </a:rPr>
              <a:t> dá 0 em silêncio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Erros como valores: 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exemplos/05_erros_como_valores/erros.rs · exercício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649224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Rust · erros.rs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73352"/>
            <a:ext cx="6492240" cy="440740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300" i="0">
                <a:solidFill>
                  <a:srgbClr val="111827"/>
                </a:solidFill>
                <a:latin typeface="Consolas"/>
              </a:rPr>
              <a:t>fn dobro(texto: &amp;str) -&gt; Result&lt;i32, ParseIntError&gt; {</a:t>
            </a:r>
          </a:p>
          <a:p>
            <a:pPr algn="l">
              <a:spcAft>
                <a:spcPts val="0"/>
              </a:spcAft>
            </a:pPr>
            <a:r>
              <a:rPr sz="1300" i="0">
                <a:solidFill>
                  <a:srgbClr val="111827"/>
                </a:solidFill>
                <a:latin typeface="Consolas"/>
              </a:rPr>
              <a:t>    let n: i32 = texto.trim().parse()?;   </a:t>
            </a:r>
            <a:r>
              <a:rPr sz="1300" i="0">
                <a:solidFill>
                  <a:srgbClr val="0F766E"/>
                </a:solidFill>
                <a:latin typeface="Consolas"/>
              </a:rPr>
              <a:t>// ? repassa o Err</a:t>
            </a:r>
          </a:p>
          <a:p>
            <a:pPr algn="l">
              <a:spcAft>
                <a:spcPts val="0"/>
              </a:spcAft>
            </a:pPr>
            <a:r>
              <a:rPr sz="1300" i="0">
                <a:solidFill>
                  <a:srgbClr val="111827"/>
                </a:solidFill>
                <a:latin typeface="Consolas"/>
              </a:rPr>
              <a:t>    Ok(n * 2)</a:t>
            </a:r>
          </a:p>
          <a:p>
            <a:pPr algn="l">
              <a:spcAft>
                <a:spcPts val="0"/>
              </a:spcAft>
            </a:pPr>
            <a:r>
              <a:rPr sz="1300" i="0">
                <a:solidFill>
                  <a:srgbClr val="111827"/>
                </a:solidFill>
                <a:latin typeface="Consolas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3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300" i="0">
                <a:solidFill>
                  <a:srgbClr val="111827"/>
                </a:solidFill>
                <a:latin typeface="Consolas"/>
              </a:rPr>
              <a:t>dobro("21")   </a:t>
            </a:r>
            <a:r>
              <a:rPr sz="1300" i="0">
                <a:solidFill>
                  <a:srgbClr val="0F766E"/>
                </a:solidFill>
                <a:latin typeface="Consolas"/>
              </a:rPr>
              <a:t>// Ok(42)</a:t>
            </a:r>
          </a:p>
          <a:p>
            <a:pPr algn="l">
              <a:spcAft>
                <a:spcPts val="0"/>
              </a:spcAft>
            </a:pPr>
            <a:r>
              <a:rPr sz="1300" i="0">
                <a:solidFill>
                  <a:srgbClr val="111827"/>
                </a:solidFill>
                <a:latin typeface="Consolas"/>
              </a:rPr>
              <a:t>dobro("x")    </a:t>
            </a:r>
            <a:r>
              <a:rPr sz="1300" i="0">
                <a:solidFill>
                  <a:srgbClr val="0F766E"/>
                </a:solidFill>
                <a:latin typeface="Consolas"/>
              </a:rPr>
              <a:t>// Err(ParseIntError { kind: InvalidDigit })</a:t>
            </a:r>
          </a:p>
          <a:p>
            <a:pPr algn="l">
              <a:spcAft>
                <a:spcPts val="0"/>
              </a:spcAft>
            </a:pPr>
            <a:r>
              <a:rPr sz="13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300" i="0">
                <a:solidFill>
                  <a:srgbClr val="111827"/>
                </a:solidFill>
                <a:latin typeface="Consolas"/>
              </a:rPr>
              <a:t>match fs::read_to_string("nao_existe.txt") {</a:t>
            </a:r>
          </a:p>
          <a:p>
            <a:pPr algn="l">
              <a:spcAft>
                <a:spcPts val="0"/>
              </a:spcAft>
            </a:pPr>
            <a:r>
              <a:rPr sz="1300" i="0">
                <a:solidFill>
                  <a:srgbClr val="111827"/>
                </a:solidFill>
                <a:latin typeface="Consolas"/>
              </a:rPr>
              <a:t>    Ok(conteudo) =&gt; println!("{}", conteudo),</a:t>
            </a:r>
          </a:p>
          <a:p>
            <a:pPr algn="l">
              <a:spcAft>
                <a:spcPts val="0"/>
              </a:spcAft>
            </a:pPr>
            <a:r>
              <a:rPr sz="1300" i="0">
                <a:solidFill>
                  <a:srgbClr val="111827"/>
                </a:solidFill>
                <a:latin typeface="Consolas"/>
              </a:rPr>
              <a:t>    Err(e) =&gt; println!("erro: {}", e),     </a:t>
            </a:r>
            <a:r>
              <a:rPr sz="1300" i="0">
                <a:solidFill>
                  <a:srgbClr val="0F766E"/>
                </a:solidFill>
                <a:latin typeface="Consolas"/>
              </a:rPr>
              <a:t>// obrigatório considerar</a:t>
            </a:r>
          </a:p>
          <a:p>
            <a:pPr algn="l">
              <a:spcAft>
                <a:spcPts val="0"/>
              </a:spcAft>
            </a:pPr>
            <a:r>
              <a:rPr sz="1300" i="0">
                <a:solidFill>
                  <a:srgbClr val="111827"/>
                </a:solidFill>
                <a:latin typeface="Consolas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3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300" i="0">
                <a:solidFill>
                  <a:srgbClr val="111827"/>
                </a:solidFill>
                <a:latin typeface="Consolas"/>
              </a:rPr>
              <a:t>let n: i32 = "12a".parse().unwrap();      </a:t>
            </a:r>
            <a:r>
              <a:rPr sz="1300" i="0">
                <a:solidFill>
                  <a:srgbClr val="0F766E"/>
                </a:solidFill>
                <a:latin typeface="Consolas"/>
              </a:rPr>
              <a:t>// panic!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9480" y="1325880"/>
            <a:ext cx="437083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472" b="1">
                <a:solidFill>
                  <a:srgbClr val="1F2937"/>
                </a:solidFill>
                <a:latin typeface="Consolas"/>
              </a:rPr>
              <a:t>Result&lt;T, E&gt;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união discriminada: </a:t>
            </a:r>
            <a:r>
              <a:rPr sz="1288" b="0">
                <a:solidFill>
                  <a:srgbClr val="1F2937"/>
                </a:solidFill>
                <a:latin typeface="Consolas"/>
              </a:rPr>
              <a:t>Ok(v)</a:t>
            </a:r>
            <a:r>
              <a:rPr sz="1400" b="0">
                <a:solidFill>
                  <a:srgbClr val="1F2937"/>
                </a:solidFill>
              </a:rPr>
              <a:t> ou </a:t>
            </a:r>
            <a:r>
              <a:rPr sz="1288" b="0">
                <a:solidFill>
                  <a:srgbClr val="1F2937"/>
                </a:solidFill>
                <a:latin typeface="Consolas"/>
              </a:rPr>
              <a:t>Err(e)</a:t>
            </a:r>
            <a:r>
              <a:rPr sz="1400" b="0">
                <a:solidFill>
                  <a:srgbClr val="1F2937"/>
                </a:solidFill>
              </a:rPr>
              <a:t> (aula 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9480" y="2487168"/>
            <a:ext cx="437083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O compilador obriga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não há como usar o valor sem lidar com o </a:t>
            </a:r>
            <a:r>
              <a:rPr sz="1288" b="0">
                <a:solidFill>
                  <a:srgbClr val="1F2937"/>
                </a:solidFill>
                <a:latin typeface="Consolas"/>
              </a:rPr>
              <a:t>Err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3648456"/>
            <a:ext cx="437083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Operador </a:t>
            </a:r>
            <a:r>
              <a:rPr sz="1472" b="1">
                <a:solidFill>
                  <a:srgbClr val="1F2937"/>
                </a:solidFill>
                <a:latin typeface="Consolas"/>
              </a:rPr>
              <a:t>?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propagação explícita e curta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4809744"/>
            <a:ext cx="437083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472" b="1">
                <a:solidFill>
                  <a:srgbClr val="1F2937"/>
                </a:solidFill>
                <a:latin typeface="Consolas"/>
              </a:rPr>
              <a:t>unwrap</a:t>
            </a:r>
            <a:r>
              <a:rPr sz="1600" b="1">
                <a:solidFill>
                  <a:srgbClr val="1F2937"/>
                </a:solidFill>
              </a:rPr>
              <a:t> / </a:t>
            </a:r>
            <a:r>
              <a:rPr sz="1472" b="1">
                <a:solidFill>
                  <a:srgbClr val="1F2937"/>
                </a:solidFill>
                <a:latin typeface="Consolas"/>
              </a:rPr>
              <a:t>panic!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para bugs e protótipos; em produção, evite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mesmo problema em cinco linguagens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exemplos/06_mesmo_cenario · Dividir.java, dividir.py, dividir.go, dividir.rs, dividir.js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1672" cy="3621024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645920"/>
                <a:gridCol w="914400"/>
                <a:gridCol w="3291840"/>
                <a:gridCol w="3291840"/>
                <a:gridCol w="1947672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</a:rPr>
                        <a:t>Linguagem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</a:rPr>
                        <a:t>"4"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</a:rPr>
                        <a:t>"0"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</a:rPr>
                        <a:t>"abc"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</a:rPr>
                        <a:t>Mecanismo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Java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25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F2937"/>
                          </a:solidFill>
                          <a:latin typeface="Consolas"/>
                        </a:rPr>
                        <a:t>ArithmeticException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F2937"/>
                          </a:solidFill>
                          <a:latin typeface="Consolas"/>
                        </a:rPr>
                        <a:t>NumberFormatException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exceções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Python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25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F2937"/>
                          </a:solidFill>
                          <a:latin typeface="Consolas"/>
                        </a:rPr>
                        <a:t>ZeroDivisionError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F2937"/>
                          </a:solidFill>
                          <a:latin typeface="Consolas"/>
                        </a:rPr>
                        <a:t>ValueError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exceções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Go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25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erro devolvido (senão, </a:t>
                      </a:r>
                      <a:r>
                        <a:rPr sz="1400" b="1">
                          <a:solidFill>
                            <a:srgbClr val="1F2937"/>
                          </a:solidFill>
                        </a:rPr>
                        <a:t>panic</a:t>
                      </a:r>
                      <a:r>
                        <a:rPr sz="1400" b="0">
                          <a:solidFill>
                            <a:srgbClr val="1F2937"/>
                          </a:solidFill>
                        </a:rPr>
                        <a:t>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erro devolvido por </a:t>
                      </a:r>
                      <a:r>
                        <a:rPr sz="1288" b="0">
                          <a:solidFill>
                            <a:srgbClr val="1F2937"/>
                          </a:solidFill>
                          <a:latin typeface="Consolas"/>
                        </a:rPr>
                        <a:t>Atoi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valores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Rust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25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F2937"/>
                          </a:solidFill>
                          <a:latin typeface="Consolas"/>
                        </a:rPr>
                        <a:t>None</a:t>
                      </a:r>
                      <a:r>
                        <a:rPr sz="1400" b="0">
                          <a:solidFill>
                            <a:srgbClr val="1F2937"/>
                          </a:solidFill>
                        </a:rPr>
                        <a:t> em </a:t>
                      </a:r>
                      <a:r>
                        <a:rPr sz="1288" b="0">
                          <a:solidFill>
                            <a:srgbClr val="1F2937"/>
                          </a:solidFill>
                          <a:latin typeface="Consolas"/>
                        </a:rPr>
                        <a:t>checked_div</a:t>
                      </a:r>
                      <a:r>
                        <a:rPr sz="1400" b="0">
                          <a:solidFill>
                            <a:srgbClr val="1F2937"/>
                          </a:solidFill>
                        </a:rPr>
                        <a:t> (senão, </a:t>
                      </a:r>
                      <a:r>
                        <a:rPr sz="1400" b="1">
                          <a:solidFill>
                            <a:srgbClr val="1F2937"/>
                          </a:solidFill>
                        </a:rPr>
                        <a:t>panic</a:t>
                      </a:r>
                      <a:r>
                        <a:rPr sz="1400" b="0">
                          <a:solidFill>
                            <a:srgbClr val="1F2937"/>
                          </a:solidFill>
                        </a:rPr>
                        <a:t>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F2937"/>
                          </a:solidFill>
                          <a:latin typeface="Consolas"/>
                        </a:rPr>
                        <a:t>Err(ParseIntError)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F2937"/>
                          </a:solidFill>
                          <a:latin typeface="Consolas"/>
                        </a:rPr>
                        <a:t>Result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JavaScript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25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B42318"/>
                          </a:solidFill>
                        </a:rPr>
                        <a:t>Infinity</a:t>
                      </a:r>
                      <a:r>
                        <a:rPr sz="1400" b="0">
                          <a:solidFill>
                            <a:srgbClr val="B42318"/>
                          </a:solidFill>
                        </a:rPr>
                        <a:t>, sem erro!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B42318"/>
                          </a:solidFill>
                        </a:rPr>
                        <a:t>NaN</a:t>
                      </a:r>
                      <a:r>
                        <a:rPr sz="1400" b="0">
                          <a:solidFill>
                            <a:srgbClr val="B42318"/>
                          </a:solidFill>
                        </a:rPr>
                        <a:t>, sem erro!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nenhum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074920"/>
            <a:ext cx="11094415" cy="1005840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</a:rPr>
              <a:t>Pergunta para a turma: em qual linguagem é mais difícil </a:t>
            </a:r>
            <a:r>
              <a:rPr sz="1700" b="1">
                <a:solidFill>
                  <a:srgbClr val="1F2937"/>
                </a:solidFill>
              </a:rPr>
              <a:t>esquecer</a:t>
            </a:r>
            <a:r>
              <a:rPr sz="1700" b="0">
                <a:solidFill>
                  <a:srgbClr val="1F2937"/>
                </a:solidFill>
              </a:rPr>
              <a:t> de tratar o erro? E em qual o erro </a:t>
            </a:r>
            <a:r>
              <a:rPr sz="1700" b="1">
                <a:solidFill>
                  <a:srgbClr val="1F2937"/>
                </a:solidFill>
              </a:rPr>
              <a:t>nem aparece</a:t>
            </a:r>
            <a:r>
              <a:rPr sz="1700" b="0">
                <a:solidFill>
                  <a:srgbClr val="1F2937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Exceções em código assíncrono (JavaScript)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exemplos/07_js_async/async_erros.js · exercício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658368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JavaScript · async_erros.js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73352"/>
            <a:ext cx="6583680" cy="440740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0F766E"/>
                </a:solidFill>
                <a:latin typeface="Consolas"/>
              </a:rPr>
              <a:t>// 1) .catch na promise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buscar(-1).catch((e) =&gt; console.log(e.message));</a:t>
            </a:r>
          </a:p>
          <a:p>
            <a:pPr algn="l">
              <a:spcAft>
                <a:spcPts val="0"/>
              </a:spcAft>
            </a:pPr>
            <a:r>
              <a:rPr sz="15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async function principal() {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// 2) try + await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try {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await buscar(1);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await buscar(0);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} catch (e) {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console.log("capturado:", e.message);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} finally {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console.log("finally também funciona");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}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5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try {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buscar(-5);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// 3) sem await: a rejeição escapa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} catch (e) { console.log("nunca chega aqui"); 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325880"/>
            <a:ext cx="4279392" cy="14630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472" b="1">
                <a:solidFill>
                  <a:srgbClr val="1F2937"/>
                </a:solidFill>
                <a:latin typeface="Consolas"/>
              </a:rPr>
              <a:t>.catch</a:t>
            </a:r>
            <a:r>
              <a:rPr sz="1600" b="1">
                <a:solidFill>
                  <a:srgbClr val="1F2937"/>
                </a:solidFill>
              </a:rPr>
              <a:t> na promise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o tratador fica encadeado na promise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2971800"/>
            <a:ext cx="4279392" cy="14630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472" b="1">
                <a:solidFill>
                  <a:srgbClr val="1F2937"/>
                </a:solidFill>
                <a:latin typeface="Consolas"/>
              </a:rPr>
              <a:t>try</a:t>
            </a:r>
            <a:r>
              <a:rPr sz="1600" b="1">
                <a:solidFill>
                  <a:srgbClr val="1F2937"/>
                </a:solidFill>
              </a:rPr>
              <a:t> + </a:t>
            </a:r>
            <a:r>
              <a:rPr sz="1472" b="1">
                <a:solidFill>
                  <a:srgbClr val="1F2937"/>
                </a:solidFill>
                <a:latin typeface="Consolas"/>
              </a:rPr>
              <a:t>await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a rejeição vira exceção comum: é o mais legível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4617720"/>
            <a:ext cx="4279392" cy="14630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472" b="1">
                <a:solidFill>
                  <a:srgbClr val="1F2937"/>
                </a:solidFill>
                <a:latin typeface="Consolas"/>
              </a:rPr>
              <a:t>try</a:t>
            </a:r>
            <a:r>
              <a:rPr sz="1600" b="1">
                <a:solidFill>
                  <a:srgbClr val="1F2937"/>
                </a:solidFill>
              </a:rPr>
              <a:t> sem </a:t>
            </a:r>
            <a:r>
              <a:rPr sz="1472" b="1">
                <a:solidFill>
                  <a:srgbClr val="1F2937"/>
                </a:solidFill>
                <a:latin typeface="Consolas"/>
              </a:rPr>
              <a:t>await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não captura nada; o Node encerra com "rejeição não tratada"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Finalização: código que sempre executa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§14.1.2 e §14.3.6 · p. 600-601 e 611 · exemplos/09_finalizacao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6583680" cy="34015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743200"/>
                <a:gridCol w="384048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2937"/>
                          </a:solidFill>
                        </a:rPr>
                        <a:t>Mecanismo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2937"/>
                          </a:solidFill>
                        </a:rPr>
                        <a:t>Linguagens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80" b="0">
                          <a:solidFill>
                            <a:srgbClr val="1F2937"/>
                          </a:solidFill>
                          <a:latin typeface="Consolas"/>
                        </a:rPr>
                        <a:t>finally</a:t>
                      </a:r>
                      <a:r>
                        <a:rPr sz="1500" b="0">
                          <a:solidFill>
                            <a:srgbClr val="1F2937"/>
                          </a:solidFill>
                        </a:rPr>
                        <a:t> / </a:t>
                      </a:r>
                      <a:r>
                        <a:rPr sz="1380" b="0">
                          <a:solidFill>
                            <a:srgbClr val="1F2937"/>
                          </a:solidFill>
                          <a:latin typeface="Consolas"/>
                        </a:rPr>
                        <a:t>ensure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Java, Python, JavaScript, C# / Ruby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bloco de recursos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try-with-resources (Java), </a:t>
                      </a:r>
                      <a:r>
                        <a:rPr sz="1380" b="0">
                          <a:solidFill>
                            <a:srgbClr val="1F2937"/>
                          </a:solidFill>
                          <a:latin typeface="Consolas"/>
                        </a:rPr>
                        <a:t>with</a:t>
                      </a:r>
                      <a:r>
                        <a:rPr sz="1500" b="0">
                          <a:solidFill>
                            <a:srgbClr val="1F2937"/>
                          </a:solidFill>
                        </a:rPr>
                        <a:t> (Python), </a:t>
                      </a:r>
                      <a:r>
                        <a:rPr sz="1380" b="0">
                          <a:solidFill>
                            <a:srgbClr val="1F2937"/>
                          </a:solidFill>
                          <a:latin typeface="Consolas"/>
                        </a:rPr>
                        <a:t>using</a:t>
                      </a:r>
                      <a:r>
                        <a:rPr sz="1500" b="0">
                          <a:solidFill>
                            <a:srgbClr val="1F2937"/>
                          </a:solidFill>
                        </a:rPr>
                        <a:t> (C#)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80" b="0">
                          <a:solidFill>
                            <a:srgbClr val="1F2937"/>
                          </a:solidFill>
                          <a:latin typeface="Consolas"/>
                        </a:rPr>
                        <a:t>defer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Go (ordem inversa)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destrutor / RAII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C++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80" b="0">
                          <a:solidFill>
                            <a:srgbClr val="1F2937"/>
                          </a:solidFill>
                          <a:latin typeface="Consolas"/>
                        </a:rPr>
                        <a:t>Drop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Rust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06640" y="1325880"/>
            <a:ext cx="4233672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Go · defer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1673352"/>
            <a:ext cx="4233672" cy="184708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for i := 1; i &lt;= 3; i++ {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defer fmt.Println("defer", i)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fmt.Println("corpo")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0F766E"/>
                </a:solidFill>
                <a:latin typeface="Consolas"/>
              </a:rPr>
              <a:t>// corpo, defer 3, 2,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3703320"/>
            <a:ext cx="4233672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Rust · Drop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4050791"/>
            <a:ext cx="4233672" cy="202996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impl Drop for Recurso {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    fn drop(&amp;mut self) {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        println!("liberando {}", self.0);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    }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}   </a:t>
            </a:r>
            <a:r>
              <a:rPr sz="1350" i="0">
                <a:solidFill>
                  <a:srgbClr val="0F766E"/>
                </a:solidFill>
                <a:latin typeface="Consolas"/>
              </a:rPr>
              <a:t>// chamado ao sair de escopo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709160"/>
            <a:ext cx="6583680" cy="1371600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Tendência: amarrar a finalização ao </a:t>
            </a:r>
            <a:r>
              <a:rPr sz="1600" b="1">
                <a:solidFill>
                  <a:srgbClr val="1F2937"/>
                </a:solidFill>
              </a:rPr>
              <a:t>recurso</a:t>
            </a:r>
            <a:r>
              <a:rPr sz="1600" b="0">
                <a:solidFill>
                  <a:srgbClr val="1F2937"/>
                </a:solidFill>
              </a:rPr>
              <a:t> (RAII, </a:t>
            </a:r>
            <a:r>
              <a:rPr sz="1472" b="0">
                <a:solidFill>
                  <a:srgbClr val="1F2937"/>
                </a:solidFill>
                <a:latin typeface="Consolas"/>
              </a:rPr>
              <a:t>with</a:t>
            </a:r>
            <a:r>
              <a:rPr sz="1600" b="0">
                <a:solidFill>
                  <a:srgbClr val="1F2937"/>
                </a:solidFill>
              </a:rPr>
              <a:t>, try-with-resources), e não ao bloco: assim fica mais difícil esquecer.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Tratamento de eventos: conceitos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§14.5 · p. 616-617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39"/>
            <a:ext cx="2464993" cy="1280160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>
            <a:no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0F766E"/>
                </a:solidFill>
              </a:rPr>
              <a:t>Fonte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botão, teclado, rede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41065" y="2103120"/>
            <a:ext cx="356616" cy="0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425113" y="1463039"/>
            <a:ext cx="2464993" cy="1280160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>
            <a:no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0F766E"/>
                </a:solidFill>
              </a:rPr>
              <a:t>Evento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objeto com os dados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17539" y="2103120"/>
            <a:ext cx="356616" cy="0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301587" y="1463039"/>
            <a:ext cx="2464993" cy="1280160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>
            <a:no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0F766E"/>
                </a:solidFill>
              </a:rPr>
              <a:t>Laço de eventos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espera e despacha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94013" y="2103120"/>
            <a:ext cx="356616" cy="0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78061" y="1463039"/>
            <a:ext cx="2464993" cy="1280160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>
            <a:no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0F766E"/>
                </a:solidFill>
              </a:rPr>
              <a:t>Tratadores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os ouvintes registrados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08960"/>
            <a:ext cx="5394960" cy="29718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>
            <a:no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</a:rPr>
              <a:t>Exceções × eventos (p. 616)</a:t>
            </a:r>
          </a:p>
          <a:p>
            <a:pPr algn="l" marL="256032" indent="-219456">
              <a:spcAft>
                <a:spcPts val="500"/>
              </a:spcAft>
              <a:buClr>
                <a:srgbClr val="0F766E"/>
              </a:buClr>
              <a:buFont typeface="Arial"/>
              <a:buChar char="•"/>
            </a:pPr>
            <a:r>
              <a:rPr sz="1600" b="0">
                <a:solidFill>
                  <a:srgbClr val="1F2937"/>
                </a:solidFill>
              </a:rPr>
              <a:t>Nos dois, o tratador é chamado </a:t>
            </a:r>
            <a:r>
              <a:rPr sz="1600" b="1">
                <a:solidFill>
                  <a:srgbClr val="1F2937"/>
                </a:solidFill>
              </a:rPr>
              <a:t>implicitamente</a:t>
            </a:r>
            <a:r>
              <a:rPr sz="1600" b="0">
                <a:solidFill>
                  <a:srgbClr val="1F2937"/>
                </a:solidFill>
              </a:rPr>
              <a:t>.</a:t>
            </a:r>
          </a:p>
          <a:p>
            <a:pPr algn="l" marL="256032" indent="-219456">
              <a:spcAft>
                <a:spcPts val="500"/>
              </a:spcAft>
              <a:buClr>
                <a:srgbClr val="0F766E"/>
              </a:buClr>
              <a:buFont typeface="Arial"/>
              <a:buChar char="•"/>
            </a:pPr>
            <a:r>
              <a:rPr sz="1600" b="0">
                <a:solidFill>
                  <a:srgbClr val="1F2937"/>
                </a:solidFill>
              </a:rPr>
              <a:t>Exceções: erros e situações incomuns </a:t>
            </a:r>
            <a:r>
              <a:rPr sz="1600" b="1">
                <a:solidFill>
                  <a:srgbClr val="1F2937"/>
                </a:solidFill>
              </a:rPr>
              <a:t>do programa</a:t>
            </a:r>
            <a:r>
              <a:rPr sz="1600" b="0">
                <a:solidFill>
                  <a:srgbClr val="1F2937"/>
                </a:solidFill>
              </a:rPr>
              <a:t>.</a:t>
            </a:r>
          </a:p>
          <a:p>
            <a:pPr algn="l" marL="256032" indent="-219456">
              <a:spcAft>
                <a:spcPts val="600"/>
              </a:spcAft>
              <a:buClr>
                <a:srgbClr val="0F766E"/>
              </a:buClr>
              <a:buFont typeface="Arial"/>
              <a:buChar char="•"/>
            </a:pPr>
            <a:r>
              <a:rPr sz="1600" b="0">
                <a:solidFill>
                  <a:srgbClr val="1F2937"/>
                </a:solidFill>
              </a:rPr>
              <a:t>Eventos: ações </a:t>
            </a:r>
            <a:r>
              <a:rPr sz="1600" b="1">
                <a:solidFill>
                  <a:srgbClr val="1F2937"/>
                </a:solidFill>
              </a:rPr>
              <a:t>externas</a:t>
            </a:r>
            <a:r>
              <a:rPr sz="1600" b="0">
                <a:solidFill>
                  <a:srgbClr val="1F2937"/>
                </a:solidFill>
              </a:rPr>
              <a:t> (usuário, rede, sensores).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3108960"/>
            <a:ext cx="5394960" cy="29718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>
            <a:no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</a:rPr>
              <a:t>Onde há eventos hoje</a:t>
            </a:r>
          </a:p>
          <a:p>
            <a:pPr algn="l" marL="256032" indent="-219456">
              <a:spcAft>
                <a:spcPts val="500"/>
              </a:spcAft>
              <a:buClr>
                <a:srgbClr val="0F766E"/>
              </a:buClr>
              <a:buFont typeface="Arial"/>
              <a:buChar char="•"/>
            </a:pPr>
            <a:r>
              <a:rPr sz="1600" b="0">
                <a:solidFill>
                  <a:srgbClr val="1F2937"/>
                </a:solidFill>
              </a:rPr>
              <a:t>Interfaces e páginas web (validação de formulários, p. 617)</a:t>
            </a:r>
          </a:p>
          <a:p>
            <a:pPr algn="l" marL="256032" indent="-219456">
              <a:spcAft>
                <a:spcPts val="500"/>
              </a:spcAft>
              <a:buClr>
                <a:srgbClr val="0F766E"/>
              </a:buClr>
              <a:buFont typeface="Arial"/>
              <a:buChar char="•"/>
            </a:pPr>
            <a:r>
              <a:rPr sz="1600" b="0">
                <a:solidFill>
                  <a:srgbClr val="1F2937"/>
                </a:solidFill>
              </a:rPr>
              <a:t>Servidores: cada requisição é um evento</a:t>
            </a:r>
          </a:p>
          <a:p>
            <a:pPr algn="l" marL="256032" indent="-219456">
              <a:spcAft>
                <a:spcPts val="600"/>
              </a:spcAft>
              <a:buClr>
                <a:srgbClr val="0F766E"/>
              </a:buClr>
              <a:buFont typeface="Arial"/>
              <a:buChar char="•"/>
            </a:pPr>
            <a:r>
              <a:rPr sz="1600" b="0">
                <a:solidFill>
                  <a:srgbClr val="1F2937"/>
                </a:solidFill>
              </a:rPr>
              <a:t>Mensageria (Kafka, filas), IoT, jogos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modelo de eventos de 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§14.6 · p. 617-622 · exemplos/08_eventos/Eventos.java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676656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Java · Eventos.java (o modelo do Swing, sem tela)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73352"/>
            <a:ext cx="6766560" cy="440740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record EventoClique(String origem, int x, int y) {}  </a:t>
            </a:r>
            <a:r>
              <a:rPr sz="1400" i="0">
                <a:solidFill>
                  <a:srgbClr val="0F766E"/>
                </a:solidFill>
                <a:latin typeface="Consolas"/>
              </a:rPr>
              <a:t>// evento</a:t>
            </a:r>
          </a:p>
          <a:p>
            <a:pPr algn="l">
              <a:spcAft>
                <a:spcPts val="0"/>
              </a:spcAft>
            </a:pPr>
            <a:r>
              <a:rPr sz="14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static class Botao {                                  </a:t>
            </a:r>
            <a:r>
              <a:rPr sz="1400" i="0">
                <a:solidFill>
                  <a:srgbClr val="0F766E"/>
                </a:solidFill>
                <a:latin typeface="Consolas"/>
              </a:rPr>
              <a:t>// fonte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    List&lt;Consumer&lt;EventoClique&gt;&gt; ouvintes =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        new ArrayList&lt;&gt;();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    void adicionarOuvinte(Consumer&lt;EventoClique&gt; o) {  </a:t>
            </a:r>
            <a:r>
              <a:rPr sz="1400" i="0">
                <a:solidFill>
                  <a:srgbClr val="0F766E"/>
                </a:solidFill>
                <a:latin typeface="Consolas"/>
              </a:rPr>
              <a:t>// registro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        ouvintes.add(o);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    }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    void clicar(int x, int y) {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        var e = new EventoClique("Salvar", x, y);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        for (var o : ouvintes) o.accept(e);  </a:t>
            </a:r>
            <a:r>
              <a:rPr sz="1400" i="0">
                <a:solidFill>
                  <a:srgbClr val="0F766E"/>
                </a:solidFill>
                <a:latin typeface="Consolas"/>
              </a:rPr>
              <a:t>// cada tratador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    }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salvar.adicionarOuvinte(e -&gt; System.out.println("salvando"));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0F766E"/>
                </a:solidFill>
                <a:latin typeface="Consolas"/>
              </a:rPr>
              <a:t>// No Swing: botao.addActionListener(e -&gt; salvar());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325880"/>
            <a:ext cx="409651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Fonte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o componente que gera o evento (</a:t>
            </a:r>
            <a:r>
              <a:rPr sz="1288" b="0">
                <a:solidFill>
                  <a:srgbClr val="1F2937"/>
                </a:solidFill>
                <a:latin typeface="Consolas"/>
              </a:rPr>
              <a:t>JButton</a:t>
            </a:r>
            <a:r>
              <a:rPr sz="1400" b="0">
                <a:solidFill>
                  <a:srgbClr val="1F2937"/>
                </a:solidFill>
              </a:rPr>
              <a:t>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2487168"/>
            <a:ext cx="409651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Objeto de evento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os dados do que aconteceu (</a:t>
            </a:r>
            <a:r>
              <a:rPr sz="1288" b="0">
                <a:solidFill>
                  <a:srgbClr val="1F2937"/>
                </a:solidFill>
                <a:latin typeface="Consolas"/>
              </a:rPr>
              <a:t>ActionEvent</a:t>
            </a:r>
            <a:r>
              <a:rPr sz="1400" b="0">
                <a:solidFill>
                  <a:srgbClr val="1F2937"/>
                </a:solidFill>
              </a:rP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3648456"/>
            <a:ext cx="409651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Ouvinte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implementa uma interface e é registrado na fonte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4809744"/>
            <a:ext cx="409651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Padrão Observer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a fonte não conhece os ouvintes: baixo acoplamento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Eventos no navegador, no Node.js e em C#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§14.7 · p. 622-628 · exemplos/08_eventos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76072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Navegador · dom_console.js (console, F12)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73352"/>
            <a:ext cx="5760720" cy="216712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botao.addEventListener("click", () =&gt; log("1"));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caixa.addEventListener("click", () =&gt; log("2"));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document.body.addEventListener("click",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                           () =&gt; log("3"));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botao.click();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// 1, 2, 3: o evento SOBE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77639"/>
            <a:ext cx="576072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Node.js · eventos.js (EventEmitter)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325112"/>
            <a:ext cx="5760720" cy="175564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loja.on("pedido", (p) =&gt; log(`separar ${p.item}`));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loja.once("pedido", () =&gt; log("primeiro do dia!"));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loja.emit("pedido", { item: "livro" });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325880"/>
            <a:ext cx="5102352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C# · event e delegates (p. 622)</a:t>
            </a:r>
          </a:p>
        </p:txBody>
      </p:sp>
      <p:sp>
        <p:nvSpPr>
          <p:cNvPr id="9" name="Rectangle 8"/>
          <p:cNvSpPr/>
          <p:nvPr/>
        </p:nvSpPr>
        <p:spPr>
          <a:xfrm>
            <a:off x="6537960" y="1673352"/>
            <a:ext cx="5102352" cy="321868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class Botao {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public event EventHandler&lt;string&gt; Clicado;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public void Clicar(string quem) =&gt;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    Clicado?.Invoke(this, quem);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b.Clicado += (o, quem) =&gt;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Console.WriteLine($"olá, {quem}");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b.Clicado -= temporario;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// remove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5074920"/>
            <a:ext cx="5102352" cy="1005840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Propagação (bubbling): o evento </a:t>
            </a:r>
            <a:r>
              <a:rPr sz="1500" b="1">
                <a:solidFill>
                  <a:srgbClr val="1F2937"/>
                </a:solidFill>
              </a:rPr>
              <a:t>sobe</a:t>
            </a:r>
            <a:r>
              <a:rPr sz="1500" b="0">
                <a:solidFill>
                  <a:srgbClr val="1F2937"/>
                </a:solidFill>
              </a:rPr>
              <a:t> pela árvore da página, como a exceção sobe pela pilha.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Debate: exceções ou erros como valores?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Atividade em grupos · 10 min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394960" cy="36576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>
            <a:no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0F766E"/>
                </a:solidFill>
              </a:rPr>
              <a:t>Exceções (Java, Python, C#)</a:t>
            </a:r>
          </a:p>
          <a:p>
            <a:pPr algn="l" marL="256032" indent="-219456">
              <a:spcAft>
                <a:spcPts val="600"/>
              </a:spcAft>
              <a:buClr>
                <a:srgbClr val="0F766E"/>
              </a:buClr>
              <a:buFont typeface="Arial"/>
              <a:buChar char="•"/>
            </a:pPr>
            <a:r>
              <a:rPr sz="1700" b="0">
                <a:solidFill>
                  <a:srgbClr val="1F2937"/>
                </a:solidFill>
              </a:rPr>
              <a:t>O caminho normal fica </a:t>
            </a:r>
            <a:r>
              <a:rPr sz="1700" b="1">
                <a:solidFill>
                  <a:srgbClr val="1F2937"/>
                </a:solidFill>
              </a:rPr>
              <a:t>limpo</a:t>
            </a:r>
          </a:p>
          <a:p>
            <a:pPr algn="l" marL="256032" indent="-219456">
              <a:spcAft>
                <a:spcPts val="600"/>
              </a:spcAft>
              <a:buClr>
                <a:srgbClr val="0F766E"/>
              </a:buClr>
              <a:buFont typeface="Arial"/>
              <a:buChar char="•"/>
            </a:pPr>
            <a:r>
              <a:rPr sz="1700" b="0">
                <a:solidFill>
                  <a:srgbClr val="1F2937"/>
                </a:solidFill>
              </a:rPr>
              <a:t>A </a:t>
            </a:r>
            <a:r>
              <a:rPr sz="1700" b="1">
                <a:solidFill>
                  <a:srgbClr val="1F2937"/>
                </a:solidFill>
              </a:rPr>
              <a:t>propagação</a:t>
            </a:r>
            <a:r>
              <a:rPr sz="1700" b="0">
                <a:solidFill>
                  <a:srgbClr val="1F2937"/>
                </a:solidFill>
              </a:rPr>
              <a:t> é automática</a:t>
            </a:r>
          </a:p>
          <a:p>
            <a:pPr algn="l" marL="256032" indent="-219456">
              <a:spcAft>
                <a:spcPts val="600"/>
              </a:spcAft>
              <a:buClr>
                <a:srgbClr val="0F766E"/>
              </a:buClr>
              <a:buFont typeface="Arial"/>
              <a:buChar char="•"/>
            </a:pPr>
            <a:r>
              <a:rPr sz="1700" b="0">
                <a:solidFill>
                  <a:srgbClr val="1F2937"/>
                </a:solidFill>
              </a:rPr>
              <a:t>Não dá para ignorar em silêncio: o programa </a:t>
            </a:r>
            <a:r>
              <a:rPr sz="1700" b="1">
                <a:solidFill>
                  <a:srgbClr val="1F2937"/>
                </a:solidFill>
              </a:rPr>
              <a:t>para</a:t>
            </a:r>
          </a:p>
          <a:p>
            <a:pPr algn="l" marL="256032" indent="-219456">
              <a:spcAft>
                <a:spcPts val="600"/>
              </a:spcAft>
              <a:buClr>
                <a:srgbClr val="0F766E"/>
              </a:buClr>
              <a:buFont typeface="Arial"/>
              <a:buChar char="•"/>
            </a:pPr>
            <a:r>
              <a:rPr sz="1700" b="0">
                <a:solidFill>
                  <a:srgbClr val="B42318"/>
                </a:solidFill>
              </a:rPr>
              <a:t>Mas: saltos </a:t>
            </a:r>
            <a:r>
              <a:rPr sz="1700" b="1">
                <a:solidFill>
                  <a:srgbClr val="B42318"/>
                </a:solidFill>
              </a:rPr>
              <a:t>invisíveis</a:t>
            </a:r>
            <a:r>
              <a:rPr sz="1700" b="0">
                <a:solidFill>
                  <a:srgbClr val="B42318"/>
                </a:solidFill>
              </a:rPr>
              <a:t> no fluxo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5352" y="1325880"/>
            <a:ext cx="5394960" cy="36576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>
            <a:no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0F766E"/>
                </a:solidFill>
              </a:rPr>
              <a:t>Erros como valores (Go, Rust)</a:t>
            </a:r>
          </a:p>
          <a:p>
            <a:pPr algn="l" marL="256032" indent="-219456">
              <a:spcAft>
                <a:spcPts val="600"/>
              </a:spcAft>
              <a:buClr>
                <a:srgbClr val="0F766E"/>
              </a:buClr>
              <a:buFont typeface="Arial"/>
              <a:buChar char="•"/>
            </a:pPr>
            <a:r>
              <a:rPr sz="1700" b="0">
                <a:solidFill>
                  <a:srgbClr val="1F2937"/>
                </a:solidFill>
              </a:rPr>
              <a:t>O erro fica </a:t>
            </a:r>
            <a:r>
              <a:rPr sz="1700" b="1">
                <a:solidFill>
                  <a:srgbClr val="1F2937"/>
                </a:solidFill>
              </a:rPr>
              <a:t>visível</a:t>
            </a:r>
            <a:r>
              <a:rPr sz="1700" b="0">
                <a:solidFill>
                  <a:srgbClr val="1F2937"/>
                </a:solidFill>
              </a:rPr>
              <a:t> no tipo e no código</a:t>
            </a:r>
          </a:p>
          <a:p>
            <a:pPr algn="l" marL="256032" indent="-219456">
              <a:spcAft>
                <a:spcPts val="600"/>
              </a:spcAft>
              <a:buClr>
                <a:srgbClr val="0F766E"/>
              </a:buClr>
              <a:buFont typeface="Arial"/>
              <a:buChar char="•"/>
            </a:pPr>
            <a:r>
              <a:rPr sz="1700" b="0">
                <a:solidFill>
                  <a:srgbClr val="1F2937"/>
                </a:solidFill>
              </a:rPr>
              <a:t>Sem saltos invisíveis: fácil de revisar</a:t>
            </a:r>
          </a:p>
          <a:p>
            <a:pPr algn="l" marL="256032" indent="-219456">
              <a:spcAft>
                <a:spcPts val="600"/>
              </a:spcAft>
              <a:buClr>
                <a:srgbClr val="0F766E"/>
              </a:buClr>
              <a:buFont typeface="Arial"/>
              <a:buChar char="•"/>
            </a:pPr>
            <a:r>
              <a:rPr sz="1700" b="0">
                <a:solidFill>
                  <a:srgbClr val="1F2937"/>
                </a:solidFill>
              </a:rPr>
              <a:t>Com </a:t>
            </a:r>
            <a:r>
              <a:rPr sz="1564" b="0">
                <a:solidFill>
                  <a:srgbClr val="1F2937"/>
                </a:solidFill>
                <a:latin typeface="Consolas"/>
              </a:rPr>
              <a:t>Result</a:t>
            </a:r>
            <a:r>
              <a:rPr sz="1700" b="0">
                <a:solidFill>
                  <a:srgbClr val="1F2937"/>
                </a:solidFill>
              </a:rPr>
              <a:t>, o compilador </a:t>
            </a:r>
            <a:r>
              <a:rPr sz="1700" b="1">
                <a:solidFill>
                  <a:srgbClr val="1F2937"/>
                </a:solidFill>
              </a:rPr>
              <a:t>obriga</a:t>
            </a:r>
          </a:p>
          <a:p>
            <a:pPr algn="l" marL="256032" indent="-219456">
              <a:spcAft>
                <a:spcPts val="600"/>
              </a:spcAft>
              <a:buClr>
                <a:srgbClr val="0F766E"/>
              </a:buClr>
              <a:buFont typeface="Arial"/>
              <a:buChar char="•"/>
            </a:pPr>
            <a:r>
              <a:rPr sz="1700" b="0">
                <a:solidFill>
                  <a:srgbClr val="B42318"/>
                </a:solidFill>
              </a:rPr>
              <a:t>Mas: </a:t>
            </a:r>
            <a:r>
              <a:rPr sz="1564" b="0">
                <a:solidFill>
                  <a:srgbClr val="B42318"/>
                </a:solidFill>
                <a:latin typeface="Consolas"/>
              </a:rPr>
              <a:t>if err != nil</a:t>
            </a:r>
            <a:r>
              <a:rPr sz="1700" b="0">
                <a:solidFill>
                  <a:srgbClr val="B42318"/>
                </a:solidFill>
              </a:rPr>
              <a:t> repetido; em Go dá para ignorar com </a:t>
            </a:r>
            <a:r>
              <a:rPr sz="1564" b="0">
                <a:solidFill>
                  <a:srgbClr val="B42318"/>
                </a:solidFill>
                <a:latin typeface="Consolas"/>
              </a:rPr>
              <a:t>_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212080"/>
            <a:ext cx="11094415" cy="868680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</a:rPr>
              <a:t>Regra prática moderna: </a:t>
            </a:r>
            <a:r>
              <a:rPr sz="1700" b="1">
                <a:solidFill>
                  <a:srgbClr val="1F2937"/>
                </a:solidFill>
              </a:rPr>
              <a:t>erros esperados</a:t>
            </a:r>
            <a:r>
              <a:rPr sz="1700" b="0">
                <a:solidFill>
                  <a:srgbClr val="1F2937"/>
                </a:solidFill>
              </a:rPr>
              <a:t> como valores; </a:t>
            </a:r>
            <a:r>
              <a:rPr sz="1700" b="1">
                <a:solidFill>
                  <a:srgbClr val="1F2937"/>
                </a:solidFill>
              </a:rPr>
              <a:t>bugs e situações impossíveis</a:t>
            </a:r>
            <a:r>
              <a:rPr sz="1700" b="0">
                <a:solidFill>
                  <a:srgbClr val="1F2937"/>
                </a:solidFill>
              </a:rPr>
              <a:t> como exceção ou </a:t>
            </a:r>
            <a:r>
              <a:rPr sz="1564" b="0">
                <a:solidFill>
                  <a:srgbClr val="1F2937"/>
                </a:solidFill>
                <a:latin typeface="Consolas"/>
              </a:rPr>
              <a:t>panic</a:t>
            </a:r>
            <a:r>
              <a:rPr sz="1700" b="0">
                <a:solidFill>
                  <a:srgbClr val="1F2937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Exercício em duplas: o que é impresso?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Arquivos: exemplos/10_exercicio · execute em onecompiler.com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</a:rPr>
              <a:t>Para cada trecho: </a:t>
            </a:r>
            <a:r>
              <a:rPr sz="1700" b="1">
                <a:solidFill>
                  <a:srgbClr val="1F2937"/>
                </a:solidFill>
              </a:rPr>
              <a:t>(a)</a:t>
            </a:r>
            <a:r>
              <a:rPr sz="1700" b="0">
                <a:solidFill>
                  <a:srgbClr val="1F2937"/>
                </a:solidFill>
              </a:rPr>
              <a:t> o que é impresso ou o que acontece?  </a:t>
            </a:r>
            <a:r>
              <a:rPr sz="1700" b="1">
                <a:solidFill>
                  <a:srgbClr val="1F2937"/>
                </a:solidFill>
              </a:rPr>
              <a:t>(b)</a:t>
            </a:r>
            <a:r>
              <a:rPr sz="1700" b="0">
                <a:solidFill>
                  <a:srgbClr val="1F2937"/>
                </a:solidFill>
              </a:rPr>
              <a:t> qual regra explica?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410047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1 · Java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67712"/>
            <a:ext cx="5410047" cy="367588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static int f() {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    try {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        return 1;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    } finally {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        return 2;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    }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System.out.println(f());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920240"/>
            <a:ext cx="5410047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2 · Python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2267712"/>
            <a:ext cx="5410047" cy="367588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def f(x):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    try: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        r = 10 / x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    except ZeroDivisionError: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        print("A")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        return -1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    else: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        print("B")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        return r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    finally: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        print("C")</a:t>
            </a:r>
          </a:p>
          <a:p>
            <a:pPr algn="l">
              <a:spcAft>
                <a:spcPts val="0"/>
              </a:spcAft>
            </a:pPr>
            <a:r>
              <a:rPr sz="16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print(f(0))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print(f(5))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Exercício: o que é impresso?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Arquivos: exemplos/10_exercicio · execute em onecompiler.com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</a:rPr>
              <a:t>Para cada trecho: </a:t>
            </a:r>
            <a:r>
              <a:rPr sz="1700" b="1">
                <a:solidFill>
                  <a:srgbClr val="1F2937"/>
                </a:solidFill>
              </a:rPr>
              <a:t>(a)</a:t>
            </a:r>
            <a:r>
              <a:rPr sz="1700" b="0">
                <a:solidFill>
                  <a:srgbClr val="1F2937"/>
                </a:solidFill>
              </a:rPr>
              <a:t> o que é impresso ou o que acontece?  </a:t>
            </a:r>
            <a:r>
              <a:rPr sz="1700" b="1">
                <a:solidFill>
                  <a:srgbClr val="1F2937"/>
                </a:solidFill>
              </a:rPr>
              <a:t>(b)</a:t>
            </a:r>
            <a:r>
              <a:rPr sz="1700" b="0">
                <a:solidFill>
                  <a:srgbClr val="1F2937"/>
                </a:solidFill>
              </a:rPr>
              <a:t> qual regra explica?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410047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3 · Go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67712"/>
            <a:ext cx="5410047" cy="367588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n, _ := strconv.Atoi("12a")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fmt.Println(n *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920240"/>
            <a:ext cx="5410047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4 · C++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2267712"/>
            <a:ext cx="5410047" cy="367588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try {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    throw 42;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} catch (double d) {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    std::cout &lt;&lt; "double " &lt;&lt; d;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} catch (...) {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    std::cout &lt;&lt; "outro";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Exercício: o que é impresso?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Arquivos: exemplos/10_exercicio · execute em onecompiler.com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</a:rPr>
              <a:t>Para cada trecho: </a:t>
            </a:r>
            <a:r>
              <a:rPr sz="1700" b="1">
                <a:solidFill>
                  <a:srgbClr val="1F2937"/>
                </a:solidFill>
              </a:rPr>
              <a:t>(a)</a:t>
            </a:r>
            <a:r>
              <a:rPr sz="1700" b="0">
                <a:solidFill>
                  <a:srgbClr val="1F2937"/>
                </a:solidFill>
              </a:rPr>
              <a:t> o que é impresso ou o que acontece?  </a:t>
            </a:r>
            <a:r>
              <a:rPr sz="1700" b="1">
                <a:solidFill>
                  <a:srgbClr val="1F2937"/>
                </a:solidFill>
              </a:rPr>
              <a:t>(b)</a:t>
            </a:r>
            <a:r>
              <a:rPr sz="1700" b="0">
                <a:solidFill>
                  <a:srgbClr val="1F2937"/>
                </a:solidFill>
              </a:rPr>
              <a:t> qual regra explica?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410047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5 · Rust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67712"/>
            <a:ext cx="5410047" cy="367588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let texto = "12a";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let n: i32 = texto.parse().unwrap();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println!("{}", n * 2);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920240"/>
            <a:ext cx="5410047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6 · JavaScript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2267712"/>
            <a:ext cx="5410047" cy="367588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async function f() {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  throw new Error("falhou");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try {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  f();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} catch (e) {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  console.log("capturado");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console.log("fim");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Síntese: como cada linguagem lida com erros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Cap. 14 · p. 595-630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1672" cy="4096512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600200"/>
                <a:gridCol w="2743200"/>
                <a:gridCol w="2377440"/>
                <a:gridCol w="2103120"/>
                <a:gridCol w="2267712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</a:rPr>
                        <a:t>Linguagem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</a:rPr>
                        <a:t>Mecanismo principal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</a:rPr>
                        <a:t>O compilador obriga?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</a:rPr>
                        <a:t>Finalização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</a:rPr>
                        <a:t>Para bugs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C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valor de retorno + </a:t>
                      </a:r>
                      <a:r>
                        <a:rPr sz="1288" b="0">
                          <a:solidFill>
                            <a:srgbClr val="1F2937"/>
                          </a:solidFill>
                          <a:latin typeface="Consolas"/>
                        </a:rPr>
                        <a:t>errno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não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manual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–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C++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exceções (qualquer tipo)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não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destrutores (RAII)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exceções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Java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exceções (</a:t>
                      </a:r>
                      <a:r>
                        <a:rPr sz="1288" b="0">
                          <a:solidFill>
                            <a:srgbClr val="1F2937"/>
                          </a:solidFill>
                          <a:latin typeface="Consolas"/>
                        </a:rPr>
                        <a:t>Throwable</a:t>
                      </a:r>
                      <a:r>
                        <a:rPr sz="1400" b="0">
                          <a:solidFill>
                            <a:srgbClr val="1F2937"/>
                          </a:solidFill>
                        </a:rPr>
                        <a:t>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</a:rPr>
                        <a:t>sim, as verificadas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F2937"/>
                          </a:solidFill>
                          <a:latin typeface="Consolas"/>
                        </a:rPr>
                        <a:t>finally</a:t>
                      </a:r>
                      <a:r>
                        <a:rPr sz="1400" b="0">
                          <a:solidFill>
                            <a:srgbClr val="1F2937"/>
                          </a:solidFill>
                        </a:rPr>
                        <a:t>, try-with-resources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não verificadas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Python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exceções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não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F2937"/>
                          </a:solidFill>
                          <a:latin typeface="Consolas"/>
                        </a:rPr>
                        <a:t>finally</a:t>
                      </a:r>
                      <a:r>
                        <a:rPr sz="1400" b="0">
                          <a:solidFill>
                            <a:srgbClr val="1F2937"/>
                          </a:solidFill>
                        </a:rPr>
                        <a:t>, </a:t>
                      </a:r>
                      <a:r>
                        <a:rPr sz="1288" b="0">
                          <a:solidFill>
                            <a:srgbClr val="1F2937"/>
                          </a:solidFill>
                          <a:latin typeface="Consolas"/>
                        </a:rPr>
                        <a:t>with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exceções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JavaScript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exceções e promises rejeitadas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não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F2937"/>
                          </a:solidFill>
                          <a:latin typeface="Consolas"/>
                        </a:rPr>
                        <a:t>finally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exceções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Go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valor </a:t>
                      </a:r>
                      <a:r>
                        <a:rPr sz="1288" b="0">
                          <a:solidFill>
                            <a:srgbClr val="1F2937"/>
                          </a:solidFill>
                          <a:latin typeface="Consolas"/>
                        </a:rPr>
                        <a:t>error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não (convenção)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F2937"/>
                          </a:solidFill>
                          <a:latin typeface="Consolas"/>
                        </a:rPr>
                        <a:t>defer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F2937"/>
                          </a:solidFill>
                          <a:latin typeface="Consolas"/>
                        </a:rPr>
                        <a:t>panic</a:t>
                      </a:r>
                      <a:r>
                        <a:rPr sz="1400" b="0">
                          <a:solidFill>
                            <a:srgbClr val="1F2937"/>
                          </a:solidFill>
                        </a:rPr>
                        <a:t>/</a:t>
                      </a:r>
                      <a:r>
                        <a:rPr sz="1288" b="0">
                          <a:solidFill>
                            <a:srgbClr val="1F2937"/>
                          </a:solidFill>
                          <a:latin typeface="Consolas"/>
                        </a:rPr>
                        <a:t>recover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Rust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F2937"/>
                          </a:solidFill>
                          <a:latin typeface="Consolas"/>
                        </a:rPr>
                        <a:t>Result</a:t>
                      </a:r>
                      <a:r>
                        <a:rPr sz="1400" b="0">
                          <a:solidFill>
                            <a:srgbClr val="1F2937"/>
                          </a:solidFill>
                        </a:rPr>
                        <a:t> / </a:t>
                      </a:r>
                      <a:r>
                        <a:rPr sz="1288" b="0">
                          <a:solidFill>
                            <a:srgbClr val="1F2937"/>
                          </a:solidFill>
                          <a:latin typeface="Consolas"/>
                        </a:rPr>
                        <a:t>Option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</a:rPr>
                        <a:t>sim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F2937"/>
                          </a:solidFill>
                          <a:latin typeface="Consolas"/>
                        </a:rPr>
                        <a:t>Drop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F2937"/>
                          </a:solidFill>
                          <a:latin typeface="Consolas"/>
                        </a:rPr>
                        <a:t>panic!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Atividades complementares (autopesquisa)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Cap. 14 · exemplos/11_autopesquisa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6766560" cy="4754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56032" indent="-219456">
              <a:spcAft>
                <a:spcPts val="1100"/>
              </a:spcAft>
              <a:buClr>
                <a:srgbClr val="0F766E"/>
              </a:buClr>
              <a:buFont typeface="Arial"/>
              <a:buChar char="•"/>
            </a:pPr>
            <a:r>
              <a:rPr sz="1700" b="1">
                <a:solidFill>
                  <a:srgbClr val="1F2937"/>
                </a:solidFill>
              </a:rPr>
              <a:t>Exceções em Ada</a:t>
            </a:r>
            <a:r>
              <a:rPr sz="1700" b="0">
                <a:solidFill>
                  <a:srgbClr val="1F2937"/>
                </a:solidFill>
              </a:rPr>
              <a:t> (constam no plano de ensino; a 11ª ed. retirou): </a:t>
            </a:r>
            <a:r>
              <a:rPr sz="1564" b="0">
                <a:solidFill>
                  <a:srgbClr val="1F2937"/>
                </a:solidFill>
                <a:latin typeface="Consolas"/>
              </a:rPr>
              <a:t>excecoes.adb</a:t>
            </a:r>
            <a:r>
              <a:rPr sz="1700" b="0">
                <a:solidFill>
                  <a:srgbClr val="1F2937"/>
                </a:solidFill>
              </a:rPr>
              <a:t> roda no OneCompiler</a:t>
            </a:r>
          </a:p>
          <a:p>
            <a:pPr algn="l" marL="256032" indent="-219456">
              <a:spcAft>
                <a:spcPts val="1100"/>
              </a:spcAft>
              <a:buClr>
                <a:srgbClr val="0F766E"/>
              </a:buClr>
              <a:buFont typeface="Arial"/>
              <a:buChar char="•"/>
            </a:pPr>
            <a:r>
              <a:rPr sz="1700" b="1">
                <a:solidFill>
                  <a:srgbClr val="1F2937"/>
                </a:solidFill>
              </a:rPr>
              <a:t>O programa completo do livro em C++</a:t>
            </a:r>
            <a:r>
              <a:rPr sz="1700" b="0">
                <a:solidFill>
                  <a:srgbClr val="1F2937"/>
                </a:solidFill>
              </a:rPr>
              <a:t> (§14.2.5, p. 605-606) e </a:t>
            </a:r>
            <a:r>
              <a:rPr sz="1700" b="1">
                <a:solidFill>
                  <a:srgbClr val="1F2937"/>
                </a:solidFill>
              </a:rPr>
              <a:t>em Java</a:t>
            </a:r>
            <a:r>
              <a:rPr sz="1700" b="0">
                <a:solidFill>
                  <a:srgbClr val="1F2937"/>
                </a:solidFill>
              </a:rPr>
              <a:t> (§14.3.5, p. 610-611)</a:t>
            </a:r>
          </a:p>
          <a:p>
            <a:pPr algn="l" marL="256032" indent="-219456">
              <a:spcAft>
                <a:spcPts val="1100"/>
              </a:spcAft>
              <a:buClr>
                <a:srgbClr val="0F766E"/>
              </a:buClr>
              <a:buFont typeface="Arial"/>
              <a:buChar char="•"/>
            </a:pPr>
            <a:r>
              <a:rPr sz="1700" b="1">
                <a:solidFill>
                  <a:srgbClr val="1F2937"/>
                </a:solidFill>
              </a:rPr>
              <a:t>Ruby</a:t>
            </a:r>
            <a:r>
              <a:rPr sz="1700" b="0">
                <a:solidFill>
                  <a:srgbClr val="1F2937"/>
                </a:solidFill>
              </a:rPr>
              <a:t>: </a:t>
            </a:r>
            <a:r>
              <a:rPr sz="1564" b="0">
                <a:solidFill>
                  <a:srgbClr val="1F2937"/>
                </a:solidFill>
                <a:latin typeface="Consolas"/>
              </a:rPr>
              <a:t>begin</a:t>
            </a:r>
            <a:r>
              <a:rPr sz="1700" b="0">
                <a:solidFill>
                  <a:srgbClr val="1F2937"/>
                </a:solidFill>
              </a:rPr>
              <a:t>/</a:t>
            </a:r>
            <a:r>
              <a:rPr sz="1564" b="0">
                <a:solidFill>
                  <a:srgbClr val="1F2937"/>
                </a:solidFill>
                <a:latin typeface="Consolas"/>
              </a:rPr>
              <a:t>rescue</a:t>
            </a:r>
            <a:r>
              <a:rPr sz="1700" b="0">
                <a:solidFill>
                  <a:srgbClr val="1F2937"/>
                </a:solidFill>
              </a:rPr>
              <a:t>/</a:t>
            </a:r>
            <a:r>
              <a:rPr sz="1564" b="0">
                <a:solidFill>
                  <a:srgbClr val="1F2937"/>
                </a:solidFill>
                <a:latin typeface="Consolas"/>
              </a:rPr>
              <a:t>else</a:t>
            </a:r>
            <a:r>
              <a:rPr sz="1700" b="0">
                <a:solidFill>
                  <a:srgbClr val="1F2937"/>
                </a:solidFill>
              </a:rPr>
              <a:t>/</a:t>
            </a:r>
            <a:r>
              <a:rPr sz="1564" b="0">
                <a:solidFill>
                  <a:srgbClr val="1F2937"/>
                </a:solidFill>
                <a:latin typeface="Consolas"/>
              </a:rPr>
              <a:t>ensure</a:t>
            </a:r>
            <a:r>
              <a:rPr sz="1700" b="0">
                <a:solidFill>
                  <a:srgbClr val="1F2937"/>
                </a:solidFill>
              </a:rPr>
              <a:t> e </a:t>
            </a:r>
            <a:r>
              <a:rPr sz="1564" b="0">
                <a:solidFill>
                  <a:srgbClr val="1F2937"/>
                </a:solidFill>
                <a:latin typeface="Consolas"/>
              </a:rPr>
              <a:t>retry</a:t>
            </a:r>
            <a:r>
              <a:rPr sz="1700" b="0">
                <a:solidFill>
                  <a:srgbClr val="1F2937"/>
                </a:solidFill>
              </a:rPr>
              <a:t> (§14.4.2, p. 615-616): </a:t>
            </a:r>
            <a:r>
              <a:rPr sz="1564" b="0">
                <a:solidFill>
                  <a:srgbClr val="1F2937"/>
                </a:solidFill>
                <a:latin typeface="Consolas"/>
              </a:rPr>
              <a:t>retry.rb</a:t>
            </a:r>
          </a:p>
          <a:p>
            <a:pPr algn="l" marL="256032" indent="-219456">
              <a:spcAft>
                <a:spcPts val="1100"/>
              </a:spcAft>
              <a:buClr>
                <a:srgbClr val="0F766E"/>
              </a:buClr>
              <a:buFont typeface="Arial"/>
              <a:buChar char="•"/>
            </a:pPr>
            <a:r>
              <a:rPr sz="1700" b="1">
                <a:solidFill>
                  <a:srgbClr val="1F2937"/>
                </a:solidFill>
              </a:rPr>
              <a:t>Eventos em C# com Windows Forms</a:t>
            </a:r>
            <a:r>
              <a:rPr sz="1700" b="0">
                <a:solidFill>
                  <a:srgbClr val="1F2937"/>
                </a:solidFill>
              </a:rPr>
              <a:t> (§14.7, p. 622-628)</a:t>
            </a:r>
          </a:p>
          <a:p>
            <a:pPr algn="l" marL="256032" indent="-219456">
              <a:spcAft>
                <a:spcPts val="1100"/>
              </a:spcAft>
              <a:buClr>
                <a:srgbClr val="0F766E"/>
              </a:buClr>
              <a:buFont typeface="Arial"/>
              <a:buChar char="•"/>
            </a:pPr>
            <a:r>
              <a:rPr sz="1700" b="1">
                <a:solidFill>
                  <a:srgbClr val="1F2937"/>
                </a:solidFill>
              </a:rPr>
              <a:t>Swing</a:t>
            </a:r>
            <a:r>
              <a:rPr sz="1700" b="0">
                <a:solidFill>
                  <a:srgbClr val="1F2937"/>
                </a:solidFill>
              </a:rPr>
              <a:t> em detalhes: componentes e ouvintes (§14.6, p. 617-622)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325880"/>
            <a:ext cx="3959352" cy="2834640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</a:rPr>
              <a:t>Entrega sugerida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Escolha uma função real de um projeto seu que pode falhar e reescreva o tratamento de erros em dois estilos (exceção e Result/valor), comparando legibilidade e segurança.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4343400"/>
            <a:ext cx="3959352" cy="16916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</a:rPr>
              <a:t>Próxima aula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Paradigma funcional (Cap. 15)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
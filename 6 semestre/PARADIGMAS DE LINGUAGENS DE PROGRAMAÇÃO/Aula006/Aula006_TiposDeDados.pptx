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MrKEvjvyfPHgtHGMy7JN+GTFT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680B0E-40AE-4089-A882-7D453104BFFE}">
  <a:tblStyle styleId="{20680B0E-40AE-4089-A882-7D453104BF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 (1 min).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é a primeira aula do 2º bimestre. No bimestre anterior vimos nomes, vinculações e escopo: agora vamos olhar para O QUE as variáveis guardam.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Formato da aula: expositiva-dialogada, com execução de pequenos programas ao vivo. Todos os exemplos estão na pasta exemplos/ (ver README.md), organizados na mesma ordem dos slides.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Todos os exemplos rodam no navegador, no OneCompiler (onecompiler.com/java, /go, /rust, /c, /python, /nodejs): basta colar o arquivo inteiro e clicar em Run. Sugestão: deixe essas abas abertas antes de começar. Todos os programas foram testados lá.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Problematização (até 10 min, junto com o próximo slide).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objetivo em voz alta e pergunte: "alguém já teve um bug por causa de tipo? arredondamento de dinheiro? acento cortado? NullPointerException?" Colete 2 ou 3 relatos.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três casos: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Ariane 5, voo 501 (04/06/1996): o software de referência inercial, reaproveitado do Ariane 4, converteu a velocidade horizontal (float de 64 bits) para inteiro de 16 bits com sinal. O valor não cabia, a exceção de operando não foi tratada, os dois computadores de navegação pararam e o foguete se autodestruiu cerca de 37 s após o lançamento. Prejuízo estimado em US$ 370 milhões. O código era Ada: a linguagem até detectou o erro, mas o projeto tinha desligado o tratamento para essa variável.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Míssil Patriot (Dhahran, 25/02/1991): o relógio contava décimos de segundo e 0,1 foi armazenado truncado em 24 bits. Depois de 100 h ligado, o erro acumulado chegou a 0,34 s, e um Scud a ~1.676 m/s percorre ~575 m nesse tempo. O míssil não interceptou o Scud e 28 soldados morreram. O cálculo está em exemplos/02_ponto_flutuante/flutuante.py.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Heartbleed (2014): bug no OpenSSL (escrito em C). O servidor confiava no tamanho informado pelo cliente e devolvia até 64 KB da própria memória, incluindo senhas e chaves privadas. Em C não há verificação de limites de matriz.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Mensagem: todos os três são decisões sobre TIPOS (faixa de inteiros, representação de reais, limites de matrizes).</a:t>
            </a:r>
            <a:endParaRPr/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rapidamente o roteiro (1 min). Diga que o exercício em duplas do fim vale como atividade em sala.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NÃO será visto em aula e fica como autopesquisa (último slide): matrizes associativas, registros, tuplas, listas, verificação de tipos, tipagem forte, equivalência de tipos e gerenciamento do monte.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Definição do Sebesta (p. 234): um tipo de dado define uma coleção de valores e um conjunto de operações predefinidas sobre eles.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Pergunte: "quais operações fazem sentido para um CPF? somar dois CPFs faz sentido?" Com isso, os alunos percebem que o CPF deveria ser um tipo próprio, e não um int ou uma String qualquer.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Descritor: é a coleção de atributos de uma variável (tipo, endereço, tamanho...). Nas linguagens estáticas ele só é necessário na compilação, e nas dinâmicas é mantido durante a execução.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Primitivos (p. 236): tipos que não são definidos em termos de outros. Muitos são reflexo direto do hardware, como os inteiros. Os construtores de tipo combinam primitivos em tipos estruturados, e é isso que veremos no resto da aula.</a:t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236): Java tem 4 tamanhos de inteiro com sinal (byte, short, int, long). C++ e C# têm tipos sem sinal. O "inteiro longo" do Python tem tamanho ilimitado e não é suportado diretamente pelo hardware.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Pontos para destacar na tabela: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Em Go e Rust o tamanho está no nome do tipo (int32, i64). Em C, "int" depende da plataforma, o que prejudica a portabilidade.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 não tem inteiros sem sinal (exceto char, 16 bits). Go e Rust têm uint8/u8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Python: o int nunca estoura, com custo de desempenho.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JavaScript: Number é sempre double (IEEE 754), então os inteiros só são exatos até 2^53. Para ir além existe o BigInt.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Complemento de dois (p. 237): o negativo é o complemento lógico do positivo mais um. A faixa é assimétrica: há um negativo a mais.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Pergunte: "por que o menor int é -2.147.483.648 e o maior é 2.147.483.647, e não 2.147.483.648?"</a:t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 ao vivo no OneCompiler (pasta exemplos/01_inteiros):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Overflow.java em onecompiler.com/java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overflow.go em onecompiler.com/go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overflow.rs em onecompiler.com/rust (compila em modo debug, então a última linha dá panic)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inteiros.py em onecompiler.com/python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filosofias: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Java, Go e C# "dão a volta" em silêncio (aritmética modular). Quem quiser verificação usa Math.addExact (Java) ou checked (C#). Em C, o estouro de inteiro COM sinal é comportamento indefinido.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Rust obriga a escolher: checked_add devolve Option, wrapping_add dá a volta, saturating_add para no limite. O operador + comum gera panic em modo debug e dá a volta em release. Observação: se o valor for uma constante conhecida em compilação, o rustc recusa o programa. Por isso o exemplo lê o número de uma string.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Python não tem estouro: o int cresce conforme a necessidade.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Mundo real: em dezembro de 2014, o vídeo "Gangnam Style" passou de 2.147.483.647 visualizações, o máximo de um int de 32 bits. O YouTube já tinha migrado o contador para 64 bits e fez uma brincadeira na página.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Outro exemplo: Boeing 787 (2015). Um contador de 32 bits obrigava a reiniciar os geradores a cada 248 dias.</a:t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 no OneCompiler: flutuante.js (onecompiler.com/nodejs, ou o console do navegador, F12) e flutuante.py.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237): o ponto flutuante só aproxima os reais. Nem pi nem e são representáveis, e mesmo 0,1 em decimal não tem representação binária finita. As máquinas atuais usam o padrão IEEE 754: float com 32 bits (~7 dígitos significativos) e double com 64 bits (~15 a 16 dígitos).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Explique: 0,1 = 0,0001100110011...(2), uma dízima periódica em binário, como 1/3 em decimal.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Consequência: nunca compare reais com ==. Use tolerância (Math.abs(a - b) &lt; eps, math.isclose).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Curiosidade: no Python 3.12+, sum([0.1]*10) devolve 1.0 porque usa soma compensada. O laço manual continua dando 0.9999999999999999 (ver flutuante.py).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Patriot: o valor 0,1 truncado em 24 bits é 0,099999904632568359375, um erro de ~9,5e-8 s por tique. Em 100 h são 3.600.000 tiques, o que dá 0,34 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Twitter/X: os IDs de tweets são inteiros de 64 bits. Como o JavaScript só representa inteiros exatos até 2^53, a API passou a enviar também o campo id_str (o ID como texto).</a:t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DEMONSTRAÇÃO: Dinheiro.java em onecompiler.com/java.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238): os tipos decimais armazenam um número fixo de dígitos decimais, com a vírgula em posição fixa. São essenciais em COBOL, e C# e F# têm o tipo decimal. A vantagem é representar exatamente valores como 0,1. As desvantagens são a faixa restrita e o maior uso de memória (em geral são guardados em BCD, codificação binária de decimais).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Java e Python o decimal vem da biblioteca: BigDecimal e decimal.Decimal.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Armadilha clássica: new BigDecimal(0.1) recebe um double que JÁ tem erro. Use sempre o construtor com String.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Divisão: 100/3 não tem representação decimal finita, então é preciso informar a escala e o modo de arredondamento (HALF_EVEN é o "arredondamento bancário").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Alternativa muito usada em sistemas de pagamento: guardar centavos em inteiro (long). É o que fazem, por exemplo, várias APIs de pagamento, que recebem os valores em centavos.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240): a cadeia deve ser um tipo primitivo ou uma matriz de caracteres? O tamanho é estático ou dinâmico?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Opções de tamanho (p. 242-243):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estático: definido na criação (String do Java, str do Python, String do .NET e do Ruby);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dinâmico limitado: varia até um máximo declarado (C, com o terminador '\0');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dinâmico: sem máximo, com o custo de alocar e liberar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Avaliação (p. 243): ter cadeias como tipo primitivo é barato e melhora muito a facilidade de escrita. É difícil justificar a ausência.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Imutabilidade: s.toUpperCase() NÃO altera s, e sim devolve uma nova String (ver Cadeias.java). Pergunte à turma o que o código imprime antes de rodar.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Desempenho: concatenar em laço com + cria uma String nova a cada volta. Use StringBuilder (Java), strings.Builder (Go) ou "".join(...) (Python).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Segurança: strcpy/strcat em C não conhecem o tamanho do destino, o que causa estouro de buffer (uma das origens das vulnerabilidades clássicas).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Java: == compara referências e equals compara o conteúdo. Esse erro é comum em código de iniciante.</a:t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DEMONSTRAÇÃO no OneCompiler: cadeias.go, cadeias.py e cadeias.js (pasta exemplos/03_cadeias).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mostrar a tabela, pergunte: "quanto vale len("ação")?" Vão aparecer respostas diferentes, e todas estão certas para alguma linguagem.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239): ASCII tem 128 caracteres. O ISO 8859-1 tem 256. Em 1991 veio o Unicode (UCS-2, 16 bits), que hoje passa de 16 bits: um emoji precisa de dois "char" em 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Bytes (UTF-8): Go len(s) e Rust s.len(). Em "ação", o "ç" e o "ã" ocupam 2 bytes cada, então são 6 bytes.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Unidades UTF-16: Java length() e JavaScript .length. O emoji ocupa 2 unidades (par substituto).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Code points: Python len(), Rust chars().count() e Go utf8.RuneCountInString().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 caractere: o char do Java tem 16 bits, o char do Rust tem 32 bits (valor escalar Unicode), a rune do Go é um int32 e o char do C tem 8 bits.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Mundo real: cortar um texto por bytes (ex.: limite de 20 bytes num banco de dados) pode partir o "ç" ao meio e gerar o símbolo �. Em Rust, &amp;s[0..2] em "ação" gera panic justamente por isso.</a:t>
            </a:r>
            <a:endParaRPr/>
          </a:p>
        </p:txBody>
      </p:sp>
      <p:sp>
        <p:nvSpPr>
          <p:cNvPr id="199" name="Google Shape;19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 no OneCompiler: enum.c (onecompiler.com/c) e Enumeracao.java.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245): uma constante pode aparecer em mais de um enum? Os valores são convertidos para inteiro? Outros tipos podem ser convertidos em enum? Todas dizem respeito à verificação de tipos.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 (p. 245-246): o enum é só um int com nome. Dá para somar cores com frutas e atribuir 42 a uma Cor.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C++: os valores viram int em contexto numérico, mas int -&gt; enum não é aceito (myColor = 4 é inválido). O C++11 criou enum class, que é fortemente tipado.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(p. 246): desde a versão 5.0 (2004) os enums são classes, subclasses implícitas de Enum. Podem ter atributos, construtores e métodos, e oferecem values(), ordinal() e valueOf(). Nenhum outro tipo pode ser atribuído a um enum, e o enum nunca é convertido para outro tipo.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C#: parecido com o C++, mas nunca convertido para inteiro implicitamente.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enum Moeda em Enumeracao.java: um enum com atributos e métodos.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 (enumeracao.rs): o match é exaustivo e o enum pode carregar dados. Isso leva às uniões discriminadas (slide 15).</a:t>
            </a:r>
            <a:endParaRPr/>
          </a:p>
        </p:txBody>
      </p:sp>
      <p:sp>
        <p:nvSpPr>
          <p:cNvPr id="209" name="Google Shape;20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Questões de projeto (p. 248): tipos permitidos para índices; verificação de faixa; quando a faixa é vinculada; quando ocorre a alocação; matrizes irregulares ou retangulares; inicialização; fatias.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quatro categorias (p. 250-251) combinam três escolhas: quando a faixa de índices é vinculada, quando a memória é alocada e de onde ela vem (pilha ou monte).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Estática: tudo antes da execução. É eficiente, mas o espaço fica ocupado o programa inteiro.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Dinâmica da pilha fixa: tamanho conhecido na compilação, alocada quando a declaração é elaborada. Subprogramas diferentes reaproveitam o mesmo espaço.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Dinâmica do monte fixa: tamanho decidido em execução, mas fixo depois de alocado. Todas as matrizes comuns do Java são assim (p. 251).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Dinâmica do monte: pode crescer e encolher (ArrayList, list do Python, Vec do Rust, slice do Go com append).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Pergunte: "em que categoria está o int[] v = new int[n] do Java? e o ArrayList?"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Matriz irregular × retangular (p. 254): C, C++ e Java só têm matriz de matrizes (irregular). C# tem as duas: m[3][7] e m[3, 7].</a:t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~5 min. DEMONSTRAÇÃO no OneCompiler: Limites.java, limites.go e depois limites.c. No OneCompiler (gcc 14), o C imprime v[3] = 222 (o valor de 'depois') e 'antes' vira 99: a escrita em v[4] corrompeu outra variável sem nenhum aviso. Para mostrar o erro sendo detectado, use godbolt.org com as opções -g -fsanitize=address e "Execute the code".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249): os erros de faixa de índice são comuns, e por isso exigir a verificação é importante para a confiabilidade. Java, ML e C# verificam; C não.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C: acessar v[3] é comportamento indefinido. Pode imprimir lixo, pode imprimir o valor de outra variável ou pode travar. A escrita v[4] = 99 pode alterar "antes" ou "depois" sem nenhum aviso.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(p. 251): ler fora da faixa devolve undefined, sem erro. Isso é silencioso e causa bugs difíceis de achar.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 (p. 249, como Perl): índices negativos contam a partir do fim. v[-1] é o último elemento.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Rust: v[i] gera panic, e v.get(i) devolve Option (None fora da faixa), obrigando a tratar o caso.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Custo: a verificação tem um pequeno custo em tempo de execução, e os compiladores eliminam muitas verificações que podem provar desnecessárias.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Heartbleed: o cliente dizia "me devolva 64 KB" e o servidor, em C, copiava 64 KB da memória a partir de um buffer de poucos bytes. Com verificação de limites, isso seria uma exceção, não um vazamento.</a:t>
            </a:r>
            <a:endParaRPr/>
          </a:p>
        </p:txBody>
      </p:sp>
      <p:sp>
        <p:nvSpPr>
          <p:cNvPr id="231" name="Google Shape;23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fatias.go em onecompiler.com/go. Peça para a turma prever o segundo Println ANTES de rodar.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254): a fatia é uma subestrutura da matriz. Não é um novo tipo de dados, e sim um mecanismo para referenciar parte da matriz como uma unidade.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Go: a slice é um descritor com ponteiro, len e cap. a[1:3] NÃO copia: s e a compartilham a mesma matriz. Como cap(s) = 4, o append escreve na posição a[3] original, uma pegadinha clássica de Go. Para copiar de verdade, use copy() ou slices.Clone.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Python: lista[1:3] cria uma CÓPIA (já as views do NumPy compartilham memória, como em Go).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Rust: &amp;v[1..3] é um EMPRÉSTIMO. Enquanto a fatia estiver em uso, o compilador proíbe modificar v (erro E0502). O problema do Go vira erro de compilação (ver fatias.rs).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Ligação com a próxima parte: fatia = ponteiro + tamanho. Ou seja, já estamos falando de referências.</a:t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 no OneCompiler: uniao_livre.c e depois uniao.rs. Apague um braço do match e rode de novo para mostrar o erro E0004.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270): uma união é um tipo cujas variáveis podem guardar valores de tipos diferentes em momentos diferentes. O exemplo do livro é a tabela de constantes de um compilador.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União livre (p. 271): C e C++ não verificam o tipo. O exemplo à esquerda é o do próprio livro: guarda-se o int 27 e lê-se como float, e o resultado é lixo (3,78e-44). Todos os campos dividem a mesma memória (sizeof = 4).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União discriminada (p. 271): inclui uma etiqueta (tag) que indica o tipo atual. A primeira linguagem com ela foi ALGOL 68, e hoje estão em ML, Haskell e F# (o livro mostra F#, p. 271-272). Rust, Swift, Kotlin (sealed) e Java 17+ também têm.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Avaliação (p. 272): as uniões livres são um dos motivos de C e C++ não serem fortemente tipadas.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Rust, o match é exaustivo: esquecer uma variante é erro de compilação. Em C, dá para simular com struct + enum + union, mas quem garante a verificação é o programador (ver a struct Valor em uniao_livre.c).</a:t>
            </a:r>
            <a:endParaRPr/>
          </a:p>
        </p:txBody>
      </p:sp>
      <p:sp>
        <p:nvSpPr>
          <p:cNvPr id="267" name="Google Shape;26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Se o tempo estiver curto, mostre só um dos dois códigos.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TypeScript (uniao.ts): use o TypeScript Playground (typescriptlang.org/play), porque o OneCompiler só executa TS e NÃO verifica os tipos, então o erro do never não apareceria lá. o campo "tipo" é a etiqueta. Dentro de cada case, o compilador "estreita" o tipo e sabe que f tem raio. O arquivo de exemplo tem ainda o truque do never: se alguém criar uma nova forma e esquecer o case, o código não compila.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21 (Uniao.java): sealed interface + records + switch com padrões. O switch é exaustivo, sem default. Isso é uma união discriminada no Java moderno. Vale conectar com os alunos que já programam em 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Onde aparecem no dia a dia: Optional/Option (tem valor | vazio), Result (ok | erro, em Rust), respostas de API ({ status: "ok", dados } | { status: "erro", mensagem }), ações do Redux e árvores sintáticas. As árvores ligam com a aula de análise sintática: cada nó da árvore é uma variante.</a:t>
            </a:r>
            <a:endParaRPr/>
          </a:p>
        </p:txBody>
      </p:sp>
      <p:sp>
        <p:nvSpPr>
          <p:cNvPr id="280" name="Google Shape;28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(p. 273): um ponteiro guarda endereços de memória ou um valor especial, nil. Há dois usos: endereçamento indireto e gerenciamento do monte (heap), onde ficam as variáveis dinâmicas.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Operações (p. 274-275): atribuição (p recebe um endereço) e desreferenciamento (*p, o valor apontado). Em C, p-&gt;campo equivale a (*p).campo.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diagrama reproduz a Figura 6.8 (p. 275): ptr contém 7080, e na posição 7080 do monte está o valor 206. A atribuição j = *ptr copia 206 para j.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Referência (p. 275 e 278): é um ponteiro com operações restritas. Ela se refere a um objeto, e não a um endereço, então não faz sentido fazer aritmética com ela. Java e C# usam referências. Em Python, Ruby e Smalltalk, TODA variável é referência (p. 280).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Hoare (1973) chamou a introdução dos ponteiros de "um passo para trás" (p. 280). Mesmo assim, eles são indispensáveis, por exemplo em drivers de dispositivo.</a:t>
            </a:r>
            <a:endParaRPr/>
          </a:p>
        </p:txBody>
      </p:sp>
      <p:sp>
        <p:nvSpPr>
          <p:cNvPr id="292" name="Google Shape;29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DEMONSTRAÇÃO: ponteiro_solto.c no OneCompiler imprime lixo em *p2 (em um teste saiu -343049158). Para ver o erro detectado, use godbolt.org com as opções -g -fsanitize=address e "Execute the code": o AddressSanitizer acusa "heap-use-after-free".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Ponteiro solto (p. 275): aponta para uma variável do monte que já foi liberada. A sequência do livro (p. 276): p1 aponta para uma variável nova, p2 = p1 (apelidos), e a variável é liberada via p1. Agora p2 é solto. A causa é a liberação EXPLÍCITA (free, delete).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Variável do monte perdida (p. 276): foi alocada, mas não está mais acessível. É o "lixo", ou vazamento de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Mundo real: a Microsoft informou em 2019 que cerca de 70% das vulnerabilidades que corrige a cada ano são problemas de segurança de memória. O projeto Chromium relatou número semelhante (~70% dos bugs de segurança graves). Por isso agências de segurança dos EUA recomendam, desde 2023-2024, migrar para linguagens com segurança de memória.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 histórica do livro (p. 276): algumas implementações de Pascal simplesmente ignoravam o dispose, por causa dos ponteiros soltos.</a:t>
            </a:r>
            <a:endParaRPr/>
          </a:p>
        </p:txBody>
      </p:sp>
      <p:sp>
        <p:nvSpPr>
          <p:cNvPr id="314" name="Google Shape;31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~4 min. DEMONSTRAÇÃO no OneCompiler: ponteiros.go (termina com panic de nil de propósito) e posse.rs. Descomente a linha do s1 e rode de novo para mostrar o erro E0382.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 (p. 278-280): referências sem aritmética e sem liberação explícita. A coleta de lixo (GC) libera sozinha os objetos inalcançáveis, então não existe ponteiro solto. O risco que sobra é o null, visto no próximo slide.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Go: tem ponteiros, mas sem aritmética (p++ não compila). Tem GC. Devolver &amp;local é seguro: a análise de escape percebe que a variável sobrevive à função e a aloca no monte. Em C, o mesmo código geraria um ponteiro solto.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Rust: sem GC. Cada valor tem UM dono, e quando o dono sai de escopo o valor é liberado. Atribuir move a posse. As referências (&amp;) são empréstimos verificados na compilação (borrow checker).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Sebesta 6.11.7.2 (p. 280-281) descreve soluções em tempo de execução para ponteiros soltos: lápides (tombstones) e fechaduras e chaves (locks-and-keys). O Rust resolve o mesmo problema em tempo de COMPILAÇÃO.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Gerenciamento do monte (6.11.7.3, p. 281-285): contagem de referências × marcação e varredura. Fica como autopesquisa.</a:t>
            </a:r>
            <a:endParaRPr/>
          </a:p>
        </p:txBody>
      </p:sp>
      <p:sp>
        <p:nvSpPr>
          <p:cNvPr id="327" name="Google Shape;32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Tony Hoare introduziu a referência nula no ALGOL W, em 1965. Em 2009 (QCon Londres) ele a chamou de "my billion-dollar mistake", pelos bilhões em falhas que ela causou.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problema: em Java, toda referência pode ser null, e o tipo não avisa. O erro só aparece em execução (NullPointerException). Mostre Referencias.java.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Solução moderna: colocar a AUSÊNCIA no tipo. Optional&lt;T&gt; (Java 8+) ou Option&lt;T&gt; (Rust). O Option do Rust é uma união discriminada (Some | None), e o match obriga a tratar o None. Isso liga com o slide de uniões.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Outras linguagens: Kotlin distingue String de String?. TypeScript com strictNullChecks, C# 8+ com nullable reference types, e Swift com Optional.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Pergunte: "o que é melhor, o erro aparecer na compilação ou na sexta-feira às 18h em produção?"</a:t>
            </a:r>
            <a:endParaRPr/>
          </a:p>
        </p:txBody>
      </p:sp>
      <p:sp>
        <p:nvSpPr>
          <p:cNvPr id="343" name="Google Shape;34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15 min (10 para as duplas, 5 para a correção). Pode valer como atividade avaliativa em sala.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que anotem, para cada trecho, (a) a saída e (b) quando o problema é detectado. Depois, as duplas conferem colando os arquivos de exemplos/08_exercicio no OneCompiler (todos foram testados lá; a questão 5 mostra o erro E0382 do compilador).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GABARITO: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JavaScript: imprime false (0.1 * 3 dá 0.30000000000000004) e depois 9007199254740992, porque o literal acima de 2^53 é arredondado. O problema NUNCA é detectado.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2) Python: imprime "4 6". Os 4 caracteres ocupam 6 bytes, pois "ç" e "ã" têm 2 bytes cada em UTF-8. Não há erro: é a diferença entre caracteres e bytes.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3) Go: imprime 0. O byte (uint8) dá a volta. NUNCA é detectado (estouro silencioso).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4) Java: imprime 0 (os elementos são inicializados com zero) e depois lança ArrayIndexOutOfBoundsException. Detectado em EXECUÇÃO.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5) Rust: NÃO COMPILA (erro E0382: borrow of moved value `s`). Detectado em COMPILAÇÃO.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6) C: imprime 1065353216, os bits de 1.0f lidos como int (união livre). NUNCA é detectado.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Discussão final: ordene as linguagens da "mais cedo" para a "mais tarde" na detecção de erros. Qual é o custo de cada escolha?</a:t>
            </a:r>
            <a:endParaRPr/>
          </a:p>
        </p:txBody>
      </p:sp>
      <p:sp>
        <p:nvSpPr>
          <p:cNvPr id="356" name="Google Shape;356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~3 min. Peça à turma que complete a tabela oralmente antes de revelar cada linha (se quiser, use animação "aparecer" nas linhas).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 final: não existe a escolha "certa" em abstrato. C escolhe desempenho e controle, Python escolhe simplicidade, e Rust escolhe segurança verificada na compilação, com mais esforço do programador. É o trade-off de projeto de linguagens visto no Cap. 1: confiabilidade × custo × facilidade de escrita.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Tendência clara das linguagens recentes: detectar os erros o mais cedo possível (compilação &gt; execução &gt; nunca).</a:t>
            </a:r>
            <a:endParaRPr/>
          </a:p>
        </p:txBody>
      </p:sp>
      <p:sp>
        <p:nvSpPr>
          <p:cNvPr id="376" name="Google Shape;37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Tempo: ~1 min. Estes tópicos do Cap. 6 ficaram fora da aula por falta de tempo.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Sugestão de entrega (pode compor a Atividade de Estudo Programada): uma tabela comparativa de 1 página sobre como Java, Python, Go e Rust tratam matriz associativa, registro e tupla, com sintaxe, mutabilidade, ordem de iteração e custo. Os exemplos em exemplos/09_autopesquisa servem de ponto de partida.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Destaques que podem cair na avaliação: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Go randomiza a ordem de iteração do map de propósito, para que ninguém dependa dela. O dict do Python mantém a ordem de inserção desde a versão 3.7.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record (Java 16+) é um registro imutável com equals/hashCode/toString gerados.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Tipagem forte (p. 286): C e C++ não são fortemente tipadas por causa das uniões livres. Java e C# são quase fortemente tipadas.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Equivalência de nomes × equivalência de estrutura (p. 287).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Próxima aula: Expressões e sentenças de atribuição (Cap. 7): precedência, coerção, curto-circuito e atribuição.</a:t>
            </a:r>
            <a:endParaRPr/>
          </a:p>
        </p:txBody>
      </p:sp>
      <p:sp>
        <p:nvSpPr>
          <p:cNvPr id="384" name="Google Shape;38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914377" y="2130425"/>
            <a:ext cx="1036294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828754" y="3886200"/>
            <a:ext cx="853418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" type="body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963059" y="4406900"/>
            <a:ext cx="1036294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963059" y="2906713"/>
            <a:ext cx="1036294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8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" type="body"/>
          </p:nvPr>
        </p:nvSpPr>
        <p:spPr>
          <a:xfrm>
            <a:off x="609584" y="1600200"/>
            <a:ext cx="53846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2" type="body"/>
          </p:nvPr>
        </p:nvSpPr>
        <p:spPr>
          <a:xfrm>
            <a:off x="6197444" y="1600200"/>
            <a:ext cx="538466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9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" type="body"/>
          </p:nvPr>
        </p:nvSpPr>
        <p:spPr>
          <a:xfrm>
            <a:off x="609584" y="1535113"/>
            <a:ext cx="538678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0"/>
          <p:cNvSpPr txBox="1"/>
          <p:nvPr>
            <p:ph idx="2" type="body"/>
          </p:nvPr>
        </p:nvSpPr>
        <p:spPr>
          <a:xfrm>
            <a:off x="609584" y="2174875"/>
            <a:ext cx="538678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30"/>
          <p:cNvSpPr txBox="1"/>
          <p:nvPr>
            <p:ph idx="3" type="body"/>
          </p:nvPr>
        </p:nvSpPr>
        <p:spPr>
          <a:xfrm>
            <a:off x="6193211" y="1535113"/>
            <a:ext cx="538889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0"/>
          <p:cNvSpPr txBox="1"/>
          <p:nvPr>
            <p:ph idx="4" type="body"/>
          </p:nvPr>
        </p:nvSpPr>
        <p:spPr>
          <a:xfrm>
            <a:off x="6193211" y="2174875"/>
            <a:ext cx="538889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609584" y="273050"/>
            <a:ext cx="401098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4766614" y="273050"/>
            <a:ext cx="6815496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609584" y="1435100"/>
            <a:ext cx="401098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2389657" y="4800600"/>
            <a:ext cx="73150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2389657" y="612775"/>
            <a:ext cx="7315016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2389657" y="5367338"/>
            <a:ext cx="7315016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3832865" y="-1623081"/>
            <a:ext cx="4525963" cy="1097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7284781" y="1828835"/>
            <a:ext cx="5851525" cy="2743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1696921" y="-812699"/>
            <a:ext cx="5851525" cy="802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  <a:defRPr b="1" i="0" sz="3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822959" y="1828800"/>
            <a:ext cx="1054577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1F2937"/>
                </a:solidFill>
              </a:rPr>
              <a:t>Tipos de Dados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822959" y="3246120"/>
            <a:ext cx="1054577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None/>
            </a:pPr>
            <a:r>
              <a:rPr lang="en-US" sz="2400">
                <a:solidFill>
                  <a:srgbClr val="1F2937"/>
                </a:solidFill>
              </a:rPr>
              <a:t>Aula 06 · Paradigmas de Linguagens de Programação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667085"/>
              </a:buClr>
              <a:buSzPts val="2000"/>
              <a:buNone/>
            </a:pPr>
            <a:r>
              <a:rPr lang="en-US" sz="2000">
                <a:solidFill>
                  <a:srgbClr val="667085"/>
                </a:solidFill>
              </a:rPr>
              <a:t>Engenharia de Software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Clr>
                <a:srgbClr val="667085"/>
              </a:buClr>
              <a:buSzPts val="1600"/>
              <a:buNone/>
            </a:pPr>
            <a:r>
              <a:rPr lang="en-US" sz="1600">
                <a:solidFill>
                  <a:srgbClr val="667085"/>
                </a:solidFill>
              </a:rPr>
              <a:t>Referência: Sebesta, Conceitos de Linguagens de Programação, 11ª ed., Cap. 6 (p. 233-297)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Objetivo e ligação com o mundo real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Cap. 6 · p. 233-297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548640" y="13258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48640" y="1783080"/>
            <a:ext cx="5212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objetivo desta aula é entender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como as linguagens representam os dados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(números, textos, coleções e referências) e como cada escolha de projeto torna seus programas </a:t>
            </a: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mais corretos, seguros e fáceis de manter</a:t>
            </a:r>
            <a:r>
              <a:rPr b="0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3794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o engenheiro de software, isso significa: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48640" y="4206240"/>
            <a:ext cx="52120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escolher o tipo certo para cada dado (dinheiro, texto, identificador)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prever o comportamento de estouros, arredondamentos e nulos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aprender uma linguagem nova comparando as escolhas de projeto dela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172200" y="1325880"/>
            <a:ext cx="54681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Quando o tipo errado custa caro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172200" y="1828800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1996 · Foguete Ariane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 float de 64 bits convertido para inteiro de 16 bits estourou. O foguete se autodestruiu ~37 s após o lançamento.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6172200" y="3291840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1991 · Míssil Patriot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0,1 não é exato em binário. Após 100 h, o relógio atrasou 0,34 s: o míssil errou o alvo e 28 soldados morreram.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172200" y="4754880"/>
            <a:ext cx="546811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2014 · Heartbleed (OpenSSL, em C)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verificação de limites, o servidor devolvia até 64 KB da própria memória, com senhas e chaves privadas.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Roteiro da aula (80 min)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Planejamento do Encontro 1 · Sebesta Cap. 6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1012926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548640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0-10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Problematização: bugs reais causados por tipos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89247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2428189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10-25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Primitivos: inteiros, ponto flutuante e decimal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772025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307738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25-35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Cadeias de caracteres e enumerações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51574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187287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35-50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Matrizes, verificação de índices e fatias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531123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8066836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50-65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Uniões, ponteiros e referências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0410672" y="1828800"/>
            <a:ext cx="768096" cy="768096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9946386" y="2834640"/>
            <a:ext cx="1696669" cy="16459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9725" spcFirstLastPara="1" rIns="1097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65-80 min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 em duplas e síntese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de aula: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expositiva-dialogada, com execução de código ao vivo.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Exemplos: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pasta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exemplos/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na ordem dos slides. Todos rodam no navegador em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onecompiler.com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(Java, Go, Rust, C, Python, JavaScript).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é um tipo de dado?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 e §6.2 · p. 234-236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48640" y="1371600"/>
            <a:ext cx="5760720" cy="114300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Tipo de dado  =  coleção de valores  +  operações predefinidas sobre eles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48640" y="2697480"/>
            <a:ext cx="5760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Quanto mais os tipos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casam com os objetos do problema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mais fácil é programar (p. 234)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Descritor: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coleção de atributos de uma variável, usada na verificação de tipos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Primitivos: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não são definidos a partir de outros tipos; muitos são reflexo do hardware (p. 236)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Pergunta central de projeto: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quais operações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 tipo oferece e como são especificadas?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6903720" y="1371600"/>
            <a:ext cx="4736592" cy="11887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Tipos primitivos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int · float · bool · char</a:t>
            </a:r>
            <a:endParaRPr/>
          </a:p>
        </p:txBody>
      </p:sp>
      <p:cxnSp>
        <p:nvCxnSpPr>
          <p:cNvPr id="132" name="Google Shape;132;p4"/>
          <p:cNvCxnSpPr/>
          <p:nvPr/>
        </p:nvCxnSpPr>
        <p:spPr>
          <a:xfrm>
            <a:off x="9272016" y="2587752"/>
            <a:ext cx="0" cy="448056"/>
          </a:xfrm>
          <a:prstGeom prst="straightConnector1">
            <a:avLst/>
          </a:prstGeom>
          <a:noFill/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3" name="Google Shape;133;p4"/>
          <p:cNvSpPr/>
          <p:nvPr/>
        </p:nvSpPr>
        <p:spPr>
          <a:xfrm>
            <a:off x="6903720" y="3063240"/>
            <a:ext cx="4736592" cy="11887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Construtores de tipo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[ ]   struct   union   *   enum</a:t>
            </a:r>
            <a:endParaRPr/>
          </a:p>
        </p:txBody>
      </p:sp>
      <p:cxnSp>
        <p:nvCxnSpPr>
          <p:cNvPr id="134" name="Google Shape;134;p4"/>
          <p:cNvCxnSpPr/>
          <p:nvPr/>
        </p:nvCxnSpPr>
        <p:spPr>
          <a:xfrm>
            <a:off x="9272016" y="4279392"/>
            <a:ext cx="0" cy="448056"/>
          </a:xfrm>
          <a:prstGeom prst="straightConnector1">
            <a:avLst/>
          </a:prstGeom>
          <a:noFill/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5" name="Google Shape;135;p4"/>
          <p:cNvSpPr/>
          <p:nvPr/>
        </p:nvSpPr>
        <p:spPr>
          <a:xfrm>
            <a:off x="6903720" y="4754880"/>
            <a:ext cx="4736592" cy="11887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Tipos estruturados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matrizes · registros · uniões · ponteiros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Inteiros: o tamanho é uma decisão de projeto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§6.2.1.1 Inteiro · p. 236-237</a:t>
            </a:r>
            <a:endParaRPr/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{20680B0E-40AE-4089-A882-7D453104BFFE}</a:tableStyleId>
              </a:tblPr>
              <a:tblGrid>
                <a:gridCol w="1600200"/>
                <a:gridCol w="1783075"/>
                <a:gridCol w="1417325"/>
                <a:gridCol w="1828800"/>
                <a:gridCol w="2103125"/>
                <a:gridCol w="23591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8 bits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16 bits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32 bits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64 bits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Sem limite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byte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short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BigInteger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(classe)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int8_t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short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(em geral)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 long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int8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uint8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int16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int32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int64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math/big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i8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u8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i16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i32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i64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(e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i128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bibliotecas externas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(sempre)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JavaScript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–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é double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BigInt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5"/>
          <p:cNvSpPr/>
          <p:nvPr/>
        </p:nvSpPr>
        <p:spPr>
          <a:xfrm>
            <a:off x="548640" y="4572000"/>
            <a:ext cx="5440680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 sinal: complemento de dois (p. 237)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 bits → de −2ⁿ⁻¹ até 2ⁿ⁻¹−1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−2.147.483.648 até 2.147.483.647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199632" y="4572000"/>
            <a:ext cx="5440680" cy="14630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sinal (unsigned)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C, C++, C#, Go e Rust têm; Java não tem (só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Uso típico: bytes, dados binários, tamanhos.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Estouro de inteiro: cada linguagem decide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§6.2.1.1 · p. 236 · exemplos/01_inteiros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548640" y="132588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Java · dá a volta em silêncio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48640" y="1673352"/>
            <a:ext cx="3515258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x = Integer.MAX_VALUE;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System.out.println(x + 1);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-2147483648 (sem aviso!)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Math.addExact(x, 1);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ArithmeticException: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  integer overflow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4338218" y="132588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Rust · o programador escolhe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338218" y="1673352"/>
            <a:ext cx="3515258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x: i32 = i32::MAX;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x.checked_add(1)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None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x.wrapping_add(1)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-2147483648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x.saturating_add(1)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2147483647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 + 1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panic (modo debug)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8127796" y="132588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 · não existe estouro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127796" y="1673352"/>
            <a:ext cx="3515258" cy="26700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x = 2**31 - 1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print(x + 1)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2147483648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print(2**100)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1267650600228229401496703205376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48640" y="4709160"/>
            <a:ext cx="11094415" cy="118872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Mundo real: em 2014, o vídeo "Gangnam Style" ultrapassou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2.147.483.647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visualizações, o máximo de um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de 32 bits, e o YouTube precisou migrar o contador para 64 bits.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Ponto flutuante: 0,1 não existe em binário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§6.2.1.2 Ponto flutuante · p. 237-238 · exemplos/02_ponto_flutuante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48640" y="1325880"/>
            <a:ext cx="5303520" cy="1737360"/>
          </a:xfrm>
          <a:prstGeom prst="roundRect">
            <a:avLst>
              <a:gd fmla="val 7000" name="adj"/>
            </a:avLst>
          </a:prstGeom>
          <a:solidFill>
            <a:srgbClr val="FDECEA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0.1 + 0.2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= 0.30000000000000004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Java, JavaScript, Python, Go, C...: todos seguem o IEEE 754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548640" y="3200400"/>
            <a:ext cx="53035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0,1 em binário é uma dízima: 0,000110011001100…₂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564"/>
              <a:buFont typeface="Arial"/>
              <a:buChar char="•"/>
            </a:pP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(32 bits) ≈ 7 dígitos;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(64 bits) ≈ 15-16</a:t>
            </a:r>
            <a:endParaRPr/>
          </a:p>
          <a:p>
            <a:pPr indent="-219456" lvl="0" marL="256032" marR="0" rtl="0" algn="l">
              <a:spcBef>
                <a:spcPts val="6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Nunca compare reais com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use tolerância</a:t>
            </a:r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6172200" y="1325880"/>
            <a:ext cx="5468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JavaScript: um único tipo numérico (double)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172200" y="1673352"/>
            <a:ext cx="5468112" cy="27157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0.1 + 0.2 === 0.3     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s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(let i = 0; i &lt; 10; i++) s += 0.1;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                     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0.9999999999999999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Math.abs(0.1 + 0.2 - 0.3) &lt; Number.EPSILON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2 ** 53 + 1           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9007199254740992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2n ** 53n + 1n        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9007199254740993n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548640" y="4709160"/>
            <a:ext cx="5303520" cy="118872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Míssil Patriot (1991)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0,1 s truncado em 24 bits; após 100 h, 0,34 s de atraso ≈ 575 m de erro.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172200" y="4709160"/>
            <a:ext cx="5468112" cy="118872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Twitter / X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IDs de 64 bits também são enviados como texto (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id_str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): o JavaScript perde precisão acima de 2⁵³.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Dinheiro não é double: tipos decimais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§6.2.1.4 Decimal · p. 238-239 · exemplos/02_ponto_flutuante</a:t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548640" y="1325880"/>
            <a:ext cx="5029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Guardam um número fixo de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dígitos decimais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(vírgula em posição fixa)</a:t>
            </a:r>
            <a:endParaRPr/>
          </a:p>
          <a:p>
            <a:pPr indent="-219456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Essenciais em COBOL; nativos em C# e F# (p. 238)</a:t>
            </a:r>
            <a:endParaRPr/>
          </a:p>
          <a:p>
            <a:pPr indent="-219456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Vantagem: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0,1 é exato</a:t>
            </a:r>
            <a:endParaRPr/>
          </a:p>
          <a:p>
            <a:pPr indent="-219456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Desvantagens: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faixa restrita, mais memória, mais lento</a:t>
            </a:r>
            <a:endParaRPr/>
          </a:p>
          <a:p>
            <a:pPr indent="-219456" lvl="0" marL="256032" marR="0" rtl="0" algn="l">
              <a:spcBef>
                <a:spcPts val="9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 e Python: via biblioteca (</a:t>
            </a:r>
            <a:r>
              <a:rPr b="0" i="0" lang="en-US" sz="1656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BigDecimal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656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Decimal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48640" y="4526280"/>
            <a:ext cx="5029200" cy="146304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Alternativa comum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Guardar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centavos em um inteiro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): R$ 12,34 → 1234.</a:t>
            </a:r>
            <a:endParaRPr/>
          </a:p>
        </p:txBody>
      </p:sp>
      <p:sp>
        <p:nvSpPr>
          <p:cNvPr id="182" name="Google Shape;182;p8"/>
          <p:cNvSpPr txBox="1"/>
          <p:nvPr/>
        </p:nvSpPr>
        <p:spPr>
          <a:xfrm>
            <a:off x="5943600" y="1325880"/>
            <a:ext cx="5696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Java: BigDecimal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943600" y="1673352"/>
            <a:ext cx="5696712" cy="23500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 a = new BigDecimal("0.1");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 b = new BigDecimal("0.2");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a.add(b)           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new BigDecimal(0.1)       </a:t>
            </a: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armadilha: herda o erro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0.1000000000000000055511151231257827...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5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total.divide(tres, 2, RoundingMode.HALF_EVEN)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5943600" y="4251960"/>
            <a:ext cx="5696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Python: decimal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5943600" y="4599432"/>
            <a:ext cx="5696712" cy="11612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from decimal import Decimal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Decimal("0.1") + Decimal("0.2")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Decimal('0.3')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Decimal(0.1)                   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# herda o erro do float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Cadeias de caracteres: questões de projeto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§6.3.1 e §6.3.3 · p. 240-243 · exemplos/03_cadeias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548640" y="1325880"/>
            <a:ext cx="42976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primitivo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matriz de caracteres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Tamanho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estático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dinâmico limitado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dinâmico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 (p. 242)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Imutável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mutável?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48640" y="3291840"/>
            <a:ext cx="4297680" cy="1737360"/>
          </a:xfrm>
          <a:prstGeom prst="roundRect">
            <a:avLst>
              <a:gd fmla="val 7000" name="adj"/>
            </a:avLst>
          </a:prstGeom>
          <a:solidFill>
            <a:srgbClr val="FDECEA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Cuidado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C,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strcpy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não conhece o tamanho do destino: estouro de buffer.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Java,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compara referências; use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equals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graphicFrame>
        <p:nvGraphicFramePr>
          <p:cNvPr id="195" name="Google Shape;195;p9"/>
          <p:cNvGraphicFramePr/>
          <p:nvPr/>
        </p:nvGraphicFramePr>
        <p:xfrm>
          <a:off x="5120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{20680B0E-40AE-4089-A882-7D453104BFFE}</a:tableStyleId>
              </a:tblPr>
              <a:tblGrid>
                <a:gridCol w="1280150"/>
                <a:gridCol w="2377450"/>
                <a:gridCol w="1828800"/>
                <a:gridCol w="10332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Representação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Tamanho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Mutável?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char[]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terminado em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'\0'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dinâmico limitado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StringBuilder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estático / dinâmico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não / sim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estático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não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JavaScript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(UTF-16)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estático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não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(bytes UTF-8)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estático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não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&amp;str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/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(UTF-8)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fatia / dinâmico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não / sim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Quantos caracteres tem "ação"?</a:t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§6.2.3 Caracteres e §6.3 · p. 239-244 · exemplos/03_cadeias</a:t>
            </a:r>
            <a:endParaRPr/>
          </a:p>
        </p:txBody>
      </p:sp>
      <p:graphicFrame>
        <p:nvGraphicFramePr>
          <p:cNvPr id="203" name="Google Shape;203;p10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{20680B0E-40AE-4089-A882-7D453104BFFE}</a:tableStyleId>
              </a:tblPr>
              <a:tblGrid>
                <a:gridCol w="3520450"/>
                <a:gridCol w="914400"/>
                <a:gridCol w="914400"/>
                <a:gridCol w="201167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Expressão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"ação"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"👍"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O que conta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Go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bytes (UTF-8)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Rust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s.len()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bytes (UTF-8)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s.length()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unidades UTF-16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JavaScript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s.length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2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unidades UTF-16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Python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len(s)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1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code points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Rust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s.chars().count()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1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code points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Go ·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utf8.RuneCountInString(s)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4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1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code points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10"/>
          <p:cNvSpPr/>
          <p:nvPr/>
        </p:nvSpPr>
        <p:spPr>
          <a:xfrm>
            <a:off x="8229600" y="1325880"/>
            <a:ext cx="3410712" cy="233172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Caracteres (p. 239)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ASCII (128) → ISO 8859-1 (256) → Unicode (1991)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Hoje: UTF-8 (1 a 4 bytes) e UTF-16 (2 ou 4 bytes)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229600" y="3749039"/>
            <a:ext cx="3410712" cy="228600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64575" spcFirstLastPara="1" rIns="1645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Tipo caractere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Java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16 bits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Rust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32 bits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rune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int32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8 bits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Enumerações: só um nome para um int, ou um tipo?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§6.4 Tipos enumeração · p. 245-247 · exemplos/04_enumeracoes</a:t>
            </a:r>
            <a:endParaRPr/>
          </a:p>
        </p:txBody>
      </p:sp>
      <p:sp>
        <p:nvSpPr>
          <p:cNvPr id="213" name="Google Shape;213;p11"/>
          <p:cNvSpPr txBox="1"/>
          <p:nvPr/>
        </p:nvSpPr>
        <p:spPr>
          <a:xfrm>
            <a:off x="548640" y="1298448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Questões de projeto (p. 245): os valores viram inteiros? Outros tipos viram enum? A mesma constante pode estar em dois enums?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548640" y="1874519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enum é só um int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548640" y="2221991"/>
            <a:ext cx="5440680" cy="23500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enum Cor   { VERMELHO, VERDE, AZUL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enum Fruta { MACA, BANANA, UVA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enum Cor c = BANANA;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compila!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 = 42;     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compila!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s = AZUL + UVA;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4</a:t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6199632" y="1874519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Java · enum é uma classe</a:t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199632" y="2221991"/>
            <a:ext cx="5440680" cy="23500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enum Cor { VERMELHO, VERDE, AZUL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Cor c = Cor.VERDE;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c.ordinal();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Cor.valueOf("AZUL");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AZUL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c = 1;            // erro de compilação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int x = c + 1;    // erro de compilação</a:t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Java, um enum pode ter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atributos, construtor e métodos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246). Em Rust e Swift, cada variante pode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carregar dados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o que leva às uniões discriminadas.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Matrizes: quando os índices e a memória são vinculados?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§6.5.1 e §6.5.3 · p. 248-252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548640" y="1325880"/>
            <a:ext cx="40233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Que tipos são aceitos como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índices são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verificados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contra a faixa?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faixa é vinculada e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a memória é alocada?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Matrizes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irregulares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retangulares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Existem </a:t>
            </a: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fatias</a:t>
            </a:r>
            <a:r>
              <a:rPr b="0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graphicFrame>
        <p:nvGraphicFramePr>
          <p:cNvPr id="227" name="Google Shape;227;p12"/>
          <p:cNvGraphicFramePr/>
          <p:nvPr/>
        </p:nvGraphicFramePr>
        <p:xfrm>
          <a:off x="484632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{20680B0E-40AE-4089-A882-7D453104BFFE}</a:tableStyleId>
              </a:tblPr>
              <a:tblGrid>
                <a:gridCol w="2148850"/>
                <a:gridCol w="2377450"/>
                <a:gridCol w="22677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Categoria (p. 250)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Faixa / memória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Exemplo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Estática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antes da execução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 int v[10];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(C)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Dinâmica da pilha fixa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faixa fixa; alocada na pilha ao entrar no bloco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v[10];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local (C),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[i32; 10]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(Rust)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Dinâmica do monte fixa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definida na execução; depois não muda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 int[n]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(Java),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malloc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(C)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Dinâmica do monte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definida na execução; cresce e encolhe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ArrayList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, slice do Go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Acessar v[3] numa matriz de 3 elementos</a:t>
            </a:r>
            <a:endParaRPr/>
          </a:p>
        </p:txBody>
      </p:sp>
      <p:sp>
        <p:nvSpPr>
          <p:cNvPr id="234" name="Google Shape;234;p1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§6.5.2 Matrizes e índices · p. 248-249 · exemplos/05_matrizes</a:t>
            </a:r>
            <a:endParaRPr/>
          </a:p>
        </p:txBody>
      </p:sp>
      <p:sp>
        <p:nvSpPr>
          <p:cNvPr id="235" name="Google Shape;235;p13"/>
          <p:cNvSpPr txBox="1"/>
          <p:nvPr/>
        </p:nvSpPr>
        <p:spPr>
          <a:xfrm>
            <a:off x="548640" y="1325880"/>
            <a:ext cx="4983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nenhuma verificação</a:t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548640" y="1673352"/>
            <a:ext cx="4983480" cy="28986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v[3] = {10, 20, 30};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for (int i = 0; i &lt;= 3; i++)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&lt;= 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printf("%d\n", v[i]);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v[3]: lê lixo (indefinido)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v[4] = 99;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escreve fora: corrompe memória</a:t>
            </a:r>
            <a:endParaRPr/>
          </a:p>
        </p:txBody>
      </p:sp>
      <p:graphicFrame>
        <p:nvGraphicFramePr>
          <p:cNvPr id="237" name="Google Shape;237;p13"/>
          <p:cNvGraphicFramePr/>
          <p:nvPr/>
        </p:nvGraphicFramePr>
        <p:xfrm>
          <a:off x="58064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{20680B0E-40AE-4089-A882-7D453104BFFE}</a:tableStyleId>
              </a:tblPr>
              <a:tblGrid>
                <a:gridCol w="1554475"/>
                <a:gridCol w="4279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Linguagem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v[3] com 3 elementos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comportamento </a:t>
                      </a:r>
                      <a:r>
                        <a:rPr b="1" lang="en-US" sz="1500">
                          <a:solidFill>
                            <a:srgbClr val="B42318"/>
                          </a:solidFill>
                        </a:rPr>
                        <a:t>indefinido</a:t>
                      </a: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 (lixo, corrupção ou travamento)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JavaScript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undefined</a:t>
                      </a: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, sem erro (p. 251)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Java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ArrayIndexOutOfBoundsException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Go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panic: index out of range [3] with length 3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Rust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panic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; ou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v.get(3)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devolve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None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Python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IndexError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(e </a:t>
                      </a:r>
                      <a:r>
                        <a:rPr b="0" lang="en-US" sz="1380">
                          <a:solidFill>
                            <a:srgbClr val="1F2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v[-1]</a:t>
                      </a: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 é o último!)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13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Heartbleed (2014)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OpenSSL, em C, confiava no tamanho informado pelo cliente e copiava até 64 KB de memória a partir de um buffer pequeno. Com verificação de índices, seria só uma exceção.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Fatias: uma janela sobre a matriz, ou uma cópia?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§6.5.7 Fatias · p. 254-255 · exemplos/05_matrizes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Go · a fatia compartilha a memória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548640" y="1673352"/>
            <a:ext cx="5486400" cy="221284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:= []int{1, 2, 3, 4, 5}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 := a[1:3]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[2 3]  len 2, cap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s[0] = 99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fmt.Println(a)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[1 99 3 4 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 = append(s, 100)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fmt.Println(a)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[1 99 3 100 5]  !!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6263640" y="21488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6583680" y="1965960"/>
            <a:ext cx="8686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6583680" y="280720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7452360" y="1965960"/>
            <a:ext cx="868680" cy="822960"/>
          </a:xfrm>
          <a:prstGeom prst="rect">
            <a:avLst/>
          </a:prstGeom>
          <a:solidFill>
            <a:srgbClr val="E6F4F1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99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7452360" y="280720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8321040" y="1965960"/>
            <a:ext cx="868680" cy="822960"/>
          </a:xfrm>
          <a:prstGeom prst="rect">
            <a:avLst/>
          </a:prstGeom>
          <a:solidFill>
            <a:srgbClr val="E6F4F1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8321040" y="280720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9189720" y="1965960"/>
            <a:ext cx="868680" cy="82296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9189720" y="280720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10058400" y="1965960"/>
            <a:ext cx="86868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10058400" y="2807208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7452360" y="1399031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s = a[1:3]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8869680" y="1399031"/>
            <a:ext cx="1508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42318"/>
                </a:solidFill>
                <a:latin typeface="Consolas"/>
                <a:ea typeface="Consolas"/>
                <a:cs typeface="Consolas"/>
                <a:sym typeface="Consolas"/>
              </a:rPr>
              <a:t>append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6263640" y="3291840"/>
            <a:ext cx="5376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len(s) = 2, cap(s) = 4: o append cabe e sobrescreve a[3]</a:t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548640" y="4343400"/>
            <a:ext cx="5486400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a[1:3]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cria uma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cópia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alterar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não muda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6263640" y="4343400"/>
            <a:ext cx="5376672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Rust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&amp;v[1..3]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é um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empréstimo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modificar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enquanto a fatia existe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compila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Uniões: livres (C) × discriminadas (Rust)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§6.10 Uniões · p. 270-273 · exemplos/06_unioes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548640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união livre (p. 271)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548640" y="1673352"/>
            <a:ext cx="5440680" cy="33101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union flexType {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exemplo do livro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int   intEl;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float floatEl;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union flexType el1;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el1.intEl = 27;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float x = el1.floatEl;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sem verificação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x = 3.78351e-44  (lixo)</a:t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67647"/>
                </a:solidFill>
                <a:latin typeface="Calibri"/>
                <a:ea typeface="Calibri"/>
                <a:cs typeface="Calibri"/>
                <a:sym typeface="Calibri"/>
              </a:rPr>
              <a:t>Rust · união discriminada</a:t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6199632" y="1673352"/>
            <a:ext cx="5440680" cy="33101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enum Valor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Inteiro(i64),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Real(f64),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Texto(String),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match v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Valor::Inteiro(i) =&gt; ...,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Valor::Real(r)    =&gt; ...,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Valor::Texto(s)   =&gt; ...,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faltou um caso? não compila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548640" y="5257800"/>
            <a:ext cx="5440680" cy="822960"/>
          </a:xfrm>
          <a:prstGeom prst="roundRect">
            <a:avLst>
              <a:gd fmla="val 7000" name="adj"/>
            </a:avLst>
          </a:prstGeom>
          <a:solidFill>
            <a:srgbClr val="FDECEA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Livre: todos os campos dividem a memória, e a responsabilidade é do programador.</a:t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6199632" y="5257800"/>
            <a:ext cx="5440680" cy="82296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Discriminada: uma </a:t>
            </a: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etiqueta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(tag) diz o tipo atual, e o compilador verifica.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Uniões discriminadas no dia a dia</a:t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§6.10.2-6.10.4 · p. 271-273 · exemplos/06_unioes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548640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548640" y="1673352"/>
            <a:ext cx="5440680" cy="33101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type Forma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| { tipo: "circulo"; raio: number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| { tipo: "retangulo"; largura: number;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altura: number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function area(f: Forma): number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switch (f.tipo) { 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etiqueta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case "circulo":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return Math.PI * f.raio ** 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case "retangulo":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return f.largura * f.altura;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6199632" y="132588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21 · sealed + record + switch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6199632" y="1673352"/>
            <a:ext cx="5440680" cy="331012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sealed interface Forma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permits Circulo, Retangulo 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record Circulo(double raio)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implements Forma 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record Retangulo(double largura, double altura)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implements Forma {}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double area(Forma f)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return switch (f) {  </a:t>
            </a:r>
            <a:r>
              <a:rPr b="0" i="0" lang="en-US" sz="135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exaustivo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case Circulo c -&gt; Math.PI * c.raio() * c.raio();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case Retangulo r -&gt; r.largura() * r.altura();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548640" y="5230368"/>
            <a:ext cx="11094415" cy="86868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Você já usa: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Option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respostas de API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{status: "ok" | "erro"}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ações do Redux, árvores sintáticas.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Ponteiros e referências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§6.11.1-6.11.5 · p. 273-280 · Figura 6.8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548640" y="1325880"/>
            <a:ext cx="557784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Ponteiro: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guarda um endereço de memória (ou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nil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Usos: endereçamento indireto e gerência do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monte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(heap)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Operações: atribuição e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desreferenciamento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*p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p-&gt;campo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Referência: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ponteiro com operações restritas, sem aritmética (Java, C#)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Em Python, Ruby e Smalltalk,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toda variável é uma referência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(p. 280)</a:t>
            </a:r>
            <a:endParaRPr/>
          </a:p>
          <a:p>
            <a:pPr indent="-219456" lvl="0" marL="256032" marR="0" rtl="0" algn="l">
              <a:spcBef>
                <a:spcPts val="10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Hoare (1973) chamou os ponteiros de "um passo para trás" (p. 280)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548640" y="457200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548640" y="4919472"/>
            <a:ext cx="5577840" cy="116128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*ptr = malloc(sizeof(int));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*ptr = 206;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j = *ptr;       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j = 206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6629400" y="16002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6629400" y="2011680"/>
            <a:ext cx="1280160" cy="7315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7080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9464040" y="12344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monte (heap)</a:t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9464040" y="1645920"/>
            <a:ext cx="2103120" cy="146304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t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9692640" y="2011680"/>
            <a:ext cx="164592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206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9692640" y="276148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endereço 7080</a:t>
            </a:r>
            <a:endParaRPr/>
          </a:p>
        </p:txBody>
      </p:sp>
      <p:cxnSp>
        <p:nvCxnSpPr>
          <p:cNvPr id="305" name="Google Shape;305;p17"/>
          <p:cNvCxnSpPr/>
          <p:nvPr/>
        </p:nvCxnSpPr>
        <p:spPr>
          <a:xfrm>
            <a:off x="7955279" y="2377440"/>
            <a:ext cx="1691641" cy="0"/>
          </a:xfrm>
          <a:prstGeom prst="straightConnector1">
            <a:avLst/>
          </a:prstGeom>
          <a:noFill/>
          <a:ln cap="flat" cmpd="sng" w="25400">
            <a:solidFill>
              <a:srgbClr val="0F7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6" name="Google Shape;306;p17"/>
          <p:cNvSpPr txBox="1"/>
          <p:nvPr/>
        </p:nvSpPr>
        <p:spPr>
          <a:xfrm>
            <a:off x="6629400" y="342900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6629400" y="3840480"/>
            <a:ext cx="1280160" cy="7315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206</a:t>
            </a:r>
            <a:endParaRPr/>
          </a:p>
        </p:txBody>
      </p:sp>
      <p:cxnSp>
        <p:nvCxnSpPr>
          <p:cNvPr id="308" name="Google Shape;308;p17"/>
          <p:cNvCxnSpPr/>
          <p:nvPr/>
        </p:nvCxnSpPr>
        <p:spPr>
          <a:xfrm flipH="1">
            <a:off x="8001000" y="3154680"/>
            <a:ext cx="2514600" cy="1005840"/>
          </a:xfrm>
          <a:prstGeom prst="straightConnector1">
            <a:avLst/>
          </a:prstGeom>
          <a:noFill/>
          <a:ln cap="flat" cmpd="sng" w="25400">
            <a:solidFill>
              <a:srgbClr val="66708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9" name="Google Shape;309;p17"/>
          <p:cNvSpPr txBox="1"/>
          <p:nvPr/>
        </p:nvSpPr>
        <p:spPr>
          <a:xfrm>
            <a:off x="8732520" y="41148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j = *ptr;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6629400" y="5120640"/>
            <a:ext cx="5010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Figura 6.8 do Sebesta (p. 275): atribuição com desreferenciamento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dá errado com ponteiros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§6.11.3 Problemas com ponteiros · p. 275-277 · exemplos/07_ponteiros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548640" y="1325880"/>
            <a:ext cx="5577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C · liberação explícita</a:t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548640" y="1673352"/>
            <a:ext cx="5577840" cy="28072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*p1 = malloc(sizeof(int));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*p2 = p1;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apelido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free(p1); 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p2 agora é SOLTO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printf("%d", *p2);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uso após liberação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F766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 *q = malloc(400);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q = malloc(400);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1º bloco perdido: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b="0" i="0" lang="en-US" sz="16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vazamento (lixo)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548640" y="4709160"/>
            <a:ext cx="5577840" cy="132588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ver o erro em vez de lixo: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godbolt.org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compile com </a:t>
            </a:r>
            <a:r>
              <a:rPr b="0" i="0" lang="en-US" sz="1380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-g -fsanitize=address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o AddressSanitizer acusa heap-use-after-free.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6400800" y="1325880"/>
            <a:ext cx="5239512" cy="114300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Ponteiro solto (p. 275)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Aponta para uma variável do monte que já foi liberada.</a:t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6400800" y="2606040"/>
            <a:ext cx="5239512" cy="114300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Variável do monte perdida (p. 276)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Alocada, mas inacessível: lixo, ou vazamento de memória.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400800" y="3931920"/>
            <a:ext cx="5239512" cy="2103120"/>
          </a:xfrm>
          <a:prstGeom prst="roundRect">
            <a:avLst>
              <a:gd fmla="val 7000" name="adj"/>
            </a:avLst>
          </a:prstGeom>
          <a:solidFill>
            <a:srgbClr val="FDECEA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B42318"/>
                </a:solidFill>
                <a:latin typeface="Calibri"/>
                <a:ea typeface="Calibri"/>
                <a:cs typeface="Calibri"/>
                <a:sym typeface="Calibri"/>
              </a:rPr>
              <a:t>~70%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das vulnerabilidades corrigidas pela Microsoft (2019), e dos bugs graves do Chrome, são erros de segurança de memória.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Como as linguagens modernas evitam esses erros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§6.11.5-6.11.7 · p. 278-285 · exemplos/07_ponteiros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548640" y="1325880"/>
            <a:ext cx="351525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referências + coleta de lixo</a:t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548640" y="2194560"/>
            <a:ext cx="3515258" cy="210312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Conta b = a;  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apelido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a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objeto inalcançável: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o GC libera sozinho</a:t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548640" y="4526280"/>
            <a:ext cx="3515258" cy="114300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sem aritmética, sem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; sobra o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4338218" y="1325880"/>
            <a:ext cx="351525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ponteiros sem aritmética + GC</a:t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338218" y="2194560"/>
            <a:ext cx="3515258" cy="210312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func criar() *int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local := 42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&amp;local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seguro!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p++  → não compila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4338218" y="4526280"/>
            <a:ext cx="3515258" cy="114300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análise de escape leva </a:t>
            </a:r>
            <a:r>
              <a:rPr b="0" i="0" lang="en-US" sz="1472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local</a:t>
            </a: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para o monte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8127796" y="1325880"/>
            <a:ext cx="351525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Rust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posse e empréstimo, sem GC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8127796" y="2194560"/>
            <a:ext cx="3515258" cy="210312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s1 = String::from("oi");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s2 = s1; </a:t>
            </a: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posse movida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println!("{}", s1);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erro E0382: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  valor já movido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8127796" y="4526280"/>
            <a:ext cx="3515258" cy="1143000"/>
          </a:xfrm>
          <a:prstGeom prst="roundRect">
            <a:avLst>
              <a:gd fmla="val 7000" name="adj"/>
            </a:avLst>
          </a:prstGeom>
          <a:solidFill>
            <a:srgbClr val="E7F6EC"/>
          </a:solidFill>
          <a:ln>
            <a:noFill/>
          </a:ln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compilador prova que não há ponteiro solto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null: "o erro de um bilhão de dólares"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§6.11 e §6.10 (uniões discriminadas) · p. 270-280 · exemplos/07_ponteiros</a:t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fmla="val 7000" name="adj"/>
            </a:avLst>
          </a:prstGeom>
          <a:solidFill>
            <a:srgbClr val="FEF6E7"/>
          </a:solidFill>
          <a:ln>
            <a:noFill/>
          </a:ln>
        </p:spPr>
        <p:txBody>
          <a:bodyPr anchorCtr="0" anchor="ctr" bIns="45700" lIns="274300" spcFirstLastPara="1" rIns="2743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"I call it my billion-dollar mistake."   Tony Hoare (2009), criador da referência nula (ALGOL W, 1965)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548640" y="251460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Java · Optional</a:t>
            </a:r>
            <a:endParaRPr/>
          </a:p>
        </p:txBody>
      </p:sp>
      <p:sp>
        <p:nvSpPr>
          <p:cNvPr id="349" name="Google Shape;349;p20"/>
          <p:cNvSpPr/>
          <p:nvPr/>
        </p:nvSpPr>
        <p:spPr>
          <a:xfrm>
            <a:off x="548640" y="2862072"/>
            <a:ext cx="5440680" cy="24871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Optional&lt;String&gt; buscarNome(int id)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return id == 1 ? Optional.of("Ana")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       : Optional.empty();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buscarNome(2).map(String::length)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         .orElse(0);         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0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6199632" y="2514600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Rust · Option (união discriminada)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6199632" y="2862072"/>
            <a:ext cx="5440680" cy="248716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fn buscar(id: u32) -&gt; Option&lt;String&gt;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if id == 1 { Some("Ana".into()) } else { None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1182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match buscar(2)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Some(nome) =&gt; println!("{}", nome),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    None =&gt; println!("não achei"),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b="0" i="0" lang="en-US" sz="1400" u="none" cap="none" strike="noStrike">
                <a:solidFill>
                  <a:srgbClr val="0F766E"/>
                </a:solidFill>
                <a:latin typeface="Consolas"/>
                <a:ea typeface="Consolas"/>
                <a:cs typeface="Consolas"/>
                <a:sym typeface="Consolas"/>
              </a:rPr>
              <a:t>// esquecer o None: não compila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Também em: Kotlin (</a:t>
            </a:r>
            <a:r>
              <a:rPr b="0" i="0" lang="en-US" sz="1472" u="none" cap="none" strike="noStrike">
                <a:solidFill>
                  <a:srgbClr val="667085"/>
                </a:solidFill>
                <a:latin typeface="Consolas"/>
                <a:ea typeface="Consolas"/>
                <a:cs typeface="Consolas"/>
                <a:sym typeface="Consolas"/>
              </a:rPr>
              <a:t>String?</a:t>
            </a: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), TypeScript (</a:t>
            </a:r>
            <a:r>
              <a:rPr b="0" i="0" lang="en-US" sz="1472" u="none" cap="none" strike="noStrike">
                <a:solidFill>
                  <a:srgbClr val="667085"/>
                </a:solidFill>
                <a:latin typeface="Consolas"/>
                <a:ea typeface="Consolas"/>
                <a:cs typeface="Consolas"/>
                <a:sym typeface="Consolas"/>
              </a:rPr>
              <a:t>strictNullChecks</a:t>
            </a: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), C# (nullable reference types), Swift (</a:t>
            </a:r>
            <a:r>
              <a:rPr b="0" i="0" lang="en-US" sz="1472" u="none" cap="none" strike="noStrike">
                <a:solidFill>
                  <a:srgbClr val="667085"/>
                </a:solidFill>
                <a:latin typeface="Consolas"/>
                <a:ea typeface="Consolas"/>
                <a:cs typeface="Consolas"/>
                <a:sym typeface="Consolas"/>
              </a:rPr>
              <a:t>Optional</a:t>
            </a:r>
            <a:r>
              <a:rPr b="0" i="0" lang="en-US" sz="16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Exercício em duplas (15 min): preveja antes de executar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Arquivos: exemplos/08_exercicio (q1.js ... q6.c) · execute em onecompiler.com</a:t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548640" y="1261872"/>
            <a:ext cx="1109441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Para cada trecho: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qual é a saída? 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 problema é detectado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compilação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, na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execução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nunca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61" name="Google Shape;361;p21"/>
          <p:cNvSpPr txBox="1"/>
          <p:nvPr/>
        </p:nvSpPr>
        <p:spPr>
          <a:xfrm>
            <a:off x="548640" y="192024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1 · JavaScript</a:t>
            </a:r>
            <a:endParaRPr/>
          </a:p>
        </p:txBody>
      </p:sp>
      <p:sp>
        <p:nvSpPr>
          <p:cNvPr id="362" name="Google Shape;362;p21"/>
          <p:cNvSpPr/>
          <p:nvPr/>
        </p:nvSpPr>
        <p:spPr>
          <a:xfrm>
            <a:off x="548640" y="2267712"/>
            <a:ext cx="3515258" cy="1435607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console.log(0.1 * 3 === 0.3);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console.log(9007199254740993);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4338218" y="192024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2 · Python</a:t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4338218" y="2267712"/>
            <a:ext cx="3515258" cy="1435607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 = "maçã"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print(len(p), len(p.encode()))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8127796" y="192024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3 · Go</a:t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8127796" y="2267712"/>
            <a:ext cx="3515258" cy="1435607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var b byte = 255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b++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fmt.Println(b)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548640" y="402336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4 · Java</a:t>
            </a:r>
            <a:endParaRPr/>
          </a:p>
        </p:txBody>
      </p:sp>
      <p:sp>
        <p:nvSpPr>
          <p:cNvPr id="368" name="Google Shape;368;p21"/>
          <p:cNvSpPr/>
          <p:nvPr/>
        </p:nvSpPr>
        <p:spPr>
          <a:xfrm>
            <a:off x="548640" y="4370832"/>
            <a:ext cx="3515258" cy="1435607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int[] v = new int[3];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System.out.println(v[0]);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System.out.println(v[3]);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4338218" y="402336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5 · Rust</a:t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4338218" y="4370832"/>
            <a:ext cx="3515258" cy="1435607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s = String::from("oi");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let t = 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println!("{} {}", s, t);</a:t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8127796" y="4023360"/>
            <a:ext cx="35152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6 · C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8127796" y="4370832"/>
            <a:ext cx="3515258" cy="1435607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3150" lIns="128000" spcFirstLastPara="1" rIns="128000" wrap="square" tIns="73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union { int i; float f; } u;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u.f = 1.0f;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Consolas"/>
                <a:ea typeface="Consolas"/>
                <a:cs typeface="Consolas"/>
                <a:sym typeface="Consolas"/>
              </a:rPr>
              <a:t>printf("%d\n", u.i);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Síntese: escolhas de projeto e suas consequências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Cap. 6 · p. 233-297</a:t>
            </a:r>
            <a:endParaRPr/>
          </a:p>
        </p:txBody>
      </p:sp>
      <p:graphicFrame>
        <p:nvGraphicFramePr>
          <p:cNvPr id="380" name="Google Shape;380;p22"/>
          <p:cNvGraphicFramePr/>
          <p:nvPr/>
        </p:nvGraphicFramePr>
        <p:xfrm>
          <a:off x="548640" y="13258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{20680B0E-40AE-4089-A882-7D453104BFFE}</a:tableStyleId>
              </a:tblPr>
              <a:tblGrid>
                <a:gridCol w="2148850"/>
                <a:gridCol w="4297675"/>
                <a:gridCol w="4645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Tipo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Escolha arriscada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1F2937"/>
                          </a:solidFill>
                        </a:rPr>
                        <a:t>Escolha mais segura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E6F4F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Inteiros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estouro silencioso (C, Java, Go)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operações explícitas (Rust), precisão ilimitada (Python)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Reais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double</a:t>
                      </a: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 para dinheiro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BigDecimal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,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Decimal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 ou centavos em inteiro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Cadeias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contar e cortar por bytes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iterar por caractere (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rune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,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, code point)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Enumerações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enum = int (C)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enum como tipo (Java, Rust,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enum class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 do C++)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Matrizes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sem verificação de índice (C)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verificação em execução (Java, Go, Rust, Python)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Uniões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livres (C, C++)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discriminadas +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match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 exaustivo (Rust, TS, Java 21)</a:t>
                      </a:r>
                      <a:endParaRPr/>
                    </a:p>
                  </a:txBody>
                  <a:tcPr marT="36575" marB="36575" marR="91450" marL="91450" anchor="ctr">
                    <a:solidFill>
                      <a:srgbClr val="F9FAF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1F2937"/>
                          </a:solidFill>
                        </a:rPr>
                        <a:t>Ponteiros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aritmética + </a:t>
                      </a:r>
                      <a:r>
                        <a:rPr b="0" lang="en-US" sz="1380">
                          <a:solidFill>
                            <a:srgbClr val="B4231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r>
                        <a:rPr b="0" lang="en-US" sz="1500">
                          <a:solidFill>
                            <a:srgbClr val="B42318"/>
                          </a:solidFill>
                        </a:rPr>
                        <a:t> manual (C)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GC (Java, Go), posse (Rust),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Option</a:t>
                      </a:r>
                      <a:r>
                        <a:rPr b="0" lang="en-US" sz="1500">
                          <a:solidFill>
                            <a:srgbClr val="067647"/>
                          </a:solidFill>
                        </a:rPr>
                        <a:t> no lugar de </a:t>
                      </a:r>
                      <a:r>
                        <a:rPr b="0" lang="en-US" sz="1380">
                          <a:solidFill>
                            <a:srgbClr val="0676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/>
                    </a:p>
                  </a:txBody>
                  <a:tcPr marT="36575" marB="36575" marR="91450" marL="91450" anchor="ctr">
                    <a:lnB cap="flat" cmpd="sng" w="9525">
                      <a:solidFill>
                        <a:srgbClr val="D0D5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3"/>
          <p:cNvSpPr txBox="1"/>
          <p:nvPr>
            <p:ph type="title"/>
          </p:nvPr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Atividades complementares (autopesquisa)</a:t>
            </a:r>
            <a:endParaRPr/>
          </a:p>
        </p:txBody>
      </p:sp>
      <p:sp>
        <p:nvSpPr>
          <p:cNvPr id="387" name="Google Shape;387;p23"/>
          <p:cNvSpPr txBox="1"/>
          <p:nvPr/>
        </p:nvSpPr>
        <p:spPr>
          <a:xfrm>
            <a:off x="548640" y="6382512"/>
            <a:ext cx="1109441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Calibri"/>
                <a:ea typeface="Calibri"/>
                <a:cs typeface="Calibri"/>
                <a:sym typeface="Calibri"/>
              </a:rPr>
              <a:t>Sebesta, 11ª ed. · §6.6-6.9, §6.11.7.3, §6.12-6.14 · p. 259-291 · exemplos/09_autopesquisa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548640" y="13258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9456" lvl="0" marL="256032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Matrizes associativas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(§6.6, p. 259-263):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dict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(Python),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(JS),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(Go). Por que a ordem de iteração do Go é aleatória?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Registros e tuplas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(§6.7-6.8, p. 263-268):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record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(Java),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(Rust), </a:t>
            </a:r>
            <a:r>
              <a:rPr b="0" i="0" lang="en-US" sz="1564" u="none" cap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namedtuple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(Python)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Listas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(§6.9, p. 268-270): listas e compreensões de lista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Gerenciamento do monte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(§6.11.7.3, p. 281-285): contagem de referências × marcação e varredura</a:t>
            </a:r>
            <a:endParaRPr/>
          </a:p>
          <a:p>
            <a:pPr indent="-219456" lvl="0" marL="256032" marR="0" rtl="0" algn="l">
              <a:spcBef>
                <a:spcPts val="1200"/>
              </a:spcBef>
              <a:spcAft>
                <a:spcPts val="0"/>
              </a:spcAft>
              <a:buClr>
                <a:srgbClr val="0F766E"/>
              </a:buClr>
              <a:buSzPts val="1700"/>
              <a:buFont typeface="Arial"/>
              <a:buChar char="•"/>
            </a:pPr>
            <a:r>
              <a:rPr b="1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Verificação de tipos, tipagem forte e equivalência de tipos</a:t>
            </a:r>
            <a:r>
              <a:rPr b="0" i="0" lang="en-US" sz="17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(§6.12-6.14, p. 285-291)</a:t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7680960" y="1325880"/>
            <a:ext cx="3959352" cy="2834640"/>
          </a:xfrm>
          <a:prstGeom prst="roundRect">
            <a:avLst>
              <a:gd fmla="val 7000" name="adj"/>
            </a:avLst>
          </a:prstGeom>
          <a:solidFill>
            <a:srgbClr val="E6F4F1"/>
          </a:solidFill>
          <a:ln>
            <a:noFill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Entrega sugerida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Tabela comparativa (1 página): matriz associativa, registro e tupla em Java, Python, Go e Rust: sintaxe, mutabilidade, ordem e custo.</a:t>
            </a:r>
            <a:endParaRPr/>
          </a:p>
        </p:txBody>
      </p:sp>
      <p:sp>
        <p:nvSpPr>
          <p:cNvPr id="390" name="Google Shape;390;p23"/>
          <p:cNvSpPr/>
          <p:nvPr/>
        </p:nvSpPr>
        <p:spPr>
          <a:xfrm>
            <a:off x="7680960" y="4343400"/>
            <a:ext cx="3959352" cy="1691640"/>
          </a:xfrm>
          <a:prstGeom prst="roundRect">
            <a:avLst>
              <a:gd fmla="val 7000" name="adj"/>
            </a:avLst>
          </a:prstGeom>
          <a:solidFill>
            <a:srgbClr val="F8FAFC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Próxima aula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Expressões e sentenças de atribuição (Cap. 7)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